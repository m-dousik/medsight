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5" d="100"/>
          <a:sy n="75" d="100"/>
        </p:scale>
        <p:origin x="708" y="22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00F"/>
        </a:solidFill>
        <a:effectLst/>
      </p:bgPr>
    </p:bg>
    <p:spTree>
      <p:nvGrpSpPr>
        <p:cNvPr id="1" name=""/>
        <p:cNvGrpSpPr/>
        <p:nvPr/>
      </p:nvGrpSpPr>
      <p:grpSpPr>
        <a:xfrm>
          <a:off x="0" y="0"/>
          <a:ext cx="0" cy="0"/>
          <a:chOff x="0" y="0"/>
          <a:chExt cx="0" cy="0"/>
        </a:xfrm>
      </p:grpSpPr>
      <p:sp>
        <p:nvSpPr>
          <p:cNvPr id="2" name="TextBox 1"/>
          <p:cNvSpPr txBox="1"/>
          <p:nvPr/>
        </p:nvSpPr>
        <p:spPr>
          <a:xfrm>
            <a:off x="777240" y="640080"/>
            <a:ext cx="10637215" cy="274320"/>
          </a:xfrm>
          <a:prstGeom prst="rect">
            <a:avLst/>
          </a:prstGeom>
          <a:noFill/>
        </p:spPr>
        <p:txBody>
          <a:bodyPr wrap="square" lIns="0" tIns="0" rIns="0" bIns="0" anchor="t">
            <a:spAutoFit/>
          </a:bodyPr>
          <a:lstStyle/>
          <a:p>
            <a:pPr algn="l">
              <a:lnSpc>
                <a:spcPct val="118000"/>
              </a:lnSpc>
              <a:spcAft>
                <a:spcPts val="0"/>
              </a:spcAft>
            </a:pPr>
            <a:r>
              <a:rPr sz="1050" b="1">
                <a:solidFill>
                  <a:srgbClr val="8A817C"/>
                </a:solidFill>
                <a:latin typeface="Segoe UI"/>
              </a:rPr>
              <a:t>TRON PROGRAMMING CONTEST 2026  ·  RTOS APPLICATION</a:t>
            </a:r>
          </a:p>
        </p:txBody>
      </p:sp>
      <p:sp>
        <p:nvSpPr>
          <p:cNvPr id="3" name="TextBox 2"/>
          <p:cNvSpPr txBox="1"/>
          <p:nvPr/>
        </p:nvSpPr>
        <p:spPr>
          <a:xfrm>
            <a:off x="777240" y="1051560"/>
            <a:ext cx="10637215" cy="1188720"/>
          </a:xfrm>
          <a:prstGeom prst="rect">
            <a:avLst/>
          </a:prstGeom>
          <a:noFill/>
        </p:spPr>
        <p:txBody>
          <a:bodyPr wrap="square" lIns="0" tIns="0" rIns="0" bIns="0" anchor="t">
            <a:spAutoFit/>
          </a:bodyPr>
          <a:lstStyle/>
          <a:p>
            <a:pPr algn="l">
              <a:lnSpc>
                <a:spcPct val="95000"/>
              </a:lnSpc>
              <a:spcAft>
                <a:spcPts val="0"/>
              </a:spcAft>
            </a:pPr>
            <a:r>
              <a:rPr sz="6200" b="1">
                <a:solidFill>
                  <a:srgbClr val="F7F4F2"/>
                </a:solidFill>
                <a:latin typeface="Segoe UI"/>
              </a:rPr>
              <a:t>MedSight</a:t>
            </a:r>
          </a:p>
        </p:txBody>
      </p:sp>
      <p:sp>
        <p:nvSpPr>
          <p:cNvPr id="4" name="TextBox 3"/>
          <p:cNvSpPr txBox="1"/>
          <p:nvPr/>
        </p:nvSpPr>
        <p:spPr>
          <a:xfrm>
            <a:off x="777240" y="2121408"/>
            <a:ext cx="7498079" cy="914400"/>
          </a:xfrm>
          <a:prstGeom prst="rect">
            <a:avLst/>
          </a:prstGeom>
          <a:noFill/>
        </p:spPr>
        <p:txBody>
          <a:bodyPr wrap="square" lIns="0" tIns="0" rIns="0" bIns="0" anchor="t">
            <a:spAutoFit/>
          </a:bodyPr>
          <a:lstStyle/>
          <a:p>
            <a:pPr algn="l">
              <a:lnSpc>
                <a:spcPct val="135000"/>
              </a:lnSpc>
              <a:spcAft>
                <a:spcPts val="400"/>
              </a:spcAft>
            </a:pPr>
            <a:r>
              <a:rPr sz="1500" b="1">
                <a:solidFill>
                  <a:srgbClr val="F7F4F2"/>
                </a:solidFill>
                <a:latin typeface="Segoe UI"/>
              </a:rPr>
              <a:t>An offline medication dispenser and adherence recorder.</a:t>
            </a:r>
          </a:p>
          <a:p>
            <a:pPr algn="l">
              <a:lnSpc>
                <a:spcPct val="135000"/>
              </a:lnSpc>
              <a:spcAft>
                <a:spcPts val="400"/>
              </a:spcAft>
            </a:pPr>
            <a:r>
              <a:rPr sz="1500" b="0">
                <a:solidFill>
                  <a:srgbClr val="DED7D2"/>
                </a:solidFill>
                <a:latin typeface="Segoe UI"/>
              </a:rPr>
              <a:t>Most dispensers release pills and assume the rest. This one measures who took them and how many came out.</a:t>
            </a:r>
          </a:p>
        </p:txBody>
      </p:sp>
      <p:sp>
        <p:nvSpPr>
          <p:cNvPr id="5" name="Rectangle 4"/>
          <p:cNvSpPr/>
          <p:nvPr/>
        </p:nvSpPr>
        <p:spPr>
          <a:xfrm>
            <a:off x="777240" y="3310128"/>
            <a:ext cx="10637215" cy="12700"/>
          </a:xfrm>
          <a:prstGeom prst="rect">
            <a:avLst/>
          </a:prstGeom>
          <a:solidFill>
            <a:srgbClr val="3A35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3611880"/>
            <a:ext cx="3134258" cy="539750"/>
          </a:xfrm>
          <a:prstGeom prst="rect">
            <a:avLst/>
          </a:prstGeom>
          <a:noFill/>
        </p:spPr>
        <p:txBody>
          <a:bodyPr wrap="square" lIns="0" tIns="0" rIns="0" bIns="0" anchor="t">
            <a:spAutoFit/>
          </a:bodyPr>
          <a:lstStyle/>
          <a:p>
            <a:pPr algn="l">
              <a:lnSpc>
                <a:spcPct val="100000"/>
              </a:lnSpc>
              <a:spcAft>
                <a:spcPts val="0"/>
              </a:spcAft>
            </a:pPr>
            <a:r>
              <a:rPr sz="3400" b="1">
                <a:solidFill>
                  <a:srgbClr val="D9762B"/>
                </a:solidFill>
                <a:latin typeface="Segoe UI"/>
              </a:rPr>
              <a:t>21-55%</a:t>
            </a:r>
          </a:p>
        </p:txBody>
      </p:sp>
      <p:sp>
        <p:nvSpPr>
          <p:cNvPr id="7" name="TextBox 6"/>
          <p:cNvSpPr txBox="1"/>
          <p:nvPr/>
        </p:nvSpPr>
        <p:spPr>
          <a:xfrm>
            <a:off x="777240" y="4173220"/>
            <a:ext cx="3134258" cy="725576"/>
          </a:xfrm>
          <a:prstGeom prst="rect">
            <a:avLst/>
          </a:prstGeom>
          <a:noFill/>
        </p:spPr>
        <p:txBody>
          <a:bodyPr wrap="square" lIns="0" tIns="0" rIns="0" bIns="0" anchor="t">
            <a:spAutoFit/>
          </a:bodyPr>
          <a:lstStyle/>
          <a:p>
            <a:pPr algn="l">
              <a:lnSpc>
                <a:spcPct val="138000"/>
              </a:lnSpc>
              <a:spcAft>
                <a:spcPts val="0"/>
              </a:spcAft>
            </a:pPr>
            <a:r>
              <a:rPr sz="1150" b="0">
                <a:solidFill>
                  <a:srgbClr val="8A817C"/>
                </a:solidFill>
                <a:latin typeface="Segoe UI"/>
              </a:rPr>
              <a:t>Non-adherence among older patients on long-term medication. Amato et al., 2026; Scotti et al., 2026, across 128 studies.</a:t>
            </a:r>
          </a:p>
        </p:txBody>
      </p:sp>
      <p:sp>
        <p:nvSpPr>
          <p:cNvPr id="8" name="TextBox 7"/>
          <p:cNvSpPr txBox="1"/>
          <p:nvPr/>
        </p:nvSpPr>
        <p:spPr>
          <a:xfrm>
            <a:off x="4322978" y="3611880"/>
            <a:ext cx="3134258" cy="539750"/>
          </a:xfrm>
          <a:prstGeom prst="rect">
            <a:avLst/>
          </a:prstGeom>
          <a:noFill/>
        </p:spPr>
        <p:txBody>
          <a:bodyPr wrap="square" lIns="0" tIns="0" rIns="0" bIns="0" anchor="t">
            <a:spAutoFit/>
          </a:bodyPr>
          <a:lstStyle/>
          <a:p>
            <a:pPr algn="l">
              <a:lnSpc>
                <a:spcPct val="100000"/>
              </a:lnSpc>
              <a:spcAft>
                <a:spcPts val="0"/>
              </a:spcAft>
            </a:pPr>
            <a:r>
              <a:rPr sz="3400" b="1">
                <a:solidFill>
                  <a:srgbClr val="D9762B"/>
                </a:solidFill>
                <a:latin typeface="Segoe UI"/>
              </a:rPr>
              <a:t>69.5%</a:t>
            </a:r>
          </a:p>
        </p:txBody>
      </p:sp>
      <p:sp>
        <p:nvSpPr>
          <p:cNvPr id="9" name="TextBox 8"/>
          <p:cNvSpPr txBox="1"/>
          <p:nvPr/>
        </p:nvSpPr>
        <p:spPr>
          <a:xfrm>
            <a:off x="4322978" y="4173220"/>
            <a:ext cx="3134258" cy="725576"/>
          </a:xfrm>
          <a:prstGeom prst="rect">
            <a:avLst/>
          </a:prstGeom>
          <a:noFill/>
        </p:spPr>
        <p:txBody>
          <a:bodyPr wrap="square" lIns="0" tIns="0" rIns="0" bIns="0" anchor="t">
            <a:spAutoFit/>
          </a:bodyPr>
          <a:lstStyle/>
          <a:p>
            <a:pPr algn="l">
              <a:lnSpc>
                <a:spcPct val="138000"/>
              </a:lnSpc>
              <a:spcAft>
                <a:spcPts val="0"/>
              </a:spcAft>
            </a:pPr>
            <a:r>
              <a:rPr sz="1150" b="0">
                <a:solidFill>
                  <a:srgbClr val="8A817C"/>
                </a:solidFill>
                <a:latin typeface="Segoe UI"/>
              </a:rPr>
              <a:t>Of 256 residents across 55 care homes had at least one medication error, a mean of 1.9 each, taking 8.0 medicines each. Barber et al., 2009.</a:t>
            </a:r>
          </a:p>
        </p:txBody>
      </p:sp>
      <p:sp>
        <p:nvSpPr>
          <p:cNvPr id="10" name="TextBox 9"/>
          <p:cNvSpPr txBox="1"/>
          <p:nvPr/>
        </p:nvSpPr>
        <p:spPr>
          <a:xfrm>
            <a:off x="7868716" y="3611880"/>
            <a:ext cx="3134258" cy="539750"/>
          </a:xfrm>
          <a:prstGeom prst="rect">
            <a:avLst/>
          </a:prstGeom>
          <a:noFill/>
        </p:spPr>
        <p:txBody>
          <a:bodyPr wrap="square" lIns="0" tIns="0" rIns="0" bIns="0" anchor="t">
            <a:spAutoFit/>
          </a:bodyPr>
          <a:lstStyle/>
          <a:p>
            <a:pPr algn="l">
              <a:lnSpc>
                <a:spcPct val="100000"/>
              </a:lnSpc>
              <a:spcAft>
                <a:spcPts val="0"/>
              </a:spcAft>
            </a:pPr>
            <a:r>
              <a:rPr sz="3400" b="1">
                <a:solidFill>
                  <a:srgbClr val="D9762B"/>
                </a:solidFill>
                <a:latin typeface="Segoe UI"/>
              </a:rPr>
              <a:t>1 in 6</a:t>
            </a:r>
          </a:p>
        </p:txBody>
      </p:sp>
      <p:sp>
        <p:nvSpPr>
          <p:cNvPr id="11" name="TextBox 10"/>
          <p:cNvSpPr txBox="1"/>
          <p:nvPr/>
        </p:nvSpPr>
        <p:spPr>
          <a:xfrm>
            <a:off x="7868716" y="4173220"/>
            <a:ext cx="3134258" cy="725576"/>
          </a:xfrm>
          <a:prstGeom prst="rect">
            <a:avLst/>
          </a:prstGeom>
          <a:noFill/>
        </p:spPr>
        <p:txBody>
          <a:bodyPr wrap="square" lIns="0" tIns="0" rIns="0" bIns="0" anchor="t">
            <a:spAutoFit/>
          </a:bodyPr>
          <a:lstStyle/>
          <a:p>
            <a:pPr algn="l">
              <a:lnSpc>
                <a:spcPct val="138000"/>
              </a:lnSpc>
              <a:spcAft>
                <a:spcPts val="0"/>
              </a:spcAft>
            </a:pPr>
            <a:r>
              <a:rPr sz="1150" b="0">
                <a:solidFill>
                  <a:srgbClr val="8A817C"/>
                </a:solidFill>
                <a:latin typeface="Segoe UI"/>
              </a:rPr>
              <a:t>People worldwide will be 60 or over by 2030, and that population doubles to 2.1 billion by 2050. WHO, 2025.</a:t>
            </a:r>
          </a:p>
        </p:txBody>
      </p:sp>
      <p:sp>
        <p:nvSpPr>
          <p:cNvPr id="12" name="Rectangle 11"/>
          <p:cNvSpPr/>
          <p:nvPr/>
        </p:nvSpPr>
        <p:spPr>
          <a:xfrm>
            <a:off x="777240" y="5897880"/>
            <a:ext cx="10637215" cy="12700"/>
          </a:xfrm>
          <a:prstGeom prst="rect">
            <a:avLst/>
          </a:prstGeom>
          <a:solidFill>
            <a:srgbClr val="3A35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6108192"/>
            <a:ext cx="10637215" cy="365760"/>
          </a:xfrm>
          <a:prstGeom prst="rect">
            <a:avLst/>
          </a:prstGeom>
          <a:noFill/>
        </p:spPr>
        <p:txBody>
          <a:bodyPr wrap="square" lIns="0" tIns="0" rIns="0" bIns="0" anchor="t">
            <a:spAutoFit/>
          </a:bodyPr>
          <a:lstStyle/>
          <a:p>
            <a:pPr algn="l">
              <a:lnSpc>
                <a:spcPct val="118000"/>
              </a:lnSpc>
              <a:spcAft>
                <a:spcPts val="0"/>
              </a:spcAft>
            </a:pPr>
            <a:r>
              <a:rPr sz="1100" b="0">
                <a:solidFill>
                  <a:srgbClr val="8A817C"/>
                </a:solidFill>
                <a:latin typeface="Segoe UI"/>
              </a:rPr>
              <a:t>Entry 54916  ·  Dousik Manokaran  ·  </a:t>
            </a:r>
            <a:r>
              <a:rPr sz="1100" b="1">
                <a:solidFill>
                  <a:srgbClr val="F7F4F2"/>
                </a:solidFill>
                <a:latin typeface="Segoe UI"/>
              </a:rPr>
              <a:t>github.com/M-DOUSIK/MedSight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4F2"/>
        </a:solidFill>
        <a:effectLst/>
      </p:bgPr>
    </p:bg>
    <p:spTree>
      <p:nvGrpSpPr>
        <p:cNvPr id="1" name=""/>
        <p:cNvGrpSpPr/>
        <p:nvPr/>
      </p:nvGrpSpPr>
      <p:grpSpPr>
        <a:xfrm>
          <a:off x="0" y="0"/>
          <a:ext cx="0" cy="0"/>
          <a:chOff x="0" y="0"/>
          <a:chExt cx="0" cy="0"/>
        </a:xfrm>
      </p:grpSpPr>
      <p:sp>
        <p:nvSpPr>
          <p:cNvPr id="2" name="TextBox 1"/>
          <p:cNvSpPr txBox="1"/>
          <p:nvPr/>
        </p:nvSpPr>
        <p:spPr>
          <a:xfrm>
            <a:off x="777240" y="566928"/>
            <a:ext cx="10637215" cy="274320"/>
          </a:xfrm>
          <a:prstGeom prst="rect">
            <a:avLst/>
          </a:prstGeom>
          <a:noFill/>
        </p:spPr>
        <p:txBody>
          <a:bodyPr wrap="square" lIns="0" tIns="0" rIns="0" bIns="0" anchor="t">
            <a:spAutoFit/>
          </a:bodyPr>
          <a:lstStyle/>
          <a:p>
            <a:pPr algn="l">
              <a:lnSpc>
                <a:spcPct val="118000"/>
              </a:lnSpc>
              <a:spcAft>
                <a:spcPts val="0"/>
              </a:spcAft>
            </a:pPr>
            <a:r>
              <a:rPr sz="1050" b="1">
                <a:solidFill>
                  <a:srgbClr val="C2651F"/>
                </a:solidFill>
                <a:latin typeface="Segoe UI"/>
              </a:rPr>
              <a:t>SYSTEM OVERVIEW</a:t>
            </a:r>
          </a:p>
        </p:txBody>
      </p:sp>
      <p:sp>
        <p:nvSpPr>
          <p:cNvPr id="3" name="TextBox 2"/>
          <p:cNvSpPr txBox="1"/>
          <p:nvPr/>
        </p:nvSpPr>
        <p:spPr>
          <a:xfrm>
            <a:off x="777240" y="868680"/>
            <a:ext cx="10637215" cy="480060"/>
          </a:xfrm>
          <a:prstGeom prst="rect">
            <a:avLst/>
          </a:prstGeom>
          <a:noFill/>
        </p:spPr>
        <p:txBody>
          <a:bodyPr wrap="square" lIns="0" tIns="0" rIns="0" bIns="0" anchor="t">
            <a:spAutoFit/>
          </a:bodyPr>
          <a:lstStyle/>
          <a:p>
            <a:pPr algn="l">
              <a:lnSpc>
                <a:spcPct val="105000"/>
              </a:lnSpc>
              <a:spcAft>
                <a:spcPts val="0"/>
              </a:spcAft>
            </a:pPr>
            <a:r>
              <a:rPr sz="3000" b="1">
                <a:solidFill>
                  <a:srgbClr val="1C1A19"/>
                </a:solidFill>
                <a:latin typeface="Segoe UI"/>
              </a:rPr>
              <a:t>Single enrolment, then autonomous schedule execution</a:t>
            </a:r>
          </a:p>
        </p:txBody>
      </p:sp>
      <p:sp>
        <p:nvSpPr>
          <p:cNvPr id="4" name="Rectangle 3"/>
          <p:cNvSpPr/>
          <p:nvPr/>
        </p:nvSpPr>
        <p:spPr>
          <a:xfrm>
            <a:off x="777240" y="1627632"/>
            <a:ext cx="10637215" cy="20320"/>
          </a:xfrm>
          <a:prstGeom prst="rect">
            <a:avLst/>
          </a:prstGeom>
          <a:solidFill>
            <a:srgbClr val="1C1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 y="2107692"/>
            <a:ext cx="45720" cy="619048"/>
          </a:xfrm>
          <a:prstGeom prst="rect">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3272" y="2057400"/>
            <a:ext cx="6693408" cy="673912"/>
          </a:xfrm>
          <a:prstGeom prst="rect">
            <a:avLst/>
          </a:prstGeom>
          <a:noFill/>
        </p:spPr>
        <p:txBody>
          <a:bodyPr wrap="square" lIns="0" tIns="0" rIns="0" bIns="0" anchor="t">
            <a:spAutoFit/>
          </a:bodyPr>
          <a:lstStyle/>
          <a:p>
            <a:pPr algn="l">
              <a:lnSpc>
                <a:spcPct val="134000"/>
              </a:lnSpc>
              <a:spcAft>
                <a:spcPts val="0"/>
              </a:spcAft>
            </a:pPr>
            <a:r>
              <a:rPr sz="1650" b="1">
                <a:solidFill>
                  <a:srgbClr val="1C1A19"/>
                </a:solidFill>
                <a:latin typeface="Segoe UI"/>
              </a:rPr>
              <a:t>Identifies the patient </a:t>
            </a:r>
            <a:r>
              <a:rPr sz="1650" b="0">
                <a:solidFill>
                  <a:srgbClr val="4A4542"/>
                </a:solidFill>
                <a:latin typeface="Segoe UI"/>
              </a:rPr>
              <a:t>by face, on the board, in 209 ms. The unit is shared; the schedule it applies is theirs.</a:t>
            </a:r>
          </a:p>
        </p:txBody>
      </p:sp>
      <p:sp>
        <p:nvSpPr>
          <p:cNvPr id="7" name="Rectangle 6"/>
          <p:cNvSpPr/>
          <p:nvPr/>
        </p:nvSpPr>
        <p:spPr>
          <a:xfrm>
            <a:off x="777240" y="3183940"/>
            <a:ext cx="45720" cy="282092"/>
          </a:xfrm>
          <a:prstGeom prst="rect">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33272" y="3133648"/>
            <a:ext cx="6693408" cy="336956"/>
          </a:xfrm>
          <a:prstGeom prst="rect">
            <a:avLst/>
          </a:prstGeom>
          <a:noFill/>
        </p:spPr>
        <p:txBody>
          <a:bodyPr wrap="square" lIns="0" tIns="0" rIns="0" bIns="0" anchor="t">
            <a:spAutoFit/>
          </a:bodyPr>
          <a:lstStyle/>
          <a:p>
            <a:pPr algn="l">
              <a:lnSpc>
                <a:spcPct val="134000"/>
              </a:lnSpc>
              <a:spcAft>
                <a:spcPts val="0"/>
              </a:spcAft>
            </a:pPr>
            <a:r>
              <a:rPr sz="1650" b="1">
                <a:solidFill>
                  <a:srgbClr val="1C1A19"/>
                </a:solidFill>
                <a:latin typeface="Segoe UI"/>
              </a:rPr>
              <a:t>Signals the dose window </a:t>
            </a:r>
            <a:r>
              <a:rPr sz="1650" b="0">
                <a:solidFill>
                  <a:srgbClr val="4A4542"/>
                </a:solidFill>
                <a:latin typeface="Segoe UI"/>
              </a:rPr>
              <a:t>when the scheduler's alarm handler fires.</a:t>
            </a:r>
          </a:p>
        </p:txBody>
      </p:sp>
      <p:sp>
        <p:nvSpPr>
          <p:cNvPr id="9" name="Rectangle 8"/>
          <p:cNvSpPr/>
          <p:nvPr/>
        </p:nvSpPr>
        <p:spPr>
          <a:xfrm>
            <a:off x="777240" y="3923232"/>
            <a:ext cx="45720" cy="619048"/>
          </a:xfrm>
          <a:prstGeom prst="rect">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33272" y="3872940"/>
            <a:ext cx="6693408" cy="673912"/>
          </a:xfrm>
          <a:prstGeom prst="rect">
            <a:avLst/>
          </a:prstGeom>
          <a:noFill/>
        </p:spPr>
        <p:txBody>
          <a:bodyPr wrap="square" lIns="0" tIns="0" rIns="0" bIns="0" anchor="t">
            <a:spAutoFit/>
          </a:bodyPr>
          <a:lstStyle/>
          <a:p>
            <a:pPr algn="l">
              <a:lnSpc>
                <a:spcPct val="134000"/>
              </a:lnSpc>
              <a:spcAft>
                <a:spcPts val="0"/>
              </a:spcAft>
            </a:pPr>
            <a:r>
              <a:rPr sz="1650" b="1">
                <a:solidFill>
                  <a:srgbClr val="1C1A19"/>
                </a:solidFill>
                <a:latin typeface="Segoe UI"/>
              </a:rPr>
              <a:t>Drives a stepper turntable </a:t>
            </a:r>
            <a:r>
              <a:rPr sz="1650" b="0">
                <a:solidFill>
                  <a:srgbClr val="4A4542"/>
                </a:solidFill>
                <a:latin typeface="Segoe UI"/>
              </a:rPr>
              <a:t>and counts each pill by the infrared sensor it passes in the chute.</a:t>
            </a:r>
          </a:p>
        </p:txBody>
      </p:sp>
      <p:sp>
        <p:nvSpPr>
          <p:cNvPr id="11" name="Rectangle 10"/>
          <p:cNvSpPr/>
          <p:nvPr/>
        </p:nvSpPr>
        <p:spPr>
          <a:xfrm>
            <a:off x="777240" y="4999480"/>
            <a:ext cx="45720" cy="619048"/>
          </a:xfrm>
          <a:prstGeom prst="rect">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33272" y="4949188"/>
            <a:ext cx="6693408" cy="673912"/>
          </a:xfrm>
          <a:prstGeom prst="rect">
            <a:avLst/>
          </a:prstGeom>
          <a:noFill/>
        </p:spPr>
        <p:txBody>
          <a:bodyPr wrap="square" lIns="0" tIns="0" rIns="0" bIns="0" anchor="t">
            <a:spAutoFit/>
          </a:bodyPr>
          <a:lstStyle/>
          <a:p>
            <a:pPr algn="l">
              <a:lnSpc>
                <a:spcPct val="134000"/>
              </a:lnSpc>
              <a:spcAft>
                <a:spcPts val="0"/>
              </a:spcAft>
            </a:pPr>
            <a:r>
              <a:rPr sz="1650" b="1">
                <a:solidFill>
                  <a:srgbClr val="1C1A19"/>
                </a:solidFill>
                <a:latin typeface="Segoe UI"/>
              </a:rPr>
              <a:t>Runs action recognition </a:t>
            </a:r>
            <a:r>
              <a:rPr sz="1650" b="0">
                <a:solidFill>
                  <a:srgbClr val="4A4542"/>
                </a:solidFill>
                <a:latin typeface="Segoe UI"/>
              </a:rPr>
              <a:t>over the confirmation window, then requires the patient's own confirmation.</a:t>
            </a:r>
          </a:p>
        </p:txBody>
      </p:sp>
      <p:sp>
        <p:nvSpPr>
          <p:cNvPr id="13" name="Rectangle 12"/>
          <p:cNvSpPr/>
          <p:nvPr/>
        </p:nvSpPr>
        <p:spPr>
          <a:xfrm>
            <a:off x="777240" y="6075728"/>
            <a:ext cx="45720" cy="282092"/>
          </a:xfrm>
          <a:prstGeom prst="rect">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33272" y="6025436"/>
            <a:ext cx="6693408" cy="336956"/>
          </a:xfrm>
          <a:prstGeom prst="rect">
            <a:avLst/>
          </a:prstGeom>
          <a:noFill/>
        </p:spPr>
        <p:txBody>
          <a:bodyPr wrap="square" lIns="0" tIns="0" rIns="0" bIns="0" anchor="t">
            <a:spAutoFit/>
          </a:bodyPr>
          <a:lstStyle/>
          <a:p>
            <a:pPr algn="l">
              <a:lnSpc>
                <a:spcPct val="134000"/>
              </a:lnSpc>
              <a:spcAft>
                <a:spcPts val="0"/>
              </a:spcAft>
            </a:pPr>
            <a:r>
              <a:rPr sz="1650" b="1">
                <a:solidFill>
                  <a:srgbClr val="1C1A19"/>
                </a:solidFill>
                <a:latin typeface="Segoe UI"/>
              </a:rPr>
              <a:t>Appends an audit record </a:t>
            </a:r>
            <a:r>
              <a:rPr sz="1650" b="0">
                <a:solidFill>
                  <a:srgbClr val="4A4542"/>
                </a:solidFill>
                <a:latin typeface="Segoe UI"/>
              </a:rPr>
              <a:t>to the local card once the outcome is known.</a:t>
            </a:r>
          </a:p>
        </p:txBody>
      </p:sp>
      <p:pic>
        <p:nvPicPr>
          <p:cNvPr id="15" name="Picture 14" descr="device_hero.jpg"/>
          <p:cNvPicPr>
            <a:picLocks noChangeAspect="1"/>
          </p:cNvPicPr>
          <p:nvPr/>
        </p:nvPicPr>
        <p:blipFill>
          <a:blip r:embed="rId2">
            <a:extLst>
              <a:ext uri="{BEBA8EAE-BF5A-486C-A8C5-ECC9F3942E4B}">
                <a14:imgProps xmlns:a14="http://schemas.microsoft.com/office/drawing/2010/main">
                  <a14:imgLayer r:embed="rId3">
                    <a14:imgEffect>
                      <a14:backgroundRemoval t="6778" b="93389" l="8297" r="92879">
                        <a14:foregroundMark x1="33622" y1="14389" x2="74985" y2="17611"/>
                        <a14:foregroundMark x1="74985" y1="17611" x2="79628" y2="58778"/>
                        <a14:foregroundMark x1="79628" y1="58778" x2="65697" y2="82000"/>
                        <a14:foregroundMark x1="65697" y1="82000" x2="45263" y2="88167"/>
                        <a14:foregroundMark x1="45263" y1="88167" x2="12074" y2="79389"/>
                        <a14:foregroundMark x1="28359" y1="16222" x2="40867" y2="24556"/>
                        <a14:foregroundMark x1="74985" y1="9278" x2="86749" y2="50000"/>
                        <a14:foregroundMark x1="86749" y1="50000" x2="82353" y2="73000"/>
                        <a14:foregroundMark x1="84272" y1="15056" x2="89164" y2="71889"/>
                        <a14:foregroundMark x1="26625" y1="15167" x2="28359" y2="23167"/>
                        <a14:foregroundMark x1="70836" y1="83000" x2="93065" y2="77278"/>
                        <a14:foregroundMark x1="62848" y1="92944" x2="64520" y2="93444"/>
                        <a14:foregroundMark x1="72012" y1="6833" x2="82601" y2="7778"/>
                        <a14:foregroundMark x1="8297" y1="80889" x2="9226" y2="74278"/>
                      </a14:backgroundRemoval>
                    </a14:imgEffect>
                  </a14:imgLayer>
                </a14:imgProps>
              </a:ext>
            </a:extLst>
          </a:blip>
          <a:stretch>
            <a:fillRect/>
          </a:stretch>
        </p:blipFill>
        <p:spPr>
          <a:xfrm>
            <a:off x="8416798" y="2057400"/>
            <a:ext cx="2707386" cy="3017520"/>
          </a:xfrm>
          <a:prstGeom prst="rect">
            <a:avLst/>
          </a:prstGeom>
        </p:spPr>
      </p:pic>
      <p:sp>
        <p:nvSpPr>
          <p:cNvPr id="16" name="TextBox 15"/>
          <p:cNvSpPr txBox="1"/>
          <p:nvPr/>
        </p:nvSpPr>
        <p:spPr>
          <a:xfrm>
            <a:off x="8229600" y="5230368"/>
            <a:ext cx="3200400" cy="822960"/>
          </a:xfrm>
          <a:prstGeom prst="rect">
            <a:avLst/>
          </a:prstGeom>
          <a:noFill/>
        </p:spPr>
        <p:txBody>
          <a:bodyPr wrap="square" lIns="0" tIns="0" rIns="0" bIns="0" anchor="t">
            <a:spAutoFit/>
          </a:bodyPr>
          <a:lstStyle/>
          <a:p>
            <a:pPr algn="l">
              <a:lnSpc>
                <a:spcPct val="134000"/>
              </a:lnSpc>
              <a:spcAft>
                <a:spcPts val="600"/>
              </a:spcAft>
            </a:pPr>
            <a:r>
              <a:rPr sz="1200" b="1">
                <a:solidFill>
                  <a:srgbClr val="1C1A19"/>
                </a:solidFill>
                <a:latin typeface="Segoe UI"/>
              </a:rPr>
              <a:t>One device, many patients.</a:t>
            </a:r>
          </a:p>
          <a:p>
            <a:pPr algn="l">
              <a:lnSpc>
                <a:spcPct val="134000"/>
              </a:lnSpc>
              <a:spcAft>
                <a:spcPts val="600"/>
              </a:spcAft>
            </a:pPr>
            <a:r>
              <a:rPr sz="1200" b="0">
                <a:solidFill>
                  <a:srgbClr val="6E6864"/>
                </a:solidFill>
                <a:latin typeface="Segoe UI"/>
              </a:rPr>
              <a:t>Each is known by face and carries their own schedule, up to four dose times a day.</a:t>
            </a:r>
          </a:p>
        </p:txBody>
      </p:sp>
      <p:sp>
        <p:nvSpPr>
          <p:cNvPr id="17" name="TextBox 16"/>
          <p:cNvSpPr txBox="1"/>
          <p:nvPr/>
        </p:nvSpPr>
        <p:spPr>
          <a:xfrm>
            <a:off x="10865815" y="6291072"/>
            <a:ext cx="548640" cy="274320"/>
          </a:xfrm>
          <a:prstGeom prst="rect">
            <a:avLst/>
          </a:prstGeom>
          <a:noFill/>
        </p:spPr>
        <p:txBody>
          <a:bodyPr wrap="square" lIns="0" tIns="0" rIns="0" bIns="0" anchor="t">
            <a:spAutoFit/>
          </a:bodyPr>
          <a:lstStyle/>
          <a:p>
            <a:pPr algn="r">
              <a:lnSpc>
                <a:spcPct val="118000"/>
              </a:lnSpc>
              <a:spcAft>
                <a:spcPts val="0"/>
              </a:spcAft>
            </a:pPr>
            <a:r>
              <a:rPr sz="1100" b="0">
                <a:solidFill>
                  <a:srgbClr val="6E6864"/>
                </a:solidFill>
                <a:latin typeface="Segoe U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4F2"/>
        </a:solidFill>
        <a:effectLst/>
      </p:bgPr>
    </p:bg>
    <p:spTree>
      <p:nvGrpSpPr>
        <p:cNvPr id="1" name=""/>
        <p:cNvGrpSpPr/>
        <p:nvPr/>
      </p:nvGrpSpPr>
      <p:grpSpPr>
        <a:xfrm>
          <a:off x="0" y="0"/>
          <a:ext cx="0" cy="0"/>
          <a:chOff x="0" y="0"/>
          <a:chExt cx="0" cy="0"/>
        </a:xfrm>
      </p:grpSpPr>
      <p:sp>
        <p:nvSpPr>
          <p:cNvPr id="2" name="TextBox 1"/>
          <p:cNvSpPr txBox="1"/>
          <p:nvPr/>
        </p:nvSpPr>
        <p:spPr>
          <a:xfrm>
            <a:off x="777240" y="566928"/>
            <a:ext cx="10637215" cy="274320"/>
          </a:xfrm>
          <a:prstGeom prst="rect">
            <a:avLst/>
          </a:prstGeom>
          <a:noFill/>
        </p:spPr>
        <p:txBody>
          <a:bodyPr wrap="square" lIns="0" tIns="0" rIns="0" bIns="0" anchor="t">
            <a:spAutoFit/>
          </a:bodyPr>
          <a:lstStyle/>
          <a:p>
            <a:pPr algn="l">
              <a:lnSpc>
                <a:spcPct val="118000"/>
              </a:lnSpc>
              <a:spcAft>
                <a:spcPts val="0"/>
              </a:spcAft>
            </a:pPr>
            <a:r>
              <a:rPr sz="1050" b="1">
                <a:solidFill>
                  <a:srgbClr val="C2651F"/>
                </a:solidFill>
                <a:latin typeface="Segoe UI"/>
              </a:rPr>
              <a:t>DOSE SEQUENCE</a:t>
            </a:r>
          </a:p>
        </p:txBody>
      </p:sp>
      <p:sp>
        <p:nvSpPr>
          <p:cNvPr id="3" name="TextBox 2"/>
          <p:cNvSpPr txBox="1"/>
          <p:nvPr/>
        </p:nvSpPr>
        <p:spPr>
          <a:xfrm>
            <a:off x="777240" y="868680"/>
            <a:ext cx="10637215" cy="480060"/>
          </a:xfrm>
          <a:prstGeom prst="rect">
            <a:avLst/>
          </a:prstGeom>
          <a:noFill/>
        </p:spPr>
        <p:txBody>
          <a:bodyPr wrap="square" lIns="0" tIns="0" rIns="0" bIns="0" anchor="t">
            <a:spAutoFit/>
          </a:bodyPr>
          <a:lstStyle/>
          <a:p>
            <a:pPr algn="l">
              <a:lnSpc>
                <a:spcPct val="105000"/>
              </a:lnSpc>
              <a:spcAft>
                <a:spcPts val="0"/>
              </a:spcAft>
            </a:pPr>
            <a:r>
              <a:rPr sz="3000" b="1">
                <a:solidFill>
                  <a:srgbClr val="1C1A19"/>
                </a:solidFill>
                <a:latin typeface="Segoe UI"/>
              </a:rPr>
              <a:t>Five stages, with the count taken from a sensor readout</a:t>
            </a:r>
          </a:p>
        </p:txBody>
      </p:sp>
      <p:sp>
        <p:nvSpPr>
          <p:cNvPr id="4" name="Rectangle 3"/>
          <p:cNvSpPr/>
          <p:nvPr/>
        </p:nvSpPr>
        <p:spPr>
          <a:xfrm>
            <a:off x="777240" y="1627632"/>
            <a:ext cx="10637215" cy="20320"/>
          </a:xfrm>
          <a:prstGeom prst="rect">
            <a:avLst/>
          </a:prstGeom>
          <a:solidFill>
            <a:srgbClr val="1C1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029968"/>
            <a:ext cx="457200" cy="274320"/>
          </a:xfrm>
          <a:prstGeom prst="rect">
            <a:avLst/>
          </a:prstGeom>
          <a:noFill/>
        </p:spPr>
        <p:txBody>
          <a:bodyPr wrap="square" lIns="0" tIns="0" rIns="0" bIns="0" anchor="t">
            <a:spAutoFit/>
          </a:bodyPr>
          <a:lstStyle/>
          <a:p>
            <a:pPr algn="l">
              <a:lnSpc>
                <a:spcPct val="118000"/>
              </a:lnSpc>
              <a:spcAft>
                <a:spcPts val="0"/>
              </a:spcAft>
            </a:pPr>
            <a:r>
              <a:rPr sz="1600" b="1">
                <a:solidFill>
                  <a:srgbClr val="C2651F"/>
                </a:solidFill>
                <a:latin typeface="Segoe UI"/>
              </a:rPr>
              <a:t>01</a:t>
            </a:r>
          </a:p>
        </p:txBody>
      </p:sp>
      <p:sp>
        <p:nvSpPr>
          <p:cNvPr id="6" name="TextBox 5"/>
          <p:cNvSpPr txBox="1"/>
          <p:nvPr/>
        </p:nvSpPr>
        <p:spPr>
          <a:xfrm>
            <a:off x="1371600" y="2029968"/>
            <a:ext cx="2286000" cy="320040"/>
          </a:xfrm>
          <a:prstGeom prst="rect">
            <a:avLst/>
          </a:prstGeom>
          <a:noFill/>
        </p:spPr>
        <p:txBody>
          <a:bodyPr wrap="square" lIns="0" tIns="0" rIns="0" bIns="0" anchor="t">
            <a:spAutoFit/>
          </a:bodyPr>
          <a:lstStyle/>
          <a:p>
            <a:pPr algn="l">
              <a:lnSpc>
                <a:spcPct val="118000"/>
              </a:lnSpc>
              <a:spcAft>
                <a:spcPts val="0"/>
              </a:spcAft>
            </a:pPr>
            <a:r>
              <a:rPr sz="1400" b="1">
                <a:solidFill>
                  <a:srgbClr val="1C1A19"/>
                </a:solidFill>
                <a:latin typeface="Segoe UI"/>
              </a:rPr>
              <a:t>The window opens</a:t>
            </a:r>
          </a:p>
        </p:txBody>
      </p:sp>
      <p:sp>
        <p:nvSpPr>
          <p:cNvPr id="7" name="TextBox 6"/>
          <p:cNvSpPr txBox="1"/>
          <p:nvPr/>
        </p:nvSpPr>
        <p:spPr>
          <a:xfrm>
            <a:off x="3749040" y="2029968"/>
            <a:ext cx="7589520" cy="275691"/>
          </a:xfrm>
          <a:prstGeom prst="rect">
            <a:avLst/>
          </a:prstGeom>
          <a:noFill/>
        </p:spPr>
        <p:txBody>
          <a:bodyPr wrap="square" lIns="0" tIns="0" rIns="0" bIns="0" anchor="t">
            <a:spAutoFit/>
          </a:bodyPr>
          <a:lstStyle/>
          <a:p>
            <a:pPr algn="l">
              <a:lnSpc>
                <a:spcPct val="134000"/>
              </a:lnSpc>
              <a:spcAft>
                <a:spcPts val="0"/>
              </a:spcAft>
            </a:pPr>
            <a:r>
              <a:rPr sz="1350" b="0">
                <a:solidFill>
                  <a:srgbClr val="4A4542"/>
                </a:solidFill>
                <a:latin typeface="Segoe UI"/>
              </a:rPr>
              <a:t>A µT-Kernel alarm handler fires once. The home screen names the patient; three short beeps.</a:t>
            </a:r>
          </a:p>
        </p:txBody>
      </p:sp>
      <p:sp>
        <p:nvSpPr>
          <p:cNvPr id="8" name="TextBox 7"/>
          <p:cNvSpPr txBox="1"/>
          <p:nvPr/>
        </p:nvSpPr>
        <p:spPr>
          <a:xfrm>
            <a:off x="777240" y="2615184"/>
            <a:ext cx="457200" cy="274320"/>
          </a:xfrm>
          <a:prstGeom prst="rect">
            <a:avLst/>
          </a:prstGeom>
          <a:noFill/>
        </p:spPr>
        <p:txBody>
          <a:bodyPr wrap="square" lIns="0" tIns="0" rIns="0" bIns="0" anchor="t">
            <a:spAutoFit/>
          </a:bodyPr>
          <a:lstStyle/>
          <a:p>
            <a:pPr algn="l">
              <a:lnSpc>
                <a:spcPct val="118000"/>
              </a:lnSpc>
              <a:spcAft>
                <a:spcPts val="0"/>
              </a:spcAft>
            </a:pPr>
            <a:r>
              <a:rPr sz="1600" b="1">
                <a:solidFill>
                  <a:srgbClr val="C2651F"/>
                </a:solidFill>
                <a:latin typeface="Segoe UI"/>
              </a:rPr>
              <a:t>02</a:t>
            </a:r>
          </a:p>
        </p:txBody>
      </p:sp>
      <p:sp>
        <p:nvSpPr>
          <p:cNvPr id="9" name="TextBox 8"/>
          <p:cNvSpPr txBox="1"/>
          <p:nvPr/>
        </p:nvSpPr>
        <p:spPr>
          <a:xfrm>
            <a:off x="1371600" y="2615184"/>
            <a:ext cx="2286000" cy="320040"/>
          </a:xfrm>
          <a:prstGeom prst="rect">
            <a:avLst/>
          </a:prstGeom>
          <a:noFill/>
        </p:spPr>
        <p:txBody>
          <a:bodyPr wrap="square" lIns="0" tIns="0" rIns="0" bIns="0" anchor="t">
            <a:spAutoFit/>
          </a:bodyPr>
          <a:lstStyle/>
          <a:p>
            <a:pPr algn="l">
              <a:lnSpc>
                <a:spcPct val="118000"/>
              </a:lnSpc>
              <a:spcAft>
                <a:spcPts val="0"/>
              </a:spcAft>
            </a:pPr>
            <a:r>
              <a:rPr sz="1400" b="1">
                <a:solidFill>
                  <a:srgbClr val="1C1A19"/>
                </a:solidFill>
                <a:latin typeface="Segoe UI"/>
              </a:rPr>
              <a:t>Identification</a:t>
            </a:r>
          </a:p>
        </p:txBody>
      </p:sp>
      <p:sp>
        <p:nvSpPr>
          <p:cNvPr id="10" name="TextBox 9"/>
          <p:cNvSpPr txBox="1"/>
          <p:nvPr/>
        </p:nvSpPr>
        <p:spPr>
          <a:xfrm>
            <a:off x="3749040" y="2615184"/>
            <a:ext cx="7589520" cy="275691"/>
          </a:xfrm>
          <a:prstGeom prst="rect">
            <a:avLst/>
          </a:prstGeom>
          <a:noFill/>
        </p:spPr>
        <p:txBody>
          <a:bodyPr wrap="square" lIns="0" tIns="0" rIns="0" bIns="0" anchor="t">
            <a:spAutoFit/>
          </a:bodyPr>
          <a:lstStyle/>
          <a:p>
            <a:pPr algn="l">
              <a:lnSpc>
                <a:spcPct val="134000"/>
              </a:lnSpc>
              <a:spcAft>
                <a:spcPts val="0"/>
              </a:spcAft>
            </a:pPr>
            <a:r>
              <a:rPr sz="1350" b="0">
                <a:solidFill>
                  <a:srgbClr val="4A4542"/>
                </a:solidFill>
                <a:latin typeface="Segoe UI"/>
              </a:rPr>
              <a:t>CenterFace detects the face, MobileFaceNet embeds it, cosine match against the gallery. 209 ms.</a:t>
            </a:r>
          </a:p>
        </p:txBody>
      </p:sp>
      <p:sp>
        <p:nvSpPr>
          <p:cNvPr id="11" name="TextBox 10"/>
          <p:cNvSpPr txBox="1"/>
          <p:nvPr/>
        </p:nvSpPr>
        <p:spPr>
          <a:xfrm>
            <a:off x="777240" y="3200400"/>
            <a:ext cx="457200" cy="274320"/>
          </a:xfrm>
          <a:prstGeom prst="rect">
            <a:avLst/>
          </a:prstGeom>
          <a:noFill/>
        </p:spPr>
        <p:txBody>
          <a:bodyPr wrap="square" lIns="0" tIns="0" rIns="0" bIns="0" anchor="t">
            <a:spAutoFit/>
          </a:bodyPr>
          <a:lstStyle/>
          <a:p>
            <a:pPr algn="l">
              <a:lnSpc>
                <a:spcPct val="118000"/>
              </a:lnSpc>
              <a:spcAft>
                <a:spcPts val="0"/>
              </a:spcAft>
            </a:pPr>
            <a:r>
              <a:rPr sz="1600" b="1">
                <a:solidFill>
                  <a:srgbClr val="C2651F"/>
                </a:solidFill>
                <a:latin typeface="Segoe UI"/>
              </a:rPr>
              <a:t>03</a:t>
            </a:r>
          </a:p>
        </p:txBody>
      </p:sp>
      <p:sp>
        <p:nvSpPr>
          <p:cNvPr id="12" name="TextBox 11"/>
          <p:cNvSpPr txBox="1"/>
          <p:nvPr/>
        </p:nvSpPr>
        <p:spPr>
          <a:xfrm>
            <a:off x="1371600" y="3200400"/>
            <a:ext cx="2286000" cy="320040"/>
          </a:xfrm>
          <a:prstGeom prst="rect">
            <a:avLst/>
          </a:prstGeom>
          <a:noFill/>
        </p:spPr>
        <p:txBody>
          <a:bodyPr wrap="square" lIns="0" tIns="0" rIns="0" bIns="0" anchor="t">
            <a:spAutoFit/>
          </a:bodyPr>
          <a:lstStyle/>
          <a:p>
            <a:pPr algn="l">
              <a:lnSpc>
                <a:spcPct val="118000"/>
              </a:lnSpc>
              <a:spcAft>
                <a:spcPts val="0"/>
              </a:spcAft>
            </a:pPr>
            <a:r>
              <a:rPr sz="1400" b="1">
                <a:solidFill>
                  <a:srgbClr val="1C1A19"/>
                </a:solidFill>
                <a:latin typeface="Segoe UI"/>
              </a:rPr>
              <a:t>Dispense</a:t>
            </a:r>
          </a:p>
        </p:txBody>
      </p:sp>
      <p:sp>
        <p:nvSpPr>
          <p:cNvPr id="13" name="TextBox 12"/>
          <p:cNvSpPr txBox="1"/>
          <p:nvPr/>
        </p:nvSpPr>
        <p:spPr>
          <a:xfrm>
            <a:off x="3749040" y="3200400"/>
            <a:ext cx="7589520" cy="275691"/>
          </a:xfrm>
          <a:prstGeom prst="rect">
            <a:avLst/>
          </a:prstGeom>
          <a:noFill/>
        </p:spPr>
        <p:txBody>
          <a:bodyPr wrap="square" lIns="0" tIns="0" rIns="0" bIns="0" anchor="t">
            <a:spAutoFit/>
          </a:bodyPr>
          <a:lstStyle/>
          <a:p>
            <a:pPr algn="l">
              <a:lnSpc>
                <a:spcPct val="134000"/>
              </a:lnSpc>
              <a:spcAft>
                <a:spcPts val="0"/>
              </a:spcAft>
            </a:pPr>
            <a:r>
              <a:rPr sz="1350" b="0">
                <a:solidFill>
                  <a:srgbClr val="4A4542"/>
                </a:solidFill>
                <a:latin typeface="Segoe UI"/>
              </a:rPr>
              <a:t>The turntable turns. Each pill passes the infrared sensor on the way down the chute: 17-46 ms.</a:t>
            </a:r>
          </a:p>
        </p:txBody>
      </p:sp>
      <p:sp>
        <p:nvSpPr>
          <p:cNvPr id="14" name="TextBox 13"/>
          <p:cNvSpPr txBox="1"/>
          <p:nvPr/>
        </p:nvSpPr>
        <p:spPr>
          <a:xfrm>
            <a:off x="777240" y="3785616"/>
            <a:ext cx="457200" cy="274320"/>
          </a:xfrm>
          <a:prstGeom prst="rect">
            <a:avLst/>
          </a:prstGeom>
          <a:noFill/>
        </p:spPr>
        <p:txBody>
          <a:bodyPr wrap="square" lIns="0" tIns="0" rIns="0" bIns="0" anchor="t">
            <a:spAutoFit/>
          </a:bodyPr>
          <a:lstStyle/>
          <a:p>
            <a:pPr algn="l">
              <a:lnSpc>
                <a:spcPct val="118000"/>
              </a:lnSpc>
              <a:spcAft>
                <a:spcPts val="0"/>
              </a:spcAft>
            </a:pPr>
            <a:r>
              <a:rPr sz="1600" b="1">
                <a:solidFill>
                  <a:srgbClr val="C2651F"/>
                </a:solidFill>
                <a:latin typeface="Segoe UI"/>
              </a:rPr>
              <a:t>04</a:t>
            </a:r>
          </a:p>
        </p:txBody>
      </p:sp>
      <p:sp>
        <p:nvSpPr>
          <p:cNvPr id="15" name="TextBox 14"/>
          <p:cNvSpPr txBox="1"/>
          <p:nvPr/>
        </p:nvSpPr>
        <p:spPr>
          <a:xfrm>
            <a:off x="1371600" y="3785616"/>
            <a:ext cx="2286000" cy="320040"/>
          </a:xfrm>
          <a:prstGeom prst="rect">
            <a:avLst/>
          </a:prstGeom>
          <a:noFill/>
        </p:spPr>
        <p:txBody>
          <a:bodyPr wrap="square" lIns="0" tIns="0" rIns="0" bIns="0" anchor="t">
            <a:spAutoFit/>
          </a:bodyPr>
          <a:lstStyle/>
          <a:p>
            <a:pPr algn="l">
              <a:lnSpc>
                <a:spcPct val="118000"/>
              </a:lnSpc>
              <a:spcAft>
                <a:spcPts val="0"/>
              </a:spcAft>
            </a:pPr>
            <a:r>
              <a:rPr sz="1400" b="1">
                <a:solidFill>
                  <a:srgbClr val="1C1A19"/>
                </a:solidFill>
                <a:latin typeface="Segoe UI"/>
              </a:rPr>
              <a:t>Counted, not timed</a:t>
            </a:r>
          </a:p>
        </p:txBody>
      </p:sp>
      <p:sp>
        <p:nvSpPr>
          <p:cNvPr id="16" name="TextBox 15"/>
          <p:cNvSpPr txBox="1"/>
          <p:nvPr/>
        </p:nvSpPr>
        <p:spPr>
          <a:xfrm>
            <a:off x="3749040" y="3785616"/>
            <a:ext cx="7589520" cy="551383"/>
          </a:xfrm>
          <a:prstGeom prst="rect">
            <a:avLst/>
          </a:prstGeom>
          <a:noFill/>
        </p:spPr>
        <p:txBody>
          <a:bodyPr wrap="square" lIns="0" tIns="0" rIns="0" bIns="0" anchor="t">
            <a:spAutoFit/>
          </a:bodyPr>
          <a:lstStyle/>
          <a:p>
            <a:pPr algn="l">
              <a:lnSpc>
                <a:spcPct val="134000"/>
              </a:lnSpc>
              <a:spcAft>
                <a:spcPts val="0"/>
              </a:spcAft>
            </a:pPr>
            <a:r>
              <a:rPr sz="1350" b="0">
                <a:solidFill>
                  <a:srgbClr val="4A4542"/>
                </a:solidFill>
                <a:latin typeface="Segoe UI"/>
              </a:rPr>
              <a:t>With the mechanism attached the bar advances on each sensor pulse. The timed animation exists only in the simulation build, where there is no sensor to read.</a:t>
            </a:r>
          </a:p>
        </p:txBody>
      </p:sp>
      <p:sp>
        <p:nvSpPr>
          <p:cNvPr id="17" name="TextBox 16"/>
          <p:cNvSpPr txBox="1"/>
          <p:nvPr/>
        </p:nvSpPr>
        <p:spPr>
          <a:xfrm>
            <a:off x="777240" y="4611319"/>
            <a:ext cx="457200" cy="274320"/>
          </a:xfrm>
          <a:prstGeom prst="rect">
            <a:avLst/>
          </a:prstGeom>
          <a:noFill/>
        </p:spPr>
        <p:txBody>
          <a:bodyPr wrap="square" lIns="0" tIns="0" rIns="0" bIns="0" anchor="t">
            <a:spAutoFit/>
          </a:bodyPr>
          <a:lstStyle/>
          <a:p>
            <a:pPr algn="l">
              <a:lnSpc>
                <a:spcPct val="118000"/>
              </a:lnSpc>
              <a:spcAft>
                <a:spcPts val="0"/>
              </a:spcAft>
            </a:pPr>
            <a:r>
              <a:rPr sz="1600" b="1">
                <a:solidFill>
                  <a:srgbClr val="C2651F"/>
                </a:solidFill>
                <a:latin typeface="Segoe UI"/>
              </a:rPr>
              <a:t>05</a:t>
            </a:r>
          </a:p>
        </p:txBody>
      </p:sp>
      <p:sp>
        <p:nvSpPr>
          <p:cNvPr id="18" name="TextBox 17"/>
          <p:cNvSpPr txBox="1"/>
          <p:nvPr/>
        </p:nvSpPr>
        <p:spPr>
          <a:xfrm>
            <a:off x="1371600" y="4611319"/>
            <a:ext cx="2286000" cy="320040"/>
          </a:xfrm>
          <a:prstGeom prst="rect">
            <a:avLst/>
          </a:prstGeom>
          <a:noFill/>
        </p:spPr>
        <p:txBody>
          <a:bodyPr wrap="square" lIns="0" tIns="0" rIns="0" bIns="0" anchor="t">
            <a:spAutoFit/>
          </a:bodyPr>
          <a:lstStyle/>
          <a:p>
            <a:pPr algn="l">
              <a:lnSpc>
                <a:spcPct val="118000"/>
              </a:lnSpc>
              <a:spcAft>
                <a:spcPts val="0"/>
              </a:spcAft>
            </a:pPr>
            <a:r>
              <a:rPr sz="1400" b="1">
                <a:solidFill>
                  <a:srgbClr val="1C1A19"/>
                </a:solidFill>
                <a:latin typeface="Segoe UI"/>
              </a:rPr>
              <a:t>Confirmation</a:t>
            </a:r>
          </a:p>
        </p:txBody>
      </p:sp>
      <p:sp>
        <p:nvSpPr>
          <p:cNvPr id="19" name="TextBox 18"/>
          <p:cNvSpPr txBox="1"/>
          <p:nvPr/>
        </p:nvSpPr>
        <p:spPr>
          <a:xfrm>
            <a:off x="3749040" y="4611319"/>
            <a:ext cx="7589520" cy="551383"/>
          </a:xfrm>
          <a:prstGeom prst="rect">
            <a:avLst/>
          </a:prstGeom>
          <a:noFill/>
        </p:spPr>
        <p:txBody>
          <a:bodyPr wrap="square" lIns="0" tIns="0" rIns="0" bIns="0" anchor="t">
            <a:spAutoFit/>
          </a:bodyPr>
          <a:lstStyle/>
          <a:p>
            <a:pPr algn="l">
              <a:lnSpc>
                <a:spcPct val="134000"/>
              </a:lnSpc>
              <a:spcAft>
                <a:spcPts val="0"/>
              </a:spcAft>
            </a:pPr>
            <a:r>
              <a:rPr sz="1350" b="0">
                <a:solidFill>
                  <a:srgbClr val="4A4542"/>
                </a:solidFill>
                <a:latin typeface="Segoe UI"/>
              </a:rPr>
              <a:t>Action recognition observes the window; the patient's button press remains the confirming action. One record to the card.</a:t>
            </a:r>
          </a:p>
        </p:txBody>
      </p:sp>
      <p:sp>
        <p:nvSpPr>
          <p:cNvPr id="20" name="Rectangle 19"/>
          <p:cNvSpPr/>
          <p:nvPr/>
        </p:nvSpPr>
        <p:spPr>
          <a:xfrm>
            <a:off x="777240" y="5642991"/>
            <a:ext cx="10637215"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5844159"/>
            <a:ext cx="10637215" cy="236601"/>
          </a:xfrm>
          <a:prstGeom prst="rect">
            <a:avLst/>
          </a:prstGeom>
          <a:noFill/>
        </p:spPr>
        <p:txBody>
          <a:bodyPr wrap="square" lIns="0" tIns="0" rIns="0" bIns="0" anchor="t">
            <a:spAutoFit/>
          </a:bodyPr>
          <a:lstStyle/>
          <a:p>
            <a:pPr algn="l">
              <a:lnSpc>
                <a:spcPct val="135000"/>
              </a:lnSpc>
              <a:spcAft>
                <a:spcPts val="0"/>
              </a:spcAft>
            </a:pPr>
            <a:r>
              <a:rPr sz="1150" b="0">
                <a:solidFill>
                  <a:srgbClr val="6E6864"/>
                </a:solidFill>
                <a:latin typeface="Segoe UI"/>
              </a:rPr>
              <a:t>The log is written once, after the outcome is known: DISPENSE: &lt;patient&gt; &lt;n&gt; requested, &lt;m&gt; counted (OK). Never two claims about one event.</a:t>
            </a:r>
          </a:p>
        </p:txBody>
      </p:sp>
      <p:sp>
        <p:nvSpPr>
          <p:cNvPr id="22" name="TextBox 21"/>
          <p:cNvSpPr txBox="1"/>
          <p:nvPr/>
        </p:nvSpPr>
        <p:spPr>
          <a:xfrm>
            <a:off x="10865815" y="6291072"/>
            <a:ext cx="548640" cy="274320"/>
          </a:xfrm>
          <a:prstGeom prst="rect">
            <a:avLst/>
          </a:prstGeom>
          <a:noFill/>
        </p:spPr>
        <p:txBody>
          <a:bodyPr wrap="square" lIns="0" tIns="0" rIns="0" bIns="0" anchor="t">
            <a:spAutoFit/>
          </a:bodyPr>
          <a:lstStyle/>
          <a:p>
            <a:pPr algn="r">
              <a:lnSpc>
                <a:spcPct val="118000"/>
              </a:lnSpc>
              <a:spcAft>
                <a:spcPts val="0"/>
              </a:spcAft>
            </a:pPr>
            <a:r>
              <a:rPr sz="1100" b="0">
                <a:solidFill>
                  <a:srgbClr val="6E6864"/>
                </a:solidFill>
                <a:latin typeface="Segoe UI"/>
              </a:rPr>
              <a:t>05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4F2"/>
        </a:solidFill>
        <a:effectLst/>
      </p:bgPr>
    </p:bg>
    <p:spTree>
      <p:nvGrpSpPr>
        <p:cNvPr id="1" name=""/>
        <p:cNvGrpSpPr/>
        <p:nvPr/>
      </p:nvGrpSpPr>
      <p:grpSpPr>
        <a:xfrm>
          <a:off x="0" y="0"/>
          <a:ext cx="0" cy="0"/>
          <a:chOff x="0" y="0"/>
          <a:chExt cx="0" cy="0"/>
        </a:xfrm>
      </p:grpSpPr>
      <p:sp>
        <p:nvSpPr>
          <p:cNvPr id="2" name="TextBox 1"/>
          <p:cNvSpPr txBox="1"/>
          <p:nvPr/>
        </p:nvSpPr>
        <p:spPr>
          <a:xfrm>
            <a:off x="777240" y="566928"/>
            <a:ext cx="10637215" cy="274320"/>
          </a:xfrm>
          <a:prstGeom prst="rect">
            <a:avLst/>
          </a:prstGeom>
          <a:noFill/>
        </p:spPr>
        <p:txBody>
          <a:bodyPr wrap="square" lIns="0" tIns="0" rIns="0" bIns="0" anchor="t">
            <a:spAutoFit/>
          </a:bodyPr>
          <a:lstStyle/>
          <a:p>
            <a:pPr algn="l">
              <a:lnSpc>
                <a:spcPct val="118000"/>
              </a:lnSpc>
              <a:spcAft>
                <a:spcPts val="0"/>
              </a:spcAft>
            </a:pPr>
            <a:r>
              <a:rPr sz="1050" b="1">
                <a:solidFill>
                  <a:srgbClr val="C2651F"/>
                </a:solidFill>
                <a:latin typeface="Segoe UI"/>
              </a:rPr>
              <a:t>TASK ARCHITECTURE</a:t>
            </a:r>
          </a:p>
        </p:txBody>
      </p:sp>
      <p:sp>
        <p:nvSpPr>
          <p:cNvPr id="3" name="TextBox 2"/>
          <p:cNvSpPr txBox="1"/>
          <p:nvPr/>
        </p:nvSpPr>
        <p:spPr>
          <a:xfrm>
            <a:off x="777240" y="868680"/>
            <a:ext cx="10637215" cy="480060"/>
          </a:xfrm>
          <a:prstGeom prst="rect">
            <a:avLst/>
          </a:prstGeom>
          <a:noFill/>
        </p:spPr>
        <p:txBody>
          <a:bodyPr wrap="square" lIns="0" tIns="0" rIns="0" bIns="0" anchor="t">
            <a:spAutoFit/>
          </a:bodyPr>
          <a:lstStyle/>
          <a:p>
            <a:pPr algn="l">
              <a:lnSpc>
                <a:spcPct val="105000"/>
              </a:lnSpc>
              <a:spcAft>
                <a:spcPts val="0"/>
              </a:spcAft>
            </a:pPr>
            <a:r>
              <a:rPr sz="3000" b="1">
                <a:solidFill>
                  <a:srgbClr val="1C1A19"/>
                </a:solidFill>
                <a:latin typeface="Segoe UI"/>
              </a:rPr>
              <a:t>Six tasks, with priorities derived rate-monotonically</a:t>
            </a:r>
          </a:p>
        </p:txBody>
      </p:sp>
      <p:sp>
        <p:nvSpPr>
          <p:cNvPr id="4" name="Rectangle 3"/>
          <p:cNvSpPr/>
          <p:nvPr/>
        </p:nvSpPr>
        <p:spPr>
          <a:xfrm>
            <a:off x="777240" y="1627632"/>
            <a:ext cx="10637215" cy="20320"/>
          </a:xfrm>
          <a:prstGeom prst="rect">
            <a:avLst/>
          </a:prstGeom>
          <a:solidFill>
            <a:srgbClr val="1C1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920240"/>
            <a:ext cx="508406" cy="274320"/>
          </a:xfrm>
          <a:prstGeom prst="rect">
            <a:avLst/>
          </a:prstGeom>
          <a:noFill/>
        </p:spPr>
        <p:txBody>
          <a:bodyPr wrap="square" lIns="0" tIns="0" rIns="0" bIns="0" anchor="t">
            <a:spAutoFit/>
          </a:bodyPr>
          <a:lstStyle/>
          <a:p>
            <a:pPr algn="l">
              <a:lnSpc>
                <a:spcPct val="118000"/>
              </a:lnSpc>
              <a:spcAft>
                <a:spcPts val="0"/>
              </a:spcAft>
            </a:pPr>
            <a:r>
              <a:rPr sz="880" b="1">
                <a:solidFill>
                  <a:srgbClr val="1C1A19"/>
                </a:solidFill>
                <a:latin typeface="Segoe UI"/>
              </a:rPr>
              <a:t>PRI</a:t>
            </a:r>
          </a:p>
        </p:txBody>
      </p:sp>
      <p:sp>
        <p:nvSpPr>
          <p:cNvPr id="6" name="TextBox 5"/>
          <p:cNvSpPr txBox="1"/>
          <p:nvPr/>
        </p:nvSpPr>
        <p:spPr>
          <a:xfrm>
            <a:off x="1413662" y="1920240"/>
            <a:ext cx="1569110" cy="274320"/>
          </a:xfrm>
          <a:prstGeom prst="rect">
            <a:avLst/>
          </a:prstGeom>
          <a:noFill/>
        </p:spPr>
        <p:txBody>
          <a:bodyPr wrap="square" lIns="0" tIns="0" rIns="0" bIns="0" anchor="t">
            <a:spAutoFit/>
          </a:bodyPr>
          <a:lstStyle/>
          <a:p>
            <a:pPr algn="l">
              <a:lnSpc>
                <a:spcPct val="118000"/>
              </a:lnSpc>
              <a:spcAft>
                <a:spcPts val="0"/>
              </a:spcAft>
            </a:pPr>
            <a:r>
              <a:rPr sz="880" b="1">
                <a:solidFill>
                  <a:srgbClr val="1C1A19"/>
                </a:solidFill>
                <a:latin typeface="Segoe UI"/>
              </a:rPr>
              <a:t>TASK</a:t>
            </a:r>
          </a:p>
        </p:txBody>
      </p:sp>
      <p:sp>
        <p:nvSpPr>
          <p:cNvPr id="7" name="TextBox 6"/>
          <p:cNvSpPr txBox="1"/>
          <p:nvPr/>
        </p:nvSpPr>
        <p:spPr>
          <a:xfrm>
            <a:off x="3110788" y="1920240"/>
            <a:ext cx="1250899" cy="274320"/>
          </a:xfrm>
          <a:prstGeom prst="rect">
            <a:avLst/>
          </a:prstGeom>
          <a:noFill/>
        </p:spPr>
        <p:txBody>
          <a:bodyPr wrap="square" lIns="0" tIns="0" rIns="0" bIns="0" anchor="t">
            <a:spAutoFit/>
          </a:bodyPr>
          <a:lstStyle/>
          <a:p>
            <a:pPr algn="l">
              <a:lnSpc>
                <a:spcPct val="118000"/>
              </a:lnSpc>
              <a:spcAft>
                <a:spcPts val="0"/>
              </a:spcAft>
            </a:pPr>
            <a:r>
              <a:rPr sz="880" b="1">
                <a:solidFill>
                  <a:srgbClr val="1C1A19"/>
                </a:solidFill>
                <a:latin typeface="Segoe UI"/>
              </a:rPr>
              <a:t>PERIOD</a:t>
            </a:r>
          </a:p>
        </p:txBody>
      </p:sp>
      <p:sp>
        <p:nvSpPr>
          <p:cNvPr id="8" name="TextBox 7"/>
          <p:cNvSpPr txBox="1"/>
          <p:nvPr/>
        </p:nvSpPr>
        <p:spPr>
          <a:xfrm>
            <a:off x="4489703" y="1920240"/>
            <a:ext cx="6766560" cy="274320"/>
          </a:xfrm>
          <a:prstGeom prst="rect">
            <a:avLst/>
          </a:prstGeom>
          <a:noFill/>
        </p:spPr>
        <p:txBody>
          <a:bodyPr wrap="square" lIns="0" tIns="0" rIns="0" bIns="0" anchor="t">
            <a:spAutoFit/>
          </a:bodyPr>
          <a:lstStyle/>
          <a:p>
            <a:pPr algn="l">
              <a:lnSpc>
                <a:spcPct val="118000"/>
              </a:lnSpc>
              <a:spcAft>
                <a:spcPts val="0"/>
              </a:spcAft>
            </a:pPr>
            <a:r>
              <a:rPr sz="880" b="1">
                <a:solidFill>
                  <a:srgbClr val="1C1A19"/>
                </a:solidFill>
                <a:latin typeface="Segoe UI"/>
              </a:rPr>
              <a:t>WHY IT SITS THERE</a:t>
            </a:r>
          </a:p>
        </p:txBody>
      </p:sp>
      <p:sp>
        <p:nvSpPr>
          <p:cNvPr id="9" name="Rectangle 8"/>
          <p:cNvSpPr/>
          <p:nvPr/>
        </p:nvSpPr>
        <p:spPr>
          <a:xfrm>
            <a:off x="777240" y="2157984"/>
            <a:ext cx="10607040" cy="17780"/>
          </a:xfrm>
          <a:prstGeom prst="rect">
            <a:avLst/>
          </a:prstGeom>
          <a:solidFill>
            <a:srgbClr val="1C1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2286000"/>
            <a:ext cx="508406" cy="435864"/>
          </a:xfrm>
          <a:prstGeom prst="rect">
            <a:avLst/>
          </a:prstGeom>
          <a:noFill/>
        </p:spPr>
        <p:txBody>
          <a:bodyPr wrap="square" lIns="0" tIns="0" rIns="0" bIns="0" anchor="t">
            <a:spAutoFit/>
          </a:bodyPr>
          <a:lstStyle/>
          <a:p>
            <a:pPr algn="l">
              <a:lnSpc>
                <a:spcPct val="130000"/>
              </a:lnSpc>
              <a:spcAft>
                <a:spcPts val="0"/>
              </a:spcAft>
            </a:pPr>
            <a:r>
              <a:rPr sz="1100" b="1">
                <a:solidFill>
                  <a:srgbClr val="1C1A19"/>
                </a:solidFill>
                <a:latin typeface="Segoe UI"/>
              </a:rPr>
              <a:t>5</a:t>
            </a:r>
          </a:p>
        </p:txBody>
      </p:sp>
      <p:sp>
        <p:nvSpPr>
          <p:cNvPr id="11" name="TextBox 10"/>
          <p:cNvSpPr txBox="1"/>
          <p:nvPr/>
        </p:nvSpPr>
        <p:spPr>
          <a:xfrm>
            <a:off x="1413662" y="2286000"/>
            <a:ext cx="1569110" cy="435864"/>
          </a:xfrm>
          <a:prstGeom prst="rect">
            <a:avLst/>
          </a:prstGeom>
          <a:noFill/>
        </p:spPr>
        <p:txBody>
          <a:bodyPr wrap="square" lIns="0" tIns="0" rIns="0" bIns="0" anchor="t">
            <a:spAutoFit/>
          </a:bodyPr>
          <a:lstStyle/>
          <a:p>
            <a:pPr algn="l">
              <a:lnSpc>
                <a:spcPct val="130000"/>
              </a:lnSpc>
              <a:spcAft>
                <a:spcPts val="0"/>
              </a:spcAft>
            </a:pPr>
            <a:r>
              <a:rPr sz="1100" b="0">
                <a:solidFill>
                  <a:srgbClr val="4A4542"/>
                </a:solidFill>
                <a:latin typeface="Segoe UI"/>
              </a:rPr>
              <a:t>Camera and ISP</a:t>
            </a:r>
          </a:p>
        </p:txBody>
      </p:sp>
      <p:sp>
        <p:nvSpPr>
          <p:cNvPr id="12" name="TextBox 11"/>
          <p:cNvSpPr txBox="1"/>
          <p:nvPr/>
        </p:nvSpPr>
        <p:spPr>
          <a:xfrm>
            <a:off x="3110788" y="2286000"/>
            <a:ext cx="1250899" cy="435864"/>
          </a:xfrm>
          <a:prstGeom prst="rect">
            <a:avLst/>
          </a:prstGeom>
          <a:noFill/>
        </p:spPr>
        <p:txBody>
          <a:bodyPr wrap="square" lIns="0" tIns="0" rIns="0" bIns="0" anchor="t">
            <a:spAutoFit/>
          </a:bodyPr>
          <a:lstStyle/>
          <a:p>
            <a:pPr algn="l">
              <a:lnSpc>
                <a:spcPct val="130000"/>
              </a:lnSpc>
              <a:spcAft>
                <a:spcPts val="0"/>
              </a:spcAft>
            </a:pPr>
            <a:r>
              <a:rPr sz="1100" b="0">
                <a:solidFill>
                  <a:srgbClr val="4A4542"/>
                </a:solidFill>
                <a:latin typeface="Segoe UI"/>
              </a:rPr>
              <a:t>1 ms</a:t>
            </a:r>
          </a:p>
        </p:txBody>
      </p:sp>
      <p:sp>
        <p:nvSpPr>
          <p:cNvPr id="13" name="TextBox 12"/>
          <p:cNvSpPr txBox="1"/>
          <p:nvPr/>
        </p:nvSpPr>
        <p:spPr>
          <a:xfrm>
            <a:off x="4489703" y="2286000"/>
            <a:ext cx="6766560" cy="435864"/>
          </a:xfrm>
          <a:prstGeom prst="rect">
            <a:avLst/>
          </a:prstGeom>
          <a:noFill/>
        </p:spPr>
        <p:txBody>
          <a:bodyPr wrap="square" lIns="0" tIns="0" rIns="0" bIns="0" anchor="t">
            <a:spAutoFit/>
          </a:bodyPr>
          <a:lstStyle/>
          <a:p>
            <a:pPr algn="l">
              <a:lnSpc>
                <a:spcPct val="130000"/>
              </a:lnSpc>
              <a:spcAft>
                <a:spcPts val="0"/>
              </a:spcAft>
            </a:pPr>
            <a:r>
              <a:rPr sz="1100" b="0">
                <a:solidFill>
                  <a:srgbClr val="4A4542"/>
                </a:solidFill>
                <a:latin typeface="Segoe UI"/>
              </a:rPr>
              <a:t>The only task tied to external hardware timing: it consumes each frame's statistics before the next arrives, about every 33 ms.</a:t>
            </a:r>
          </a:p>
        </p:txBody>
      </p:sp>
      <p:sp>
        <p:nvSpPr>
          <p:cNvPr id="14" name="Rectangle 13"/>
          <p:cNvSpPr/>
          <p:nvPr/>
        </p:nvSpPr>
        <p:spPr>
          <a:xfrm>
            <a:off x="777240" y="2740152"/>
            <a:ext cx="1060704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2868168"/>
            <a:ext cx="508406" cy="435864"/>
          </a:xfrm>
          <a:prstGeom prst="rect">
            <a:avLst/>
          </a:prstGeom>
          <a:noFill/>
        </p:spPr>
        <p:txBody>
          <a:bodyPr wrap="square" lIns="0" tIns="0" rIns="0" bIns="0" anchor="t">
            <a:spAutoFit/>
          </a:bodyPr>
          <a:lstStyle/>
          <a:p>
            <a:pPr algn="l">
              <a:lnSpc>
                <a:spcPct val="130000"/>
              </a:lnSpc>
              <a:spcAft>
                <a:spcPts val="0"/>
              </a:spcAft>
            </a:pPr>
            <a:r>
              <a:rPr sz="1100" b="1">
                <a:solidFill>
                  <a:srgbClr val="1C1A19"/>
                </a:solidFill>
                <a:latin typeface="Segoe UI"/>
              </a:rPr>
              <a:t>4</a:t>
            </a:r>
          </a:p>
        </p:txBody>
      </p:sp>
      <p:sp>
        <p:nvSpPr>
          <p:cNvPr id="16" name="TextBox 15"/>
          <p:cNvSpPr txBox="1"/>
          <p:nvPr/>
        </p:nvSpPr>
        <p:spPr>
          <a:xfrm>
            <a:off x="1413662" y="2868168"/>
            <a:ext cx="1569110" cy="435864"/>
          </a:xfrm>
          <a:prstGeom prst="rect">
            <a:avLst/>
          </a:prstGeom>
          <a:noFill/>
        </p:spPr>
        <p:txBody>
          <a:bodyPr wrap="square" lIns="0" tIns="0" rIns="0" bIns="0" anchor="t">
            <a:spAutoFit/>
          </a:bodyPr>
          <a:lstStyle/>
          <a:p>
            <a:pPr algn="l">
              <a:lnSpc>
                <a:spcPct val="130000"/>
              </a:lnSpc>
              <a:spcAft>
                <a:spcPts val="0"/>
              </a:spcAft>
            </a:pPr>
            <a:r>
              <a:rPr sz="1100" b="0">
                <a:solidFill>
                  <a:srgbClr val="4A4542"/>
                </a:solidFill>
                <a:latin typeface="Segoe UI"/>
              </a:rPr>
              <a:t>User interface</a:t>
            </a:r>
          </a:p>
        </p:txBody>
      </p:sp>
      <p:sp>
        <p:nvSpPr>
          <p:cNvPr id="17" name="TextBox 16"/>
          <p:cNvSpPr txBox="1"/>
          <p:nvPr/>
        </p:nvSpPr>
        <p:spPr>
          <a:xfrm>
            <a:off x="3110788" y="2868168"/>
            <a:ext cx="1250899" cy="435864"/>
          </a:xfrm>
          <a:prstGeom prst="rect">
            <a:avLst/>
          </a:prstGeom>
          <a:noFill/>
        </p:spPr>
        <p:txBody>
          <a:bodyPr wrap="square" lIns="0" tIns="0" rIns="0" bIns="0" anchor="t">
            <a:spAutoFit/>
          </a:bodyPr>
          <a:lstStyle/>
          <a:p>
            <a:pPr algn="l">
              <a:lnSpc>
                <a:spcPct val="130000"/>
              </a:lnSpc>
              <a:spcAft>
                <a:spcPts val="0"/>
              </a:spcAft>
            </a:pPr>
            <a:r>
              <a:rPr sz="1100" b="0">
                <a:solidFill>
                  <a:srgbClr val="4A4542"/>
                </a:solidFill>
                <a:latin typeface="Segoe UI"/>
              </a:rPr>
              <a:t>10 ms</a:t>
            </a:r>
          </a:p>
        </p:txBody>
      </p:sp>
      <p:sp>
        <p:nvSpPr>
          <p:cNvPr id="18" name="TextBox 17"/>
          <p:cNvSpPr txBox="1"/>
          <p:nvPr/>
        </p:nvSpPr>
        <p:spPr>
          <a:xfrm>
            <a:off x="4489703" y="2868168"/>
            <a:ext cx="6766560" cy="435864"/>
          </a:xfrm>
          <a:prstGeom prst="rect">
            <a:avLst/>
          </a:prstGeom>
          <a:noFill/>
        </p:spPr>
        <p:txBody>
          <a:bodyPr wrap="square" lIns="0" tIns="0" rIns="0" bIns="0" anchor="t">
            <a:spAutoFit/>
          </a:bodyPr>
          <a:lstStyle/>
          <a:p>
            <a:pPr algn="l">
              <a:lnSpc>
                <a:spcPct val="130000"/>
              </a:lnSpc>
              <a:spcAft>
                <a:spcPts val="0"/>
              </a:spcAft>
            </a:pPr>
            <a:r>
              <a:rPr sz="1100" b="0">
                <a:solidFill>
                  <a:srgbClr val="4A4542"/>
                </a:solidFill>
                <a:latin typeface="Segoe UI"/>
              </a:rPr>
              <a:t>A 10 ms poll and a 4 fps animation gate, an order of magnitude inside the roughly 100 ms at which input lag becomes noticeable.</a:t>
            </a:r>
          </a:p>
        </p:txBody>
      </p:sp>
      <p:sp>
        <p:nvSpPr>
          <p:cNvPr id="19" name="Rectangle 18"/>
          <p:cNvSpPr/>
          <p:nvPr/>
        </p:nvSpPr>
        <p:spPr>
          <a:xfrm>
            <a:off x="777240" y="3322320"/>
            <a:ext cx="1060704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3450336"/>
            <a:ext cx="508406" cy="435864"/>
          </a:xfrm>
          <a:prstGeom prst="rect">
            <a:avLst/>
          </a:prstGeom>
          <a:noFill/>
        </p:spPr>
        <p:txBody>
          <a:bodyPr wrap="square" lIns="0" tIns="0" rIns="0" bIns="0" anchor="t">
            <a:spAutoFit/>
          </a:bodyPr>
          <a:lstStyle/>
          <a:p>
            <a:pPr algn="l">
              <a:lnSpc>
                <a:spcPct val="130000"/>
              </a:lnSpc>
              <a:spcAft>
                <a:spcPts val="0"/>
              </a:spcAft>
            </a:pPr>
            <a:r>
              <a:rPr sz="1100" b="1">
                <a:solidFill>
                  <a:srgbClr val="1C1A19"/>
                </a:solidFill>
                <a:latin typeface="Segoe UI"/>
              </a:rPr>
              <a:t>3</a:t>
            </a:r>
          </a:p>
        </p:txBody>
      </p:sp>
      <p:sp>
        <p:nvSpPr>
          <p:cNvPr id="21" name="TextBox 20"/>
          <p:cNvSpPr txBox="1"/>
          <p:nvPr/>
        </p:nvSpPr>
        <p:spPr>
          <a:xfrm>
            <a:off x="1413662" y="3450336"/>
            <a:ext cx="1569110" cy="435864"/>
          </a:xfrm>
          <a:prstGeom prst="rect">
            <a:avLst/>
          </a:prstGeom>
          <a:noFill/>
        </p:spPr>
        <p:txBody>
          <a:bodyPr wrap="square" lIns="0" tIns="0" rIns="0" bIns="0" anchor="t">
            <a:spAutoFit/>
          </a:bodyPr>
          <a:lstStyle/>
          <a:p>
            <a:pPr algn="l">
              <a:lnSpc>
                <a:spcPct val="130000"/>
              </a:lnSpc>
              <a:spcAft>
                <a:spcPts val="0"/>
              </a:spcAft>
            </a:pPr>
            <a:r>
              <a:rPr sz="1100" b="0">
                <a:solidFill>
                  <a:srgbClr val="4A4542"/>
                </a:solidFill>
                <a:latin typeface="Segoe UI"/>
              </a:rPr>
              <a:t>AI</a:t>
            </a:r>
          </a:p>
        </p:txBody>
      </p:sp>
      <p:sp>
        <p:nvSpPr>
          <p:cNvPr id="22" name="TextBox 21"/>
          <p:cNvSpPr txBox="1"/>
          <p:nvPr/>
        </p:nvSpPr>
        <p:spPr>
          <a:xfrm>
            <a:off x="3110788" y="3450336"/>
            <a:ext cx="1250899" cy="435864"/>
          </a:xfrm>
          <a:prstGeom prst="rect">
            <a:avLst/>
          </a:prstGeom>
          <a:noFill/>
        </p:spPr>
        <p:txBody>
          <a:bodyPr wrap="square" lIns="0" tIns="0" rIns="0" bIns="0" anchor="t">
            <a:spAutoFit/>
          </a:bodyPr>
          <a:lstStyle/>
          <a:p>
            <a:pPr algn="l">
              <a:lnSpc>
                <a:spcPct val="130000"/>
              </a:lnSpc>
              <a:spcAft>
                <a:spcPts val="0"/>
              </a:spcAft>
            </a:pPr>
            <a:r>
              <a:rPr sz="1100" b="0">
                <a:solidFill>
                  <a:srgbClr val="4A4542"/>
                </a:solidFill>
                <a:latin typeface="Segoe UI"/>
              </a:rPr>
              <a:t>on demand</a:t>
            </a:r>
          </a:p>
        </p:txBody>
      </p:sp>
      <p:sp>
        <p:nvSpPr>
          <p:cNvPr id="23" name="TextBox 22"/>
          <p:cNvSpPr txBox="1"/>
          <p:nvPr/>
        </p:nvSpPr>
        <p:spPr>
          <a:xfrm>
            <a:off x="4489703" y="3450336"/>
            <a:ext cx="6766560" cy="435864"/>
          </a:xfrm>
          <a:prstGeom prst="rect">
            <a:avLst/>
          </a:prstGeom>
          <a:noFill/>
        </p:spPr>
        <p:txBody>
          <a:bodyPr wrap="square" lIns="0" tIns="0" rIns="0" bIns="0" anchor="t">
            <a:spAutoFit/>
          </a:bodyPr>
          <a:lstStyle/>
          <a:p>
            <a:pPr algn="l">
              <a:lnSpc>
                <a:spcPct val="130000"/>
              </a:lnSpc>
              <a:spcAft>
                <a:spcPts val="0"/>
              </a:spcAft>
            </a:pPr>
            <a:r>
              <a:rPr sz="1100" b="0">
                <a:solidFill>
                  <a:srgbClr val="4A4542"/>
                </a:solidFill>
                <a:latin typeface="Segoe UI"/>
              </a:rPr>
              <a:t>No deadline. Below the interface deliberately, so inference stays preemptible, which is what keeps touch alive during a capture.</a:t>
            </a:r>
          </a:p>
        </p:txBody>
      </p:sp>
      <p:sp>
        <p:nvSpPr>
          <p:cNvPr id="24" name="Rectangle 23"/>
          <p:cNvSpPr/>
          <p:nvPr/>
        </p:nvSpPr>
        <p:spPr>
          <a:xfrm>
            <a:off x="777240" y="3904488"/>
            <a:ext cx="1060704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7240" y="4032504"/>
            <a:ext cx="508406" cy="435864"/>
          </a:xfrm>
          <a:prstGeom prst="rect">
            <a:avLst/>
          </a:prstGeom>
          <a:noFill/>
        </p:spPr>
        <p:txBody>
          <a:bodyPr wrap="square" lIns="0" tIns="0" rIns="0" bIns="0" anchor="t">
            <a:spAutoFit/>
          </a:bodyPr>
          <a:lstStyle/>
          <a:p>
            <a:pPr algn="l">
              <a:lnSpc>
                <a:spcPct val="130000"/>
              </a:lnSpc>
              <a:spcAft>
                <a:spcPts val="0"/>
              </a:spcAft>
            </a:pPr>
            <a:r>
              <a:rPr sz="1100" b="1">
                <a:solidFill>
                  <a:srgbClr val="1C1A19"/>
                </a:solidFill>
                <a:latin typeface="Segoe UI"/>
              </a:rPr>
              <a:t>2</a:t>
            </a:r>
          </a:p>
        </p:txBody>
      </p:sp>
      <p:sp>
        <p:nvSpPr>
          <p:cNvPr id="26" name="TextBox 25"/>
          <p:cNvSpPr txBox="1"/>
          <p:nvPr/>
        </p:nvSpPr>
        <p:spPr>
          <a:xfrm>
            <a:off x="1413662" y="4032504"/>
            <a:ext cx="1569110" cy="435864"/>
          </a:xfrm>
          <a:prstGeom prst="rect">
            <a:avLst/>
          </a:prstGeom>
          <a:noFill/>
        </p:spPr>
        <p:txBody>
          <a:bodyPr wrap="square" lIns="0" tIns="0" rIns="0" bIns="0" anchor="t">
            <a:spAutoFit/>
          </a:bodyPr>
          <a:lstStyle/>
          <a:p>
            <a:pPr algn="l">
              <a:lnSpc>
                <a:spcPct val="130000"/>
              </a:lnSpc>
              <a:spcAft>
                <a:spcPts val="0"/>
              </a:spcAft>
            </a:pPr>
            <a:r>
              <a:rPr sz="1100" b="0">
                <a:solidFill>
                  <a:srgbClr val="4A4542"/>
                </a:solidFill>
                <a:latin typeface="Segoe UI"/>
              </a:rPr>
              <a:t>SD logger</a:t>
            </a:r>
          </a:p>
        </p:txBody>
      </p:sp>
      <p:sp>
        <p:nvSpPr>
          <p:cNvPr id="27" name="TextBox 26"/>
          <p:cNvSpPr txBox="1"/>
          <p:nvPr/>
        </p:nvSpPr>
        <p:spPr>
          <a:xfrm>
            <a:off x="3110788" y="4032504"/>
            <a:ext cx="1250899" cy="435864"/>
          </a:xfrm>
          <a:prstGeom prst="rect">
            <a:avLst/>
          </a:prstGeom>
          <a:noFill/>
        </p:spPr>
        <p:txBody>
          <a:bodyPr wrap="square" lIns="0" tIns="0" rIns="0" bIns="0" anchor="t">
            <a:spAutoFit/>
          </a:bodyPr>
          <a:lstStyle/>
          <a:p>
            <a:pPr algn="l">
              <a:lnSpc>
                <a:spcPct val="130000"/>
              </a:lnSpc>
              <a:spcAft>
                <a:spcPts val="0"/>
              </a:spcAft>
            </a:pPr>
            <a:r>
              <a:rPr sz="1100" b="0">
                <a:solidFill>
                  <a:srgbClr val="4A4542"/>
                </a:solidFill>
                <a:latin typeface="Segoe UI"/>
              </a:rPr>
              <a:t>event-driven</a:t>
            </a:r>
          </a:p>
        </p:txBody>
      </p:sp>
      <p:sp>
        <p:nvSpPr>
          <p:cNvPr id="28" name="TextBox 27"/>
          <p:cNvSpPr txBox="1"/>
          <p:nvPr/>
        </p:nvSpPr>
        <p:spPr>
          <a:xfrm>
            <a:off x="4489703" y="4032504"/>
            <a:ext cx="6766560" cy="435864"/>
          </a:xfrm>
          <a:prstGeom prst="rect">
            <a:avLst/>
          </a:prstGeom>
          <a:noFill/>
        </p:spPr>
        <p:txBody>
          <a:bodyPr wrap="square" lIns="0" tIns="0" rIns="0" bIns="0" anchor="t">
            <a:spAutoFit/>
          </a:bodyPr>
          <a:lstStyle/>
          <a:p>
            <a:pPr algn="l">
              <a:lnSpc>
                <a:spcPct val="130000"/>
              </a:lnSpc>
              <a:spcAft>
                <a:spcPts val="0"/>
              </a:spcAft>
            </a:pPr>
            <a:r>
              <a:rPr sz="1100" b="0">
                <a:solidFill>
                  <a:srgbClr val="4A4542"/>
                </a:solidFill>
                <a:latin typeface="Segoe UI"/>
              </a:rPr>
              <a:t>Tolerates seconds of latency by construction. The asynchronous queue is why no caller ever waits on a 10 to 50 ms card write.</a:t>
            </a:r>
          </a:p>
        </p:txBody>
      </p:sp>
      <p:sp>
        <p:nvSpPr>
          <p:cNvPr id="29" name="Rectangle 28"/>
          <p:cNvSpPr/>
          <p:nvPr/>
        </p:nvSpPr>
        <p:spPr>
          <a:xfrm>
            <a:off x="777240" y="4486656"/>
            <a:ext cx="1060704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7240" y="4614672"/>
            <a:ext cx="508406" cy="435864"/>
          </a:xfrm>
          <a:prstGeom prst="rect">
            <a:avLst/>
          </a:prstGeom>
          <a:noFill/>
        </p:spPr>
        <p:txBody>
          <a:bodyPr wrap="square" lIns="0" tIns="0" rIns="0" bIns="0" anchor="t">
            <a:spAutoFit/>
          </a:bodyPr>
          <a:lstStyle/>
          <a:p>
            <a:pPr algn="l">
              <a:lnSpc>
                <a:spcPct val="130000"/>
              </a:lnSpc>
              <a:spcAft>
                <a:spcPts val="0"/>
              </a:spcAft>
            </a:pPr>
            <a:r>
              <a:rPr sz="1100" b="1">
                <a:solidFill>
                  <a:srgbClr val="1C1A19"/>
                </a:solidFill>
                <a:latin typeface="Segoe UI"/>
              </a:rPr>
              <a:t>1</a:t>
            </a:r>
          </a:p>
        </p:txBody>
      </p:sp>
      <p:sp>
        <p:nvSpPr>
          <p:cNvPr id="31" name="TextBox 30"/>
          <p:cNvSpPr txBox="1"/>
          <p:nvPr/>
        </p:nvSpPr>
        <p:spPr>
          <a:xfrm>
            <a:off x="1413662" y="4614672"/>
            <a:ext cx="1569110" cy="435864"/>
          </a:xfrm>
          <a:prstGeom prst="rect">
            <a:avLst/>
          </a:prstGeom>
          <a:noFill/>
        </p:spPr>
        <p:txBody>
          <a:bodyPr wrap="square" lIns="0" tIns="0" rIns="0" bIns="0" anchor="t">
            <a:spAutoFit/>
          </a:bodyPr>
          <a:lstStyle/>
          <a:p>
            <a:pPr algn="l">
              <a:lnSpc>
                <a:spcPct val="130000"/>
              </a:lnSpc>
              <a:spcAft>
                <a:spcPts val="0"/>
              </a:spcAft>
            </a:pPr>
            <a:r>
              <a:rPr sz="1100" b="0">
                <a:solidFill>
                  <a:srgbClr val="4A4542"/>
                </a:solidFill>
                <a:latin typeface="Segoe UI"/>
              </a:rPr>
              <a:t>Heartbeat</a:t>
            </a:r>
          </a:p>
        </p:txBody>
      </p:sp>
      <p:sp>
        <p:nvSpPr>
          <p:cNvPr id="32" name="TextBox 31"/>
          <p:cNvSpPr txBox="1"/>
          <p:nvPr/>
        </p:nvSpPr>
        <p:spPr>
          <a:xfrm>
            <a:off x="3110788" y="4614672"/>
            <a:ext cx="1250899" cy="435864"/>
          </a:xfrm>
          <a:prstGeom prst="rect">
            <a:avLst/>
          </a:prstGeom>
          <a:noFill/>
        </p:spPr>
        <p:txBody>
          <a:bodyPr wrap="square" lIns="0" tIns="0" rIns="0" bIns="0" anchor="t">
            <a:spAutoFit/>
          </a:bodyPr>
          <a:lstStyle/>
          <a:p>
            <a:pPr algn="l">
              <a:lnSpc>
                <a:spcPct val="130000"/>
              </a:lnSpc>
              <a:spcAft>
                <a:spcPts val="0"/>
              </a:spcAft>
            </a:pPr>
            <a:r>
              <a:rPr sz="1100" b="0">
                <a:solidFill>
                  <a:srgbClr val="4A4542"/>
                </a:solidFill>
                <a:latin typeface="Segoe UI"/>
              </a:rPr>
              <a:t>500 ms</a:t>
            </a:r>
          </a:p>
        </p:txBody>
      </p:sp>
      <p:sp>
        <p:nvSpPr>
          <p:cNvPr id="33" name="TextBox 32"/>
          <p:cNvSpPr txBox="1"/>
          <p:nvPr/>
        </p:nvSpPr>
        <p:spPr>
          <a:xfrm>
            <a:off x="4489703" y="4614672"/>
            <a:ext cx="6766560" cy="435864"/>
          </a:xfrm>
          <a:prstGeom prst="rect">
            <a:avLst/>
          </a:prstGeom>
          <a:noFill/>
        </p:spPr>
        <p:txBody>
          <a:bodyPr wrap="square" lIns="0" tIns="0" rIns="0" bIns="0" anchor="t">
            <a:spAutoFit/>
          </a:bodyPr>
          <a:lstStyle/>
          <a:p>
            <a:pPr algn="l">
              <a:lnSpc>
                <a:spcPct val="130000"/>
              </a:lnSpc>
              <a:spcAft>
                <a:spcPts val="0"/>
              </a:spcAft>
            </a:pPr>
            <a:r>
              <a:rPr sz="1100" b="0">
                <a:solidFill>
                  <a:srgbClr val="4A4542"/>
                </a:solidFill>
                <a:latin typeface="Segoe UI"/>
              </a:rPr>
              <a:t>Lowest deliberately, so that a stopped LED means something above it is starving the system, which is the signal it should carry.</a:t>
            </a:r>
          </a:p>
        </p:txBody>
      </p:sp>
      <p:sp>
        <p:nvSpPr>
          <p:cNvPr id="34" name="Rectangle 33"/>
          <p:cNvSpPr/>
          <p:nvPr/>
        </p:nvSpPr>
        <p:spPr>
          <a:xfrm>
            <a:off x="777240" y="5068824"/>
            <a:ext cx="1060704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77240" y="5196840"/>
            <a:ext cx="508406" cy="217932"/>
          </a:xfrm>
          <a:prstGeom prst="rect">
            <a:avLst/>
          </a:prstGeom>
          <a:noFill/>
        </p:spPr>
        <p:txBody>
          <a:bodyPr wrap="square" lIns="0" tIns="0" rIns="0" bIns="0" anchor="t">
            <a:spAutoFit/>
          </a:bodyPr>
          <a:lstStyle/>
          <a:p>
            <a:pPr algn="l">
              <a:lnSpc>
                <a:spcPct val="130000"/>
              </a:lnSpc>
              <a:spcAft>
                <a:spcPts val="0"/>
              </a:spcAft>
            </a:pPr>
            <a:r>
              <a:rPr sz="1100" b="1">
                <a:solidFill>
                  <a:srgbClr val="1C1A19"/>
                </a:solidFill>
                <a:latin typeface="Segoe UI"/>
              </a:rPr>
              <a:t>1</a:t>
            </a:r>
          </a:p>
        </p:txBody>
      </p:sp>
      <p:sp>
        <p:nvSpPr>
          <p:cNvPr id="36" name="TextBox 35"/>
          <p:cNvSpPr txBox="1"/>
          <p:nvPr/>
        </p:nvSpPr>
        <p:spPr>
          <a:xfrm>
            <a:off x="1413662" y="5196840"/>
            <a:ext cx="1569110" cy="217932"/>
          </a:xfrm>
          <a:prstGeom prst="rect">
            <a:avLst/>
          </a:prstGeom>
          <a:noFill/>
        </p:spPr>
        <p:txBody>
          <a:bodyPr wrap="square" lIns="0" tIns="0" rIns="0" bIns="0" anchor="t">
            <a:spAutoFit/>
          </a:bodyPr>
          <a:lstStyle/>
          <a:p>
            <a:pPr algn="l">
              <a:lnSpc>
                <a:spcPct val="130000"/>
              </a:lnSpc>
              <a:spcAft>
                <a:spcPts val="0"/>
              </a:spcAft>
            </a:pPr>
            <a:r>
              <a:rPr sz="1100" b="0">
                <a:solidFill>
                  <a:srgbClr val="4A4542"/>
                </a:solidFill>
                <a:latin typeface="Segoe UI"/>
              </a:rPr>
              <a:t>Alert</a:t>
            </a:r>
          </a:p>
        </p:txBody>
      </p:sp>
      <p:sp>
        <p:nvSpPr>
          <p:cNvPr id="37" name="TextBox 36"/>
          <p:cNvSpPr txBox="1"/>
          <p:nvPr/>
        </p:nvSpPr>
        <p:spPr>
          <a:xfrm>
            <a:off x="3110788" y="5196840"/>
            <a:ext cx="1250899" cy="217932"/>
          </a:xfrm>
          <a:prstGeom prst="rect">
            <a:avLst/>
          </a:prstGeom>
          <a:noFill/>
        </p:spPr>
        <p:txBody>
          <a:bodyPr wrap="square" lIns="0" tIns="0" rIns="0" bIns="0" anchor="t">
            <a:spAutoFit/>
          </a:bodyPr>
          <a:lstStyle/>
          <a:p>
            <a:pPr algn="l">
              <a:lnSpc>
                <a:spcPct val="130000"/>
              </a:lnSpc>
              <a:spcAft>
                <a:spcPts val="0"/>
              </a:spcAft>
            </a:pPr>
            <a:r>
              <a:rPr sz="1100" b="0">
                <a:solidFill>
                  <a:srgbClr val="4A4542"/>
                </a:solidFill>
                <a:latin typeface="Segoe UI"/>
              </a:rPr>
              <a:t>event-driven</a:t>
            </a:r>
          </a:p>
        </p:txBody>
      </p:sp>
      <p:sp>
        <p:nvSpPr>
          <p:cNvPr id="38" name="TextBox 37"/>
          <p:cNvSpPr txBox="1"/>
          <p:nvPr/>
        </p:nvSpPr>
        <p:spPr>
          <a:xfrm>
            <a:off x="4489703" y="5196840"/>
            <a:ext cx="6766560" cy="217932"/>
          </a:xfrm>
          <a:prstGeom prst="rect">
            <a:avLst/>
          </a:prstGeom>
          <a:noFill/>
        </p:spPr>
        <p:txBody>
          <a:bodyPr wrap="square" lIns="0" tIns="0" rIns="0" bIns="0" anchor="t">
            <a:spAutoFit/>
          </a:bodyPr>
          <a:lstStyle/>
          <a:p>
            <a:pPr algn="l">
              <a:lnSpc>
                <a:spcPct val="130000"/>
              </a:lnSpc>
              <a:spcAft>
                <a:spcPts val="0"/>
              </a:spcAft>
            </a:pPr>
            <a:r>
              <a:rPr sz="1100" b="0">
                <a:solidFill>
                  <a:srgbClr val="4A4542"/>
                </a:solidFill>
                <a:latin typeface="Segoe UI"/>
              </a:rPr>
              <a:t>Shares the lowest level: a buzzer that delays the camera task to finish a beep is a defect.</a:t>
            </a:r>
          </a:p>
        </p:txBody>
      </p:sp>
      <p:sp>
        <p:nvSpPr>
          <p:cNvPr id="39" name="Rectangle 38"/>
          <p:cNvSpPr/>
          <p:nvPr/>
        </p:nvSpPr>
        <p:spPr>
          <a:xfrm>
            <a:off x="777240" y="5433060"/>
            <a:ext cx="1060704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777240" y="5577850"/>
            <a:ext cx="10637215"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77240" y="5607558"/>
            <a:ext cx="10637215" cy="473202"/>
          </a:xfrm>
          <a:prstGeom prst="rect">
            <a:avLst/>
          </a:prstGeom>
          <a:noFill/>
        </p:spPr>
        <p:txBody>
          <a:bodyPr wrap="square" lIns="0" tIns="0" rIns="0" bIns="0" anchor="t">
            <a:spAutoFit/>
          </a:bodyPr>
          <a:lstStyle/>
          <a:p>
            <a:pPr algn="l">
              <a:lnSpc>
                <a:spcPct val="135000"/>
              </a:lnSpc>
              <a:spcAft>
                <a:spcPts val="0"/>
              </a:spcAft>
            </a:pPr>
            <a:r>
              <a:rPr sz="1150" b="0">
                <a:solidFill>
                  <a:srgbClr val="6E6864"/>
                </a:solidFill>
                <a:latin typeface="Segoe UI"/>
              </a:rPr>
              <a:t>Three things deliberately did not get a task: dose scheduling is an alarm handler, action recognition runs on the existing AI task, and the dispenser runs synchronously on the interface because the part that must be asynchronous already is an interrupt handler.</a:t>
            </a:r>
          </a:p>
        </p:txBody>
      </p:sp>
      <p:sp>
        <p:nvSpPr>
          <p:cNvPr id="42" name="TextBox 41"/>
          <p:cNvSpPr txBox="1"/>
          <p:nvPr/>
        </p:nvSpPr>
        <p:spPr>
          <a:xfrm>
            <a:off x="10865815" y="6291072"/>
            <a:ext cx="548640" cy="274320"/>
          </a:xfrm>
          <a:prstGeom prst="rect">
            <a:avLst/>
          </a:prstGeom>
          <a:noFill/>
        </p:spPr>
        <p:txBody>
          <a:bodyPr wrap="square" lIns="0" tIns="0" rIns="0" bIns="0" anchor="t">
            <a:spAutoFit/>
          </a:bodyPr>
          <a:lstStyle/>
          <a:p>
            <a:pPr algn="r">
              <a:lnSpc>
                <a:spcPct val="118000"/>
              </a:lnSpc>
              <a:spcAft>
                <a:spcPts val="0"/>
              </a:spcAft>
            </a:pPr>
            <a:r>
              <a:rPr sz="1100" b="0">
                <a:solidFill>
                  <a:srgbClr val="6E6864"/>
                </a:solidFill>
                <a:latin typeface="Segoe U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4F2"/>
        </a:solidFill>
        <a:effectLst/>
      </p:bgPr>
    </p:bg>
    <p:spTree>
      <p:nvGrpSpPr>
        <p:cNvPr id="1" name=""/>
        <p:cNvGrpSpPr/>
        <p:nvPr/>
      </p:nvGrpSpPr>
      <p:grpSpPr>
        <a:xfrm>
          <a:off x="0" y="0"/>
          <a:ext cx="0" cy="0"/>
          <a:chOff x="0" y="0"/>
          <a:chExt cx="0" cy="0"/>
        </a:xfrm>
      </p:grpSpPr>
      <p:sp>
        <p:nvSpPr>
          <p:cNvPr id="2" name="TextBox 1"/>
          <p:cNvSpPr txBox="1"/>
          <p:nvPr/>
        </p:nvSpPr>
        <p:spPr>
          <a:xfrm>
            <a:off x="777240" y="566928"/>
            <a:ext cx="10637215" cy="274320"/>
          </a:xfrm>
          <a:prstGeom prst="rect">
            <a:avLst/>
          </a:prstGeom>
          <a:noFill/>
        </p:spPr>
        <p:txBody>
          <a:bodyPr wrap="square" lIns="0" tIns="0" rIns="0" bIns="0" anchor="t">
            <a:spAutoFit/>
          </a:bodyPr>
          <a:lstStyle/>
          <a:p>
            <a:pPr algn="l">
              <a:lnSpc>
                <a:spcPct val="118000"/>
              </a:lnSpc>
              <a:spcAft>
                <a:spcPts val="0"/>
              </a:spcAft>
            </a:pPr>
            <a:r>
              <a:rPr sz="1050" b="1">
                <a:solidFill>
                  <a:srgbClr val="C2651F"/>
                </a:solidFill>
                <a:latin typeface="Segoe UI"/>
              </a:rPr>
              <a:t>µT-KERNEL UTILISATION</a:t>
            </a:r>
          </a:p>
        </p:txBody>
      </p:sp>
      <p:sp>
        <p:nvSpPr>
          <p:cNvPr id="3" name="TextBox 2"/>
          <p:cNvSpPr txBox="1"/>
          <p:nvPr/>
        </p:nvSpPr>
        <p:spPr>
          <a:xfrm>
            <a:off x="777240" y="868680"/>
            <a:ext cx="10637215" cy="960120"/>
          </a:xfrm>
          <a:prstGeom prst="rect">
            <a:avLst/>
          </a:prstGeom>
          <a:noFill/>
        </p:spPr>
        <p:txBody>
          <a:bodyPr wrap="square" lIns="0" tIns="0" rIns="0" bIns="0" anchor="t">
            <a:spAutoFit/>
          </a:bodyPr>
          <a:lstStyle/>
          <a:p>
            <a:pPr algn="l">
              <a:lnSpc>
                <a:spcPct val="105000"/>
              </a:lnSpc>
              <a:spcAft>
                <a:spcPts val="0"/>
              </a:spcAft>
            </a:pPr>
            <a:r>
              <a:rPr sz="3000" b="1">
                <a:solidFill>
                  <a:srgbClr val="1C1A19"/>
                </a:solidFill>
                <a:latin typeface="Segoe UI"/>
              </a:rPr>
              <a:t>Six tasks, rate-monotonic priorities, a single kernel boundary</a:t>
            </a:r>
          </a:p>
        </p:txBody>
      </p:sp>
      <p:sp>
        <p:nvSpPr>
          <p:cNvPr id="4" name="Rectangle 3"/>
          <p:cNvSpPr/>
          <p:nvPr/>
        </p:nvSpPr>
        <p:spPr>
          <a:xfrm>
            <a:off x="777240" y="1920240"/>
            <a:ext cx="10637215" cy="20320"/>
          </a:xfrm>
          <a:prstGeom prst="rect">
            <a:avLst/>
          </a:prstGeom>
          <a:solidFill>
            <a:srgbClr val="1C1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938528"/>
            <a:ext cx="1380744" cy="274320"/>
          </a:xfrm>
          <a:prstGeom prst="rect">
            <a:avLst/>
          </a:prstGeom>
          <a:noFill/>
        </p:spPr>
        <p:txBody>
          <a:bodyPr wrap="square" lIns="0" tIns="0" rIns="0" bIns="0" anchor="t">
            <a:spAutoFit/>
          </a:bodyPr>
          <a:lstStyle/>
          <a:p>
            <a:pPr algn="l">
              <a:lnSpc>
                <a:spcPct val="118000"/>
              </a:lnSpc>
              <a:spcAft>
                <a:spcPts val="0"/>
              </a:spcAft>
            </a:pPr>
            <a:r>
              <a:rPr sz="880" b="1">
                <a:solidFill>
                  <a:srgbClr val="1C1A19"/>
                </a:solidFill>
                <a:latin typeface="Segoe UI"/>
              </a:rPr>
              <a:t>PRIMITIVE</a:t>
            </a:r>
          </a:p>
        </p:txBody>
      </p:sp>
      <p:sp>
        <p:nvSpPr>
          <p:cNvPr id="6" name="TextBox 5"/>
          <p:cNvSpPr txBox="1"/>
          <p:nvPr/>
        </p:nvSpPr>
        <p:spPr>
          <a:xfrm>
            <a:off x="2286000" y="1938528"/>
            <a:ext cx="5221224" cy="274320"/>
          </a:xfrm>
          <a:prstGeom prst="rect">
            <a:avLst/>
          </a:prstGeom>
          <a:noFill/>
        </p:spPr>
        <p:txBody>
          <a:bodyPr wrap="square" lIns="0" tIns="0" rIns="0" bIns="0" anchor="t">
            <a:spAutoFit/>
          </a:bodyPr>
          <a:lstStyle/>
          <a:p>
            <a:pPr algn="l">
              <a:lnSpc>
                <a:spcPct val="118000"/>
              </a:lnSpc>
              <a:spcAft>
                <a:spcPts val="0"/>
              </a:spcAft>
            </a:pPr>
            <a:r>
              <a:rPr sz="880" b="1">
                <a:solidFill>
                  <a:srgbClr val="1C1A19"/>
                </a:solidFill>
                <a:latin typeface="Segoe UI"/>
              </a:rPr>
              <a:t>WHAT IT DOES HERE</a:t>
            </a:r>
          </a:p>
        </p:txBody>
      </p:sp>
      <p:sp>
        <p:nvSpPr>
          <p:cNvPr id="7" name="Rectangle 6"/>
          <p:cNvSpPr/>
          <p:nvPr/>
        </p:nvSpPr>
        <p:spPr>
          <a:xfrm>
            <a:off x="777240" y="2176272"/>
            <a:ext cx="6858000" cy="17780"/>
          </a:xfrm>
          <a:prstGeom prst="rect">
            <a:avLst/>
          </a:prstGeom>
          <a:solidFill>
            <a:srgbClr val="1C1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304288"/>
            <a:ext cx="1380744" cy="435864"/>
          </a:xfrm>
          <a:prstGeom prst="rect">
            <a:avLst/>
          </a:prstGeom>
          <a:noFill/>
        </p:spPr>
        <p:txBody>
          <a:bodyPr wrap="square" lIns="0" tIns="0" rIns="0" bIns="0" anchor="t">
            <a:spAutoFit/>
          </a:bodyPr>
          <a:lstStyle/>
          <a:p>
            <a:pPr algn="l">
              <a:lnSpc>
                <a:spcPct val="130000"/>
              </a:lnSpc>
              <a:spcAft>
                <a:spcPts val="0"/>
              </a:spcAft>
            </a:pPr>
            <a:r>
              <a:rPr sz="1100" b="1">
                <a:solidFill>
                  <a:srgbClr val="1C1A19"/>
                </a:solidFill>
                <a:latin typeface="Segoe UI"/>
              </a:rPr>
              <a:t>tk_cre_tsk</a:t>
            </a:r>
          </a:p>
        </p:txBody>
      </p:sp>
      <p:sp>
        <p:nvSpPr>
          <p:cNvPr id="9" name="TextBox 8"/>
          <p:cNvSpPr txBox="1"/>
          <p:nvPr/>
        </p:nvSpPr>
        <p:spPr>
          <a:xfrm>
            <a:off x="2286000" y="2304288"/>
            <a:ext cx="5221224" cy="435864"/>
          </a:xfrm>
          <a:prstGeom prst="rect">
            <a:avLst/>
          </a:prstGeom>
          <a:noFill/>
        </p:spPr>
        <p:txBody>
          <a:bodyPr wrap="square" lIns="0" tIns="0" rIns="0" bIns="0" anchor="t">
            <a:spAutoFit/>
          </a:bodyPr>
          <a:lstStyle/>
          <a:p>
            <a:pPr algn="l">
              <a:lnSpc>
                <a:spcPct val="130000"/>
              </a:lnSpc>
              <a:spcAft>
                <a:spcPts val="0"/>
              </a:spcAft>
            </a:pPr>
            <a:r>
              <a:rPr sz="1100" b="0">
                <a:solidFill>
                  <a:srgbClr val="4A4542"/>
                </a:solidFill>
                <a:latin typeface="Segoe UI"/>
              </a:rPr>
              <a:t>Six tasks, priorities derived rate-monotonically. The AI task sits below the interface deliberately, which is what keeps touch alive while the accelerator works.</a:t>
            </a:r>
          </a:p>
        </p:txBody>
      </p:sp>
      <p:sp>
        <p:nvSpPr>
          <p:cNvPr id="10" name="Rectangle 9"/>
          <p:cNvSpPr/>
          <p:nvPr/>
        </p:nvSpPr>
        <p:spPr>
          <a:xfrm>
            <a:off x="777240" y="2813304"/>
            <a:ext cx="685800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941320"/>
            <a:ext cx="1380744" cy="435864"/>
          </a:xfrm>
          <a:prstGeom prst="rect">
            <a:avLst/>
          </a:prstGeom>
          <a:noFill/>
        </p:spPr>
        <p:txBody>
          <a:bodyPr wrap="square" lIns="0" tIns="0" rIns="0" bIns="0" anchor="t">
            <a:spAutoFit/>
          </a:bodyPr>
          <a:lstStyle/>
          <a:p>
            <a:pPr algn="l">
              <a:lnSpc>
                <a:spcPct val="130000"/>
              </a:lnSpc>
              <a:spcAft>
                <a:spcPts val="0"/>
              </a:spcAft>
            </a:pPr>
            <a:r>
              <a:rPr sz="1100" b="1">
                <a:solidFill>
                  <a:srgbClr val="1C1A19"/>
                </a:solidFill>
                <a:latin typeface="Segoe UI"/>
              </a:rPr>
              <a:t>tk_cre_flg
tk_wai_flg</a:t>
            </a:r>
          </a:p>
        </p:txBody>
      </p:sp>
      <p:sp>
        <p:nvSpPr>
          <p:cNvPr id="12" name="TextBox 11"/>
          <p:cNvSpPr txBox="1"/>
          <p:nvPr/>
        </p:nvSpPr>
        <p:spPr>
          <a:xfrm>
            <a:off x="2286000" y="2941320"/>
            <a:ext cx="5221224" cy="435864"/>
          </a:xfrm>
          <a:prstGeom prst="rect">
            <a:avLst/>
          </a:prstGeom>
          <a:noFill/>
        </p:spPr>
        <p:txBody>
          <a:bodyPr wrap="square" lIns="0" tIns="0" rIns="0" bIns="0" anchor="t">
            <a:spAutoFit/>
          </a:bodyPr>
          <a:lstStyle/>
          <a:p>
            <a:pPr algn="l">
              <a:lnSpc>
                <a:spcPct val="130000"/>
              </a:lnSpc>
              <a:spcAft>
                <a:spcPts val="0"/>
              </a:spcAft>
            </a:pPr>
            <a:r>
              <a:rPr sz="1100" b="0">
                <a:solidFill>
                  <a:srgbClr val="4A4542"/>
                </a:solidFill>
                <a:latin typeface="Segoe UI"/>
              </a:rPr>
              <a:t>Inference is dispatched through an event flag: one blocking call distinguishes face found, no face, and no answer at all. A queue cannot say that.</a:t>
            </a:r>
          </a:p>
        </p:txBody>
      </p:sp>
      <p:sp>
        <p:nvSpPr>
          <p:cNvPr id="13" name="Rectangle 12"/>
          <p:cNvSpPr/>
          <p:nvPr/>
        </p:nvSpPr>
        <p:spPr>
          <a:xfrm>
            <a:off x="777240" y="3450336"/>
            <a:ext cx="685800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3578352"/>
            <a:ext cx="1380744" cy="435864"/>
          </a:xfrm>
          <a:prstGeom prst="rect">
            <a:avLst/>
          </a:prstGeom>
          <a:noFill/>
        </p:spPr>
        <p:txBody>
          <a:bodyPr wrap="square" lIns="0" tIns="0" rIns="0" bIns="0" anchor="t">
            <a:spAutoFit/>
          </a:bodyPr>
          <a:lstStyle/>
          <a:p>
            <a:pPr algn="l">
              <a:lnSpc>
                <a:spcPct val="130000"/>
              </a:lnSpc>
              <a:spcAft>
                <a:spcPts val="0"/>
              </a:spcAft>
            </a:pPr>
            <a:r>
              <a:rPr sz="1100" b="1">
                <a:solidFill>
                  <a:srgbClr val="1C1A19"/>
                </a:solidFill>
                <a:latin typeface="Segoe UI"/>
              </a:rPr>
              <a:t>tk_cre_alm
tk_sta_alm</a:t>
            </a:r>
          </a:p>
        </p:txBody>
      </p:sp>
      <p:sp>
        <p:nvSpPr>
          <p:cNvPr id="15" name="TextBox 14"/>
          <p:cNvSpPr txBox="1"/>
          <p:nvPr/>
        </p:nvSpPr>
        <p:spPr>
          <a:xfrm>
            <a:off x="2286000" y="3578352"/>
            <a:ext cx="5221224" cy="435864"/>
          </a:xfrm>
          <a:prstGeom prst="rect">
            <a:avLst/>
          </a:prstGeom>
          <a:noFill/>
        </p:spPr>
        <p:txBody>
          <a:bodyPr wrap="square" lIns="0" tIns="0" rIns="0" bIns="0" anchor="t">
            <a:spAutoFit/>
          </a:bodyPr>
          <a:lstStyle/>
          <a:p>
            <a:pPr algn="l">
              <a:lnSpc>
                <a:spcPct val="130000"/>
              </a:lnSpc>
              <a:spcAft>
                <a:spcPts val="0"/>
              </a:spcAft>
            </a:pPr>
            <a:r>
              <a:rPr sz="1100" b="0">
                <a:solidFill>
                  <a:srgbClr val="4A4542"/>
                </a:solidFill>
                <a:latin typeface="Segoe UI"/>
              </a:rPr>
              <a:t>Dose scheduling is an alarm handler, not a task polling the clock. Polling would wake 8,640 times a day in order to act four times.</a:t>
            </a:r>
          </a:p>
        </p:txBody>
      </p:sp>
      <p:sp>
        <p:nvSpPr>
          <p:cNvPr id="16" name="Rectangle 15"/>
          <p:cNvSpPr/>
          <p:nvPr/>
        </p:nvSpPr>
        <p:spPr>
          <a:xfrm>
            <a:off x="777240" y="4087368"/>
            <a:ext cx="685800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4215384"/>
            <a:ext cx="1380744" cy="435864"/>
          </a:xfrm>
          <a:prstGeom prst="rect">
            <a:avLst/>
          </a:prstGeom>
          <a:noFill/>
        </p:spPr>
        <p:txBody>
          <a:bodyPr wrap="square" lIns="0" tIns="0" rIns="0" bIns="0" anchor="t">
            <a:spAutoFit/>
          </a:bodyPr>
          <a:lstStyle/>
          <a:p>
            <a:pPr algn="l">
              <a:lnSpc>
                <a:spcPct val="130000"/>
              </a:lnSpc>
              <a:spcAft>
                <a:spcPts val="0"/>
              </a:spcAft>
            </a:pPr>
            <a:r>
              <a:rPr sz="1100" b="1">
                <a:solidFill>
                  <a:srgbClr val="1C1A19"/>
                </a:solidFill>
                <a:latin typeface="Segoe UI"/>
              </a:rPr>
              <a:t>tk_cre_mbf
tk_cre_mtx</a:t>
            </a:r>
          </a:p>
        </p:txBody>
      </p:sp>
      <p:sp>
        <p:nvSpPr>
          <p:cNvPr id="18" name="TextBox 17"/>
          <p:cNvSpPr txBox="1"/>
          <p:nvPr/>
        </p:nvSpPr>
        <p:spPr>
          <a:xfrm>
            <a:off x="2286000" y="4215384"/>
            <a:ext cx="5221224" cy="435864"/>
          </a:xfrm>
          <a:prstGeom prst="rect">
            <a:avLst/>
          </a:prstGeom>
          <a:noFill/>
        </p:spPr>
        <p:txBody>
          <a:bodyPr wrap="square" lIns="0" tIns="0" rIns="0" bIns="0" anchor="t">
            <a:spAutoFit/>
          </a:bodyPr>
          <a:lstStyle/>
          <a:p>
            <a:pPr algn="l">
              <a:lnSpc>
                <a:spcPct val="130000"/>
              </a:lnSpc>
              <a:spcAft>
                <a:spcPts val="0"/>
              </a:spcAft>
            </a:pPr>
            <a:r>
              <a:rPr sz="1100" b="0">
                <a:solidFill>
                  <a:srgbClr val="4A4542"/>
                </a:solidFill>
                <a:latin typeface="Segoe UI"/>
              </a:rPr>
              <a:t>The logger's queue, so no caller ever waits on an SD write, and the firmware's one mutex: the clock, which has two readers.</a:t>
            </a:r>
          </a:p>
        </p:txBody>
      </p:sp>
      <p:sp>
        <p:nvSpPr>
          <p:cNvPr id="19" name="Rectangle 18"/>
          <p:cNvSpPr/>
          <p:nvPr/>
        </p:nvSpPr>
        <p:spPr>
          <a:xfrm>
            <a:off x="777240" y="4724400"/>
            <a:ext cx="685800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4852416"/>
            <a:ext cx="1380744" cy="435864"/>
          </a:xfrm>
          <a:prstGeom prst="rect">
            <a:avLst/>
          </a:prstGeom>
          <a:noFill/>
        </p:spPr>
        <p:txBody>
          <a:bodyPr wrap="square" lIns="0" tIns="0" rIns="0" bIns="0" anchor="t">
            <a:spAutoFit/>
          </a:bodyPr>
          <a:lstStyle/>
          <a:p>
            <a:pPr algn="l">
              <a:lnSpc>
                <a:spcPct val="130000"/>
              </a:lnSpc>
              <a:spcAft>
                <a:spcPts val="0"/>
              </a:spcAft>
            </a:pPr>
            <a:r>
              <a:rPr sz="1100" b="1">
                <a:solidFill>
                  <a:srgbClr val="1C1A19"/>
                </a:solidFill>
                <a:latin typeface="Segoe UI"/>
              </a:rPr>
              <a:t>low_pow()</a:t>
            </a:r>
          </a:p>
        </p:txBody>
      </p:sp>
      <p:sp>
        <p:nvSpPr>
          <p:cNvPr id="21" name="TextBox 20"/>
          <p:cNvSpPr txBox="1"/>
          <p:nvPr/>
        </p:nvSpPr>
        <p:spPr>
          <a:xfrm>
            <a:off x="2286000" y="4852416"/>
            <a:ext cx="5221224" cy="435864"/>
          </a:xfrm>
          <a:prstGeom prst="rect">
            <a:avLst/>
          </a:prstGeom>
          <a:noFill/>
        </p:spPr>
        <p:txBody>
          <a:bodyPr wrap="square" lIns="0" tIns="0" rIns="0" bIns="0" anchor="t">
            <a:spAutoFit/>
          </a:bodyPr>
          <a:lstStyle/>
          <a:p>
            <a:pPr algn="l">
              <a:lnSpc>
                <a:spcPct val="130000"/>
              </a:lnSpc>
              <a:spcAft>
                <a:spcPts val="0"/>
              </a:spcAft>
            </a:pPr>
            <a:r>
              <a:rPr sz="1100" b="0">
                <a:solidFill>
                  <a:srgbClr val="4A4542"/>
                </a:solidFill>
                <a:latin typeface="Segoe UI"/>
              </a:rPr>
              <a:t>The vendored idle hook ships empty. Ours executes WFI and accounts for the cycles, which is where the 89.6% comes from.</a:t>
            </a:r>
          </a:p>
        </p:txBody>
      </p:sp>
      <p:sp>
        <p:nvSpPr>
          <p:cNvPr id="22" name="Rectangle 21"/>
          <p:cNvSpPr/>
          <p:nvPr/>
        </p:nvSpPr>
        <p:spPr>
          <a:xfrm>
            <a:off x="777240" y="5361432"/>
            <a:ext cx="685800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46720" y="2020442"/>
            <a:ext cx="3367735" cy="3430906"/>
          </a:xfrm>
          <a:prstGeom prst="rect">
            <a:avLst/>
          </a:prstGeom>
          <a:solidFill>
            <a:srgbClr val="F1EBE8"/>
          </a:solidFill>
          <a:ln w="12700">
            <a:solidFill>
              <a:srgbClr val="E6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2176272"/>
            <a:ext cx="2819095" cy="396875"/>
          </a:xfrm>
          <a:prstGeom prst="rect">
            <a:avLst/>
          </a:prstGeom>
          <a:noFill/>
        </p:spPr>
        <p:txBody>
          <a:bodyPr wrap="square" lIns="0" tIns="0" rIns="0" bIns="0" anchor="t">
            <a:spAutoFit/>
          </a:bodyPr>
          <a:lstStyle/>
          <a:p>
            <a:pPr algn="l">
              <a:lnSpc>
                <a:spcPct val="100000"/>
              </a:lnSpc>
              <a:spcAft>
                <a:spcPts val="0"/>
              </a:spcAft>
            </a:pPr>
            <a:r>
              <a:rPr sz="2500" b="1">
                <a:solidFill>
                  <a:srgbClr val="C2651F"/>
                </a:solidFill>
                <a:latin typeface="Segoe UI"/>
              </a:rPr>
              <a:t>89.6%</a:t>
            </a:r>
          </a:p>
        </p:txBody>
      </p:sp>
      <p:sp>
        <p:nvSpPr>
          <p:cNvPr id="25" name="TextBox 24"/>
          <p:cNvSpPr txBox="1"/>
          <p:nvPr/>
        </p:nvSpPr>
        <p:spPr>
          <a:xfrm>
            <a:off x="8321040" y="2589022"/>
            <a:ext cx="2819095" cy="441655"/>
          </a:xfrm>
          <a:prstGeom prst="rect">
            <a:avLst/>
          </a:prstGeom>
          <a:noFill/>
        </p:spPr>
        <p:txBody>
          <a:bodyPr wrap="square" lIns="0" tIns="0" rIns="0" bIns="0" anchor="t">
            <a:spAutoFit/>
          </a:bodyPr>
          <a:lstStyle/>
          <a:p>
            <a:pPr algn="l">
              <a:lnSpc>
                <a:spcPct val="138000"/>
              </a:lnSpc>
              <a:spcAft>
                <a:spcPts val="0"/>
              </a:spcAft>
            </a:pPr>
            <a:r>
              <a:rPr sz="1050" b="0">
                <a:solidFill>
                  <a:srgbClr val="6E6864"/>
                </a:solidFill>
                <a:latin typeface="Segoe UI"/>
              </a:rPr>
              <a:t>of wall-clock time asleep in WFI, waking about 980 times a second.</a:t>
            </a:r>
          </a:p>
        </p:txBody>
      </p:sp>
      <p:sp>
        <p:nvSpPr>
          <p:cNvPr id="26" name="TextBox 25"/>
          <p:cNvSpPr txBox="1"/>
          <p:nvPr/>
        </p:nvSpPr>
        <p:spPr>
          <a:xfrm>
            <a:off x="8321040" y="3200400"/>
            <a:ext cx="2819095" cy="333375"/>
          </a:xfrm>
          <a:prstGeom prst="rect">
            <a:avLst/>
          </a:prstGeom>
          <a:noFill/>
        </p:spPr>
        <p:txBody>
          <a:bodyPr wrap="square" lIns="0" tIns="0" rIns="0" bIns="0" anchor="t">
            <a:spAutoFit/>
          </a:bodyPr>
          <a:lstStyle/>
          <a:p>
            <a:pPr algn="l">
              <a:lnSpc>
                <a:spcPct val="100000"/>
              </a:lnSpc>
              <a:spcAft>
                <a:spcPts val="0"/>
              </a:spcAft>
            </a:pPr>
            <a:r>
              <a:rPr sz="2100" b="1">
                <a:solidFill>
                  <a:srgbClr val="C2651F"/>
                </a:solidFill>
                <a:latin typeface="Segoe UI"/>
              </a:rPr>
              <a:t>85.6 / 63.0%</a:t>
            </a:r>
          </a:p>
        </p:txBody>
      </p:sp>
      <p:sp>
        <p:nvSpPr>
          <p:cNvPr id="27" name="TextBox 26"/>
          <p:cNvSpPr txBox="1"/>
          <p:nvPr/>
        </p:nvSpPr>
        <p:spPr>
          <a:xfrm>
            <a:off x="8321040" y="3547110"/>
            <a:ext cx="2819095" cy="441655"/>
          </a:xfrm>
          <a:prstGeom prst="rect">
            <a:avLst/>
          </a:prstGeom>
          <a:noFill/>
        </p:spPr>
        <p:txBody>
          <a:bodyPr wrap="square" lIns="0" tIns="0" rIns="0" bIns="0" anchor="t">
            <a:spAutoFit/>
          </a:bodyPr>
          <a:lstStyle/>
          <a:p>
            <a:pPr algn="l">
              <a:lnSpc>
                <a:spcPct val="138000"/>
              </a:lnSpc>
              <a:spcAft>
                <a:spcPts val="0"/>
              </a:spcAft>
            </a:pPr>
            <a:r>
              <a:rPr sz="1050" b="0">
                <a:solidFill>
                  <a:srgbClr val="6E6864"/>
                </a:solidFill>
                <a:latin typeface="Segoe UI"/>
              </a:rPr>
              <a:t>of the code and data regions used, 147 KB and 378 KB free.</a:t>
            </a:r>
          </a:p>
        </p:txBody>
      </p:sp>
      <p:sp>
        <p:nvSpPr>
          <p:cNvPr id="28" name="Rectangle 27"/>
          <p:cNvSpPr/>
          <p:nvPr/>
        </p:nvSpPr>
        <p:spPr>
          <a:xfrm>
            <a:off x="8321040" y="4224528"/>
            <a:ext cx="2819095" cy="12700"/>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21040" y="4407408"/>
            <a:ext cx="2819095" cy="914400"/>
          </a:xfrm>
          <a:prstGeom prst="rect">
            <a:avLst/>
          </a:prstGeom>
          <a:noFill/>
        </p:spPr>
        <p:txBody>
          <a:bodyPr wrap="square" lIns="0" tIns="0" rIns="0" bIns="0" anchor="t">
            <a:spAutoFit/>
          </a:bodyPr>
          <a:lstStyle/>
          <a:p>
            <a:pPr algn="l">
              <a:lnSpc>
                <a:spcPct val="130000"/>
              </a:lnSpc>
              <a:spcAft>
                <a:spcPts val="500"/>
              </a:spcAft>
            </a:pPr>
            <a:r>
              <a:rPr sz="1100" b="1">
                <a:solidFill>
                  <a:srgbClr val="1C1A19"/>
                </a:solidFill>
                <a:latin typeface="Segoe UI"/>
              </a:rPr>
              <a:t>A single file reaches the kernel.</a:t>
            </a:r>
          </a:p>
          <a:p>
            <a:pPr algn="l">
              <a:lnSpc>
                <a:spcPct val="130000"/>
              </a:lnSpc>
              <a:spcAft>
                <a:spcPts val="500"/>
              </a:spcAft>
            </a:pPr>
            <a:r>
              <a:rPr sz="1100" b="0">
                <a:solidFill>
                  <a:srgbClr val="4A4542"/>
                </a:solidFill>
                <a:latin typeface="Segoe UI"/>
              </a:rPr>
              <a:t>Every call above lives in ms_osal.c, behind an abstraction the rest of the firmware was written against.</a:t>
            </a:r>
          </a:p>
        </p:txBody>
      </p:sp>
      <p:sp>
        <p:nvSpPr>
          <p:cNvPr id="30" name="Rectangle 29"/>
          <p:cNvSpPr/>
          <p:nvPr/>
        </p:nvSpPr>
        <p:spPr>
          <a:xfrm>
            <a:off x="777240" y="5642991"/>
            <a:ext cx="10637215"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7240" y="5844159"/>
            <a:ext cx="10637215" cy="236601"/>
          </a:xfrm>
          <a:prstGeom prst="rect">
            <a:avLst/>
          </a:prstGeom>
          <a:noFill/>
        </p:spPr>
        <p:txBody>
          <a:bodyPr wrap="square" lIns="0" tIns="0" rIns="0" bIns="0" anchor="t">
            <a:spAutoFit/>
          </a:bodyPr>
          <a:lstStyle/>
          <a:p>
            <a:pPr algn="l">
              <a:lnSpc>
                <a:spcPct val="135000"/>
              </a:lnSpc>
              <a:spcAft>
                <a:spcPts val="0"/>
              </a:spcAft>
            </a:pPr>
            <a:r>
              <a:rPr sz="1150" b="0">
                <a:solidFill>
                  <a:srgbClr val="6E6864"/>
                </a:solidFill>
                <a:latin typeface="Segoe UI"/>
              </a:rPr>
              <a:t>Real-time behaviour, power and memory footprint: the two figures on the right are measured, and the six tasks with their derived priorities are the third.</a:t>
            </a:r>
          </a:p>
        </p:txBody>
      </p:sp>
      <p:sp>
        <p:nvSpPr>
          <p:cNvPr id="32" name="TextBox 31"/>
          <p:cNvSpPr txBox="1"/>
          <p:nvPr/>
        </p:nvSpPr>
        <p:spPr>
          <a:xfrm>
            <a:off x="10865815" y="6291072"/>
            <a:ext cx="548640" cy="274320"/>
          </a:xfrm>
          <a:prstGeom prst="rect">
            <a:avLst/>
          </a:prstGeom>
          <a:noFill/>
        </p:spPr>
        <p:txBody>
          <a:bodyPr wrap="square" lIns="0" tIns="0" rIns="0" bIns="0" anchor="t">
            <a:spAutoFit/>
          </a:bodyPr>
          <a:lstStyle/>
          <a:p>
            <a:pPr algn="r">
              <a:lnSpc>
                <a:spcPct val="118000"/>
              </a:lnSpc>
              <a:spcAft>
                <a:spcPts val="0"/>
              </a:spcAft>
            </a:pPr>
            <a:r>
              <a:rPr sz="1100" b="0">
                <a:solidFill>
                  <a:srgbClr val="6E6864"/>
                </a:solidFill>
                <a:latin typeface="Segoe U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4F2"/>
        </a:solidFill>
        <a:effectLst/>
      </p:bgPr>
    </p:bg>
    <p:spTree>
      <p:nvGrpSpPr>
        <p:cNvPr id="1" name=""/>
        <p:cNvGrpSpPr/>
        <p:nvPr/>
      </p:nvGrpSpPr>
      <p:grpSpPr>
        <a:xfrm>
          <a:off x="0" y="0"/>
          <a:ext cx="0" cy="0"/>
          <a:chOff x="0" y="0"/>
          <a:chExt cx="0" cy="0"/>
        </a:xfrm>
      </p:grpSpPr>
      <p:sp>
        <p:nvSpPr>
          <p:cNvPr id="2" name="TextBox 1"/>
          <p:cNvSpPr txBox="1"/>
          <p:nvPr/>
        </p:nvSpPr>
        <p:spPr>
          <a:xfrm>
            <a:off x="777240" y="566928"/>
            <a:ext cx="10637215" cy="274320"/>
          </a:xfrm>
          <a:prstGeom prst="rect">
            <a:avLst/>
          </a:prstGeom>
          <a:noFill/>
        </p:spPr>
        <p:txBody>
          <a:bodyPr wrap="square" lIns="0" tIns="0" rIns="0" bIns="0" anchor="t">
            <a:spAutoFit/>
          </a:bodyPr>
          <a:lstStyle/>
          <a:p>
            <a:pPr algn="l">
              <a:lnSpc>
                <a:spcPct val="118000"/>
              </a:lnSpc>
              <a:spcAft>
                <a:spcPts val="0"/>
              </a:spcAft>
            </a:pPr>
            <a:r>
              <a:rPr sz="1050" b="1">
                <a:solidFill>
                  <a:srgbClr val="C2651F"/>
                </a:solidFill>
                <a:latin typeface="Segoe UI"/>
              </a:rPr>
              <a:t>POWER MANAGEMENT</a:t>
            </a:r>
          </a:p>
        </p:txBody>
      </p:sp>
      <p:sp>
        <p:nvSpPr>
          <p:cNvPr id="3" name="TextBox 2"/>
          <p:cNvSpPr txBox="1"/>
          <p:nvPr/>
        </p:nvSpPr>
        <p:spPr>
          <a:xfrm>
            <a:off x="777240" y="868680"/>
            <a:ext cx="10637215" cy="480060"/>
          </a:xfrm>
          <a:prstGeom prst="rect">
            <a:avLst/>
          </a:prstGeom>
          <a:noFill/>
        </p:spPr>
        <p:txBody>
          <a:bodyPr wrap="square" lIns="0" tIns="0" rIns="0" bIns="0" anchor="t">
            <a:spAutoFit/>
          </a:bodyPr>
          <a:lstStyle/>
          <a:p>
            <a:pPr algn="l">
              <a:lnSpc>
                <a:spcPct val="105000"/>
              </a:lnSpc>
              <a:spcAft>
                <a:spcPts val="0"/>
              </a:spcAft>
            </a:pPr>
            <a:r>
              <a:rPr sz="3000" b="1">
                <a:solidFill>
                  <a:srgbClr val="1C1A19"/>
                </a:solidFill>
                <a:latin typeface="Segoe UI"/>
              </a:rPr>
              <a:t>89.6% idle residency, and the two defects resolved</a:t>
            </a:r>
          </a:p>
        </p:txBody>
      </p:sp>
      <p:sp>
        <p:nvSpPr>
          <p:cNvPr id="4" name="Rectangle 3"/>
          <p:cNvSpPr/>
          <p:nvPr/>
        </p:nvSpPr>
        <p:spPr>
          <a:xfrm>
            <a:off x="777240" y="1627632"/>
            <a:ext cx="10637215" cy="20320"/>
          </a:xfrm>
          <a:prstGeom prst="rect">
            <a:avLst/>
          </a:prstGeom>
          <a:solidFill>
            <a:srgbClr val="1C1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965960"/>
            <a:ext cx="6492240" cy="635000"/>
          </a:xfrm>
          <a:prstGeom prst="rect">
            <a:avLst/>
          </a:prstGeom>
          <a:noFill/>
        </p:spPr>
        <p:txBody>
          <a:bodyPr wrap="square" lIns="0" tIns="0" rIns="0" bIns="0" anchor="t">
            <a:spAutoFit/>
          </a:bodyPr>
          <a:lstStyle/>
          <a:p>
            <a:pPr algn="l">
              <a:lnSpc>
                <a:spcPct val="100000"/>
              </a:lnSpc>
              <a:spcAft>
                <a:spcPts val="0"/>
              </a:spcAft>
            </a:pPr>
            <a:r>
              <a:rPr sz="4000" b="1">
                <a:solidFill>
                  <a:srgbClr val="C2651F"/>
                </a:solidFill>
                <a:latin typeface="Segoe UI"/>
              </a:rPr>
              <a:t>89.6%</a:t>
            </a:r>
          </a:p>
        </p:txBody>
      </p:sp>
      <p:sp>
        <p:nvSpPr>
          <p:cNvPr id="6" name="TextBox 5"/>
          <p:cNvSpPr txBox="1"/>
          <p:nvPr/>
        </p:nvSpPr>
        <p:spPr>
          <a:xfrm>
            <a:off x="777240" y="2626360"/>
            <a:ext cx="6492240" cy="483717"/>
          </a:xfrm>
          <a:prstGeom prst="rect">
            <a:avLst/>
          </a:prstGeom>
          <a:noFill/>
        </p:spPr>
        <p:txBody>
          <a:bodyPr wrap="square" lIns="0" tIns="0" rIns="0" bIns="0" anchor="t">
            <a:spAutoFit/>
          </a:bodyPr>
          <a:lstStyle/>
          <a:p>
            <a:pPr algn="l">
              <a:lnSpc>
                <a:spcPct val="138000"/>
              </a:lnSpc>
              <a:spcAft>
                <a:spcPts val="0"/>
              </a:spcAft>
            </a:pPr>
            <a:r>
              <a:rPr sz="1150" b="0">
                <a:solidFill>
                  <a:srgbClr val="6E6864"/>
                </a:solidFill>
                <a:latin typeface="Segoe UI"/>
              </a:rPr>
              <a:t>of wall-clock time in WFI, waking about 980 times a second. The vendored board package ships its idle hook empty; ours executes WFI and accounts for the cycles.</a:t>
            </a:r>
          </a:p>
        </p:txBody>
      </p:sp>
      <p:sp>
        <p:nvSpPr>
          <p:cNvPr id="7" name="Rectangle 6"/>
          <p:cNvSpPr/>
          <p:nvPr/>
        </p:nvSpPr>
        <p:spPr>
          <a:xfrm>
            <a:off x="777240" y="3204972"/>
            <a:ext cx="45720" cy="925372"/>
          </a:xfrm>
          <a:prstGeom prst="rect">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33272" y="3154680"/>
            <a:ext cx="6236208" cy="980236"/>
          </a:xfrm>
          <a:prstGeom prst="rect">
            <a:avLst/>
          </a:prstGeom>
          <a:noFill/>
        </p:spPr>
        <p:txBody>
          <a:bodyPr wrap="square" lIns="0" tIns="0" rIns="0" bIns="0" anchor="t">
            <a:spAutoFit/>
          </a:bodyPr>
          <a:lstStyle/>
          <a:p>
            <a:pPr algn="l">
              <a:lnSpc>
                <a:spcPct val="134000"/>
              </a:lnSpc>
              <a:spcAft>
                <a:spcPts val="0"/>
              </a:spcAft>
            </a:pPr>
            <a:r>
              <a:rPr sz="1200" b="1">
                <a:solidFill>
                  <a:srgbClr val="1C1A19"/>
                </a:solidFill>
                <a:latin typeface="Segoe UI"/>
              </a:rPr>
              <a:t>Sleep hung the board, and the interrupt mask was why. </a:t>
            </a:r>
            <a:r>
              <a:rPr sz="1200" b="0">
                <a:solidFill>
                  <a:srgbClr val="4A4542"/>
                </a:solidFill>
                <a:latin typeface="Segoe UI"/>
              </a:rPr>
              <a:t>The idle path runs with a priority mask set and the system timer sits at the same value. A wake-up must be an exception that would preempt the current priority, and the architecture excludes one masking register from that judgement but not the other.</a:t>
            </a:r>
          </a:p>
        </p:txBody>
      </p:sp>
      <p:sp>
        <p:nvSpPr>
          <p:cNvPr id="9" name="Rectangle 8"/>
          <p:cNvSpPr/>
          <p:nvPr/>
        </p:nvSpPr>
        <p:spPr>
          <a:xfrm>
            <a:off x="777240" y="4368088"/>
            <a:ext cx="45720" cy="680313"/>
          </a:xfrm>
          <a:prstGeom prst="rect">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33272" y="4317796"/>
            <a:ext cx="6236208" cy="735177"/>
          </a:xfrm>
          <a:prstGeom prst="rect">
            <a:avLst/>
          </a:prstGeom>
          <a:noFill/>
        </p:spPr>
        <p:txBody>
          <a:bodyPr wrap="square" lIns="0" tIns="0" rIns="0" bIns="0" anchor="t">
            <a:spAutoFit/>
          </a:bodyPr>
          <a:lstStyle/>
          <a:p>
            <a:pPr algn="l">
              <a:lnSpc>
                <a:spcPct val="134000"/>
              </a:lnSpc>
              <a:spcAft>
                <a:spcPts val="0"/>
              </a:spcAft>
            </a:pPr>
            <a:r>
              <a:rPr sz="1200" b="1">
                <a:solidFill>
                  <a:srgbClr val="1C1A19"/>
                </a:solidFill>
                <a:latin typeface="Segoe UI"/>
              </a:rPr>
              <a:t>Sleep is a system-wide change, not a power tweak. </a:t>
            </a:r>
            <a:r>
              <a:rPr sz="1200" b="0">
                <a:solidFill>
                  <a:srgbClr val="4A4542"/>
                </a:solidFill>
                <a:latin typeface="Segoe UI"/>
              </a:rPr>
              <a:t>It stops the clock of every peripheral, bus and memory whose low-power enable bit is clear. The framebuffer lives in affected banks, so the panel greyed out while every register said it was healthy.</a:t>
            </a:r>
          </a:p>
        </p:txBody>
      </p:sp>
      <p:sp>
        <p:nvSpPr>
          <p:cNvPr id="11" name="Rectangle 10"/>
          <p:cNvSpPr/>
          <p:nvPr/>
        </p:nvSpPr>
        <p:spPr>
          <a:xfrm>
            <a:off x="7635240" y="1965960"/>
            <a:ext cx="3749039" cy="3312414"/>
          </a:xfrm>
          <a:prstGeom prst="rect">
            <a:avLst/>
          </a:prstGeom>
          <a:solidFill>
            <a:srgbClr val="F1EBE8"/>
          </a:solidFill>
          <a:ln w="12700">
            <a:solidFill>
              <a:srgbClr val="E6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09560" y="2078348"/>
            <a:ext cx="3200399" cy="2959911"/>
          </a:xfrm>
          <a:prstGeom prst="rect">
            <a:avLst/>
          </a:prstGeom>
          <a:noFill/>
        </p:spPr>
        <p:txBody>
          <a:bodyPr wrap="square" lIns="0" tIns="0" rIns="0" bIns="0" anchor="t">
            <a:spAutoFit/>
          </a:bodyPr>
          <a:lstStyle/>
          <a:p>
            <a:pPr algn="l">
              <a:lnSpc>
                <a:spcPct val="134000"/>
              </a:lnSpc>
              <a:spcAft>
                <a:spcPts val="900"/>
              </a:spcAft>
            </a:pPr>
            <a:r>
              <a:rPr sz="1200" b="1" dirty="0">
                <a:solidFill>
                  <a:srgbClr val="1C1A19"/>
                </a:solidFill>
                <a:latin typeface="Segoe UI"/>
              </a:rPr>
              <a:t>The intake watch, in proportion</a:t>
            </a:r>
          </a:p>
          <a:p>
            <a:pPr algn="l">
              <a:lnSpc>
                <a:spcPct val="134000"/>
              </a:lnSpc>
              <a:spcAft>
                <a:spcPts val="900"/>
              </a:spcAft>
            </a:pPr>
            <a:r>
              <a:rPr sz="1200" b="0" dirty="0">
                <a:solidFill>
                  <a:srgbClr val="4A4542"/>
                </a:solidFill>
                <a:latin typeface="Segoe UI"/>
              </a:rPr>
              <a:t>Idle falls to 7 to 50 per cent during the action-recognition window, against about 88 per cent either side.</a:t>
            </a:r>
          </a:p>
          <a:p>
            <a:pPr algn="l">
              <a:lnSpc>
                <a:spcPct val="134000"/>
              </a:lnSpc>
              <a:spcAft>
                <a:spcPts val="900"/>
              </a:spcAft>
            </a:pPr>
            <a:r>
              <a:rPr sz="1150" b="0" dirty="0">
                <a:solidFill>
                  <a:srgbClr val="1C1A19"/>
                </a:solidFill>
                <a:latin typeface="Consolas"/>
              </a:rPr>
              <a:t>4 doses x 30 s = 120 s
per 86,400 s day = 0.14%
0.9986 x 88% + 0.0014 x 10%
= 87.9% daily average</a:t>
            </a:r>
          </a:p>
          <a:p>
            <a:pPr algn="l">
              <a:lnSpc>
                <a:spcPct val="134000"/>
              </a:lnSpc>
              <a:spcAft>
                <a:spcPts val="900"/>
              </a:spcAft>
            </a:pPr>
            <a:r>
              <a:rPr sz="1200" b="0" dirty="0">
                <a:solidFill>
                  <a:srgbClr val="4A4542"/>
                </a:solidFill>
                <a:latin typeface="Segoe UI"/>
              </a:rPr>
              <a:t>The headline figure describes the device at rest, and it is at rest 99.86 per cent of the time.</a:t>
            </a:r>
          </a:p>
        </p:txBody>
      </p:sp>
      <p:sp>
        <p:nvSpPr>
          <p:cNvPr id="13" name="Rectangle 12"/>
          <p:cNvSpPr/>
          <p:nvPr/>
        </p:nvSpPr>
        <p:spPr>
          <a:xfrm>
            <a:off x="777240" y="5406390"/>
            <a:ext cx="10637215"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5607558"/>
            <a:ext cx="10637215" cy="473202"/>
          </a:xfrm>
          <a:prstGeom prst="rect">
            <a:avLst/>
          </a:prstGeom>
          <a:noFill/>
        </p:spPr>
        <p:txBody>
          <a:bodyPr wrap="square" lIns="0" tIns="0" rIns="0" bIns="0" anchor="t">
            <a:spAutoFit/>
          </a:bodyPr>
          <a:lstStyle/>
          <a:p>
            <a:pPr algn="l">
              <a:lnSpc>
                <a:spcPct val="135000"/>
              </a:lnSpc>
              <a:spcAft>
                <a:spcPts val="0"/>
              </a:spcAft>
            </a:pPr>
            <a:r>
              <a:rPr sz="1150" b="0">
                <a:solidFill>
                  <a:srgbClr val="6E6864"/>
                </a:solidFill>
                <a:latin typeface="Segoe UI"/>
              </a:rPr>
              <a:t>It is a duty cycle, not a power measurement. The board supports instrumented power measurement and it was never wired up, so no figure in watts is claimed anywhere in this submission.</a:t>
            </a:r>
          </a:p>
        </p:txBody>
      </p:sp>
      <p:sp>
        <p:nvSpPr>
          <p:cNvPr id="15" name="TextBox 14"/>
          <p:cNvSpPr txBox="1"/>
          <p:nvPr/>
        </p:nvSpPr>
        <p:spPr>
          <a:xfrm>
            <a:off x="10865815" y="6291072"/>
            <a:ext cx="548640" cy="274320"/>
          </a:xfrm>
          <a:prstGeom prst="rect">
            <a:avLst/>
          </a:prstGeom>
          <a:noFill/>
        </p:spPr>
        <p:txBody>
          <a:bodyPr wrap="square" lIns="0" tIns="0" rIns="0" bIns="0" anchor="t">
            <a:spAutoFit/>
          </a:bodyPr>
          <a:lstStyle/>
          <a:p>
            <a:pPr algn="r">
              <a:lnSpc>
                <a:spcPct val="118000"/>
              </a:lnSpc>
              <a:spcAft>
                <a:spcPts val="0"/>
              </a:spcAft>
            </a:pPr>
            <a:r>
              <a:rPr sz="1100" b="0">
                <a:solidFill>
                  <a:srgbClr val="6E6864"/>
                </a:solidFill>
                <a:latin typeface="Segoe U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4F2"/>
        </a:solidFill>
        <a:effectLst/>
      </p:bgPr>
    </p:bg>
    <p:spTree>
      <p:nvGrpSpPr>
        <p:cNvPr id="1" name=""/>
        <p:cNvGrpSpPr/>
        <p:nvPr/>
      </p:nvGrpSpPr>
      <p:grpSpPr>
        <a:xfrm>
          <a:off x="0" y="0"/>
          <a:ext cx="0" cy="0"/>
          <a:chOff x="0" y="0"/>
          <a:chExt cx="0" cy="0"/>
        </a:xfrm>
      </p:grpSpPr>
      <p:sp>
        <p:nvSpPr>
          <p:cNvPr id="2" name="TextBox 1"/>
          <p:cNvSpPr txBox="1"/>
          <p:nvPr/>
        </p:nvSpPr>
        <p:spPr>
          <a:xfrm>
            <a:off x="777240" y="566928"/>
            <a:ext cx="10637215" cy="274320"/>
          </a:xfrm>
          <a:prstGeom prst="rect">
            <a:avLst/>
          </a:prstGeom>
          <a:noFill/>
        </p:spPr>
        <p:txBody>
          <a:bodyPr wrap="square" lIns="0" tIns="0" rIns="0" bIns="0" anchor="t">
            <a:spAutoFit/>
          </a:bodyPr>
          <a:lstStyle/>
          <a:p>
            <a:pPr algn="l">
              <a:lnSpc>
                <a:spcPct val="118000"/>
              </a:lnSpc>
              <a:spcAft>
                <a:spcPts val="0"/>
              </a:spcAft>
            </a:pPr>
            <a:r>
              <a:rPr sz="1050" b="1">
                <a:solidFill>
                  <a:srgbClr val="C2651F"/>
                </a:solidFill>
                <a:latin typeface="Segoe UI"/>
              </a:rPr>
              <a:t>MEMORY ARCHITECTURE</a:t>
            </a:r>
          </a:p>
        </p:txBody>
      </p:sp>
      <p:sp>
        <p:nvSpPr>
          <p:cNvPr id="3" name="TextBox 2"/>
          <p:cNvSpPr txBox="1"/>
          <p:nvPr/>
        </p:nvSpPr>
        <p:spPr>
          <a:xfrm>
            <a:off x="777240" y="868680"/>
            <a:ext cx="10637215" cy="480060"/>
          </a:xfrm>
          <a:prstGeom prst="rect">
            <a:avLst/>
          </a:prstGeom>
          <a:noFill/>
        </p:spPr>
        <p:txBody>
          <a:bodyPr wrap="square" lIns="0" tIns="0" rIns="0" bIns="0" anchor="t">
            <a:spAutoFit/>
          </a:bodyPr>
          <a:lstStyle/>
          <a:p>
            <a:pPr algn="l">
              <a:lnSpc>
                <a:spcPct val="105000"/>
              </a:lnSpc>
              <a:spcAft>
                <a:spcPts val="0"/>
              </a:spcAft>
            </a:pPr>
            <a:r>
              <a:rPr sz="3000" b="1">
                <a:solidFill>
                  <a:srgbClr val="1C1A19"/>
                </a:solidFill>
                <a:latin typeface="Segoe UI"/>
              </a:rPr>
              <a:t>Region utilisation and accelerator addressability</a:t>
            </a:r>
          </a:p>
        </p:txBody>
      </p:sp>
      <p:sp>
        <p:nvSpPr>
          <p:cNvPr id="4" name="Rectangle 3"/>
          <p:cNvSpPr/>
          <p:nvPr/>
        </p:nvSpPr>
        <p:spPr>
          <a:xfrm>
            <a:off x="777240" y="1627632"/>
            <a:ext cx="10637215" cy="20320"/>
          </a:xfrm>
          <a:prstGeom prst="rect">
            <a:avLst/>
          </a:prstGeom>
          <a:solidFill>
            <a:srgbClr val="1C1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920240"/>
            <a:ext cx="2061057" cy="274320"/>
          </a:xfrm>
          <a:prstGeom prst="rect">
            <a:avLst/>
          </a:prstGeom>
          <a:noFill/>
        </p:spPr>
        <p:txBody>
          <a:bodyPr wrap="square" lIns="0" tIns="0" rIns="0" bIns="0" anchor="t">
            <a:spAutoFit/>
          </a:bodyPr>
          <a:lstStyle/>
          <a:p>
            <a:pPr algn="l">
              <a:lnSpc>
                <a:spcPct val="118000"/>
              </a:lnSpc>
              <a:spcAft>
                <a:spcPts val="0"/>
              </a:spcAft>
            </a:pPr>
            <a:r>
              <a:rPr sz="880" b="1">
                <a:solidFill>
                  <a:srgbClr val="1C1A19"/>
                </a:solidFill>
                <a:latin typeface="Segoe UI"/>
              </a:rPr>
              <a:t>SECTION</a:t>
            </a:r>
          </a:p>
        </p:txBody>
      </p:sp>
      <p:sp>
        <p:nvSpPr>
          <p:cNvPr id="6" name="TextBox 5"/>
          <p:cNvSpPr txBox="1"/>
          <p:nvPr/>
        </p:nvSpPr>
        <p:spPr>
          <a:xfrm>
            <a:off x="2966313" y="1920240"/>
            <a:ext cx="3443630" cy="274320"/>
          </a:xfrm>
          <a:prstGeom prst="rect">
            <a:avLst/>
          </a:prstGeom>
          <a:noFill/>
        </p:spPr>
        <p:txBody>
          <a:bodyPr wrap="square" lIns="0" tIns="0" rIns="0" bIns="0" anchor="t">
            <a:spAutoFit/>
          </a:bodyPr>
          <a:lstStyle/>
          <a:p>
            <a:pPr algn="l">
              <a:lnSpc>
                <a:spcPct val="118000"/>
              </a:lnSpc>
              <a:spcAft>
                <a:spcPts val="0"/>
              </a:spcAft>
            </a:pPr>
            <a:r>
              <a:rPr sz="880" b="1">
                <a:solidFill>
                  <a:srgbClr val="1C1A19"/>
                </a:solidFill>
                <a:latin typeface="Segoe UI"/>
              </a:rPr>
              <a:t>BYTES</a:t>
            </a:r>
          </a:p>
        </p:txBody>
      </p:sp>
      <p:sp>
        <p:nvSpPr>
          <p:cNvPr id="7" name="Rectangle 6"/>
          <p:cNvSpPr/>
          <p:nvPr/>
        </p:nvSpPr>
        <p:spPr>
          <a:xfrm>
            <a:off x="777240" y="2157984"/>
            <a:ext cx="5760720" cy="17780"/>
          </a:xfrm>
          <a:prstGeom prst="rect">
            <a:avLst/>
          </a:prstGeom>
          <a:solidFill>
            <a:srgbClr val="1C1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286000"/>
            <a:ext cx="2061057" cy="237744"/>
          </a:xfrm>
          <a:prstGeom prst="rect">
            <a:avLst/>
          </a:prstGeom>
          <a:noFill/>
        </p:spPr>
        <p:txBody>
          <a:bodyPr wrap="square" lIns="0" tIns="0" rIns="0" bIns="0" anchor="t">
            <a:spAutoFit/>
          </a:bodyPr>
          <a:lstStyle/>
          <a:p>
            <a:pPr algn="l">
              <a:lnSpc>
                <a:spcPct val="130000"/>
              </a:lnSpc>
              <a:spcAft>
                <a:spcPts val="0"/>
              </a:spcAft>
            </a:pPr>
            <a:r>
              <a:rPr sz="1200" b="1">
                <a:solidFill>
                  <a:srgbClr val="1C1A19"/>
                </a:solidFill>
                <a:latin typeface="Segoe UI"/>
              </a:rPr>
              <a:t>Code</a:t>
            </a:r>
          </a:p>
        </p:txBody>
      </p:sp>
      <p:sp>
        <p:nvSpPr>
          <p:cNvPr id="9" name="TextBox 8"/>
          <p:cNvSpPr txBox="1"/>
          <p:nvPr/>
        </p:nvSpPr>
        <p:spPr>
          <a:xfrm>
            <a:off x="2966313" y="2286000"/>
            <a:ext cx="3443630" cy="237744"/>
          </a:xfrm>
          <a:prstGeom prst="rect">
            <a:avLst/>
          </a:prstGeom>
          <a:noFill/>
        </p:spPr>
        <p:txBody>
          <a:bodyPr wrap="square" lIns="0" tIns="0" rIns="0" bIns="0" anchor="t">
            <a:spAutoFit/>
          </a:bodyPr>
          <a:lstStyle/>
          <a:p>
            <a:pPr algn="l">
              <a:lnSpc>
                <a:spcPct val="130000"/>
              </a:lnSpc>
              <a:spcAft>
                <a:spcPts val="0"/>
              </a:spcAft>
            </a:pPr>
            <a:r>
              <a:rPr sz="1200" b="0">
                <a:solidFill>
                  <a:srgbClr val="4A4542"/>
                </a:solidFill>
                <a:latin typeface="Segoe UI"/>
              </a:rPr>
              <a:t>561,324  -  85.6% of the region, 147 KB free</a:t>
            </a:r>
          </a:p>
        </p:txBody>
      </p:sp>
      <p:sp>
        <p:nvSpPr>
          <p:cNvPr id="10" name="Rectangle 9"/>
          <p:cNvSpPr/>
          <p:nvPr/>
        </p:nvSpPr>
        <p:spPr>
          <a:xfrm>
            <a:off x="777240" y="2560320"/>
            <a:ext cx="576072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88336"/>
            <a:ext cx="2061057" cy="237744"/>
          </a:xfrm>
          <a:prstGeom prst="rect">
            <a:avLst/>
          </a:prstGeom>
          <a:noFill/>
        </p:spPr>
        <p:txBody>
          <a:bodyPr wrap="square" lIns="0" tIns="0" rIns="0" bIns="0" anchor="t">
            <a:spAutoFit/>
          </a:bodyPr>
          <a:lstStyle/>
          <a:p>
            <a:pPr algn="l">
              <a:lnSpc>
                <a:spcPct val="130000"/>
              </a:lnSpc>
              <a:spcAft>
                <a:spcPts val="0"/>
              </a:spcAft>
            </a:pPr>
            <a:r>
              <a:rPr sz="1200" b="1">
                <a:solidFill>
                  <a:srgbClr val="1C1A19"/>
                </a:solidFill>
                <a:latin typeface="Segoe UI"/>
              </a:rPr>
              <a:t>Read-only data</a:t>
            </a:r>
          </a:p>
        </p:txBody>
      </p:sp>
      <p:sp>
        <p:nvSpPr>
          <p:cNvPr id="12" name="TextBox 11"/>
          <p:cNvSpPr txBox="1"/>
          <p:nvPr/>
        </p:nvSpPr>
        <p:spPr>
          <a:xfrm>
            <a:off x="2966313" y="2688336"/>
            <a:ext cx="3443630" cy="237744"/>
          </a:xfrm>
          <a:prstGeom prst="rect">
            <a:avLst/>
          </a:prstGeom>
          <a:noFill/>
        </p:spPr>
        <p:txBody>
          <a:bodyPr wrap="square" lIns="0" tIns="0" rIns="0" bIns="0" anchor="t">
            <a:spAutoFit/>
          </a:bodyPr>
          <a:lstStyle/>
          <a:p>
            <a:pPr algn="l">
              <a:lnSpc>
                <a:spcPct val="130000"/>
              </a:lnSpc>
              <a:spcAft>
                <a:spcPts val="0"/>
              </a:spcAft>
            </a:pPr>
            <a:r>
              <a:rPr sz="1200" b="0">
                <a:solidFill>
                  <a:srgbClr val="4A4542"/>
                </a:solidFill>
                <a:latin typeface="Segoe UI"/>
              </a:rPr>
              <a:t>334,456</a:t>
            </a:r>
          </a:p>
        </p:txBody>
      </p:sp>
      <p:sp>
        <p:nvSpPr>
          <p:cNvPr id="13" name="Rectangle 12"/>
          <p:cNvSpPr/>
          <p:nvPr/>
        </p:nvSpPr>
        <p:spPr>
          <a:xfrm>
            <a:off x="777240" y="2962656"/>
            <a:ext cx="576072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3090672"/>
            <a:ext cx="2061057" cy="237744"/>
          </a:xfrm>
          <a:prstGeom prst="rect">
            <a:avLst/>
          </a:prstGeom>
          <a:noFill/>
        </p:spPr>
        <p:txBody>
          <a:bodyPr wrap="square" lIns="0" tIns="0" rIns="0" bIns="0" anchor="t">
            <a:spAutoFit/>
          </a:bodyPr>
          <a:lstStyle/>
          <a:p>
            <a:pPr algn="l">
              <a:lnSpc>
                <a:spcPct val="130000"/>
              </a:lnSpc>
              <a:spcAft>
                <a:spcPts val="0"/>
              </a:spcAft>
            </a:pPr>
            <a:r>
              <a:rPr sz="1200" b="1">
                <a:solidFill>
                  <a:srgbClr val="1C1A19"/>
                </a:solidFill>
                <a:latin typeface="Segoe UI"/>
              </a:rPr>
              <a:t>Initialised data</a:t>
            </a:r>
          </a:p>
        </p:txBody>
      </p:sp>
      <p:sp>
        <p:nvSpPr>
          <p:cNvPr id="15" name="TextBox 14"/>
          <p:cNvSpPr txBox="1"/>
          <p:nvPr/>
        </p:nvSpPr>
        <p:spPr>
          <a:xfrm>
            <a:off x="2966313" y="3090672"/>
            <a:ext cx="3443630" cy="237744"/>
          </a:xfrm>
          <a:prstGeom prst="rect">
            <a:avLst/>
          </a:prstGeom>
          <a:noFill/>
        </p:spPr>
        <p:txBody>
          <a:bodyPr wrap="square" lIns="0" tIns="0" rIns="0" bIns="0" anchor="t">
            <a:spAutoFit/>
          </a:bodyPr>
          <a:lstStyle/>
          <a:p>
            <a:pPr algn="l">
              <a:lnSpc>
                <a:spcPct val="130000"/>
              </a:lnSpc>
              <a:spcAft>
                <a:spcPts val="0"/>
              </a:spcAft>
            </a:pPr>
            <a:r>
              <a:rPr sz="1200" b="0">
                <a:solidFill>
                  <a:srgbClr val="4A4542"/>
                </a:solidFill>
                <a:latin typeface="Segoe UI"/>
              </a:rPr>
              <a:t>684</a:t>
            </a:r>
          </a:p>
        </p:txBody>
      </p:sp>
      <p:sp>
        <p:nvSpPr>
          <p:cNvPr id="16" name="Rectangle 15"/>
          <p:cNvSpPr/>
          <p:nvPr/>
        </p:nvSpPr>
        <p:spPr>
          <a:xfrm>
            <a:off x="777240" y="3364992"/>
            <a:ext cx="576072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3493008"/>
            <a:ext cx="2061057" cy="237744"/>
          </a:xfrm>
          <a:prstGeom prst="rect">
            <a:avLst/>
          </a:prstGeom>
          <a:noFill/>
        </p:spPr>
        <p:txBody>
          <a:bodyPr wrap="square" lIns="0" tIns="0" rIns="0" bIns="0" anchor="t">
            <a:spAutoFit/>
          </a:bodyPr>
          <a:lstStyle/>
          <a:p>
            <a:pPr algn="l">
              <a:lnSpc>
                <a:spcPct val="130000"/>
              </a:lnSpc>
              <a:spcAft>
                <a:spcPts val="0"/>
              </a:spcAft>
            </a:pPr>
            <a:r>
              <a:rPr sz="1200" b="1">
                <a:solidFill>
                  <a:srgbClr val="1C1A19"/>
                </a:solidFill>
                <a:latin typeface="Segoe UI"/>
              </a:rPr>
              <a:t>Zero-initialised</a:t>
            </a:r>
          </a:p>
        </p:txBody>
      </p:sp>
      <p:sp>
        <p:nvSpPr>
          <p:cNvPr id="18" name="TextBox 17"/>
          <p:cNvSpPr txBox="1"/>
          <p:nvPr/>
        </p:nvSpPr>
        <p:spPr>
          <a:xfrm>
            <a:off x="2966313" y="3493008"/>
            <a:ext cx="3443630" cy="237744"/>
          </a:xfrm>
          <a:prstGeom prst="rect">
            <a:avLst/>
          </a:prstGeom>
          <a:noFill/>
        </p:spPr>
        <p:txBody>
          <a:bodyPr wrap="square" lIns="0" tIns="0" rIns="0" bIns="0" anchor="t">
            <a:spAutoFit/>
          </a:bodyPr>
          <a:lstStyle/>
          <a:p>
            <a:pPr algn="l">
              <a:lnSpc>
                <a:spcPct val="130000"/>
              </a:lnSpc>
              <a:spcAft>
                <a:spcPts val="0"/>
              </a:spcAft>
            </a:pPr>
            <a:r>
              <a:rPr sz="1200" b="0">
                <a:solidFill>
                  <a:srgbClr val="4A4542"/>
                </a:solidFill>
                <a:latin typeface="Segoe UI"/>
              </a:rPr>
              <a:t>656,488  -  63.0% of the region, 378 KB free</a:t>
            </a:r>
          </a:p>
        </p:txBody>
      </p:sp>
      <p:sp>
        <p:nvSpPr>
          <p:cNvPr id="19" name="Rectangle 18"/>
          <p:cNvSpPr/>
          <p:nvPr/>
        </p:nvSpPr>
        <p:spPr>
          <a:xfrm>
            <a:off x="777240" y="3767328"/>
            <a:ext cx="576072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4160520"/>
            <a:ext cx="5760720" cy="822960"/>
          </a:xfrm>
          <a:prstGeom prst="rect">
            <a:avLst/>
          </a:prstGeom>
          <a:noFill/>
        </p:spPr>
        <p:txBody>
          <a:bodyPr wrap="square" lIns="0" tIns="0" rIns="0" bIns="0" anchor="t">
            <a:spAutoFit/>
          </a:bodyPr>
          <a:lstStyle/>
          <a:p>
            <a:pPr algn="l">
              <a:lnSpc>
                <a:spcPct val="134000"/>
              </a:lnSpc>
              <a:spcAft>
                <a:spcPts val="0"/>
              </a:spcAft>
            </a:pPr>
            <a:r>
              <a:rPr sz="1200" b="0">
                <a:solidFill>
                  <a:srgbClr val="4A4542"/>
                </a:solidFill>
                <a:latin typeface="Segoe UI"/>
              </a:rPr>
              <a:t>Hand-written code: about 11,800 lines across 28 files, excluding all vendored code and generated assets.</a:t>
            </a:r>
          </a:p>
        </p:txBody>
      </p:sp>
      <p:sp>
        <p:nvSpPr>
          <p:cNvPr id="21" name="Rectangle 20"/>
          <p:cNvSpPr/>
          <p:nvPr/>
        </p:nvSpPr>
        <p:spPr>
          <a:xfrm>
            <a:off x="7040880" y="1920240"/>
            <a:ext cx="4343400" cy="3358134"/>
          </a:xfrm>
          <a:prstGeom prst="rect">
            <a:avLst/>
          </a:prstGeom>
          <a:solidFill>
            <a:srgbClr val="F1EBE8"/>
          </a:solidFill>
          <a:ln w="12700">
            <a:solidFill>
              <a:srgbClr val="E6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0" y="2108829"/>
            <a:ext cx="3794760" cy="3090670"/>
          </a:xfrm>
          <a:prstGeom prst="rect">
            <a:avLst/>
          </a:prstGeom>
          <a:noFill/>
        </p:spPr>
        <p:txBody>
          <a:bodyPr wrap="square" lIns="0" tIns="0" rIns="0" bIns="0" anchor="t">
            <a:spAutoFit/>
          </a:bodyPr>
          <a:lstStyle/>
          <a:p>
            <a:pPr algn="l">
              <a:lnSpc>
                <a:spcPct val="134000"/>
              </a:lnSpc>
              <a:spcAft>
                <a:spcPts val="900"/>
              </a:spcAft>
            </a:pPr>
            <a:r>
              <a:rPr sz="1200" b="1" dirty="0">
                <a:solidFill>
                  <a:srgbClr val="1C1A19"/>
                </a:solidFill>
                <a:latin typeface="Segoe UI"/>
              </a:rPr>
              <a:t>Where each region lives</a:t>
            </a:r>
          </a:p>
          <a:p>
            <a:pPr algn="l">
              <a:lnSpc>
                <a:spcPct val="134000"/>
              </a:lnSpc>
              <a:spcAft>
                <a:spcPts val="900"/>
              </a:spcAft>
            </a:pPr>
            <a:r>
              <a:rPr sz="1200" b="0" dirty="0">
                <a:solidFill>
                  <a:srgbClr val="4A4542"/>
                </a:solidFill>
                <a:latin typeface="Segoe UI"/>
              </a:rPr>
              <a:t>On-chip SRAM, about 4.2 MB in six banks: code, data, the framebuffer, and the accelerator arena.</a:t>
            </a:r>
          </a:p>
          <a:p>
            <a:pPr algn="l">
              <a:lnSpc>
                <a:spcPct val="134000"/>
              </a:lnSpc>
              <a:spcAft>
                <a:spcPts val="900"/>
              </a:spcAft>
            </a:pPr>
            <a:r>
              <a:rPr sz="1200" b="0" dirty="0">
                <a:solidFill>
                  <a:srgbClr val="4A4542"/>
                </a:solidFill>
                <a:latin typeface="Segoe UI"/>
              </a:rPr>
              <a:t>The arena is 220 KB, pattern-tested from a cold boot before anything was placed in it.</a:t>
            </a:r>
          </a:p>
          <a:p>
            <a:pPr algn="l">
              <a:lnSpc>
                <a:spcPct val="134000"/>
              </a:lnSpc>
              <a:spcAft>
                <a:spcPts val="900"/>
              </a:spcAft>
            </a:pPr>
            <a:r>
              <a:rPr sz="1200" b="0" dirty="0">
                <a:solidFill>
                  <a:srgbClr val="4A4542"/>
                </a:solidFill>
                <a:latin typeface="Segoe UI"/>
              </a:rPr>
              <a:t>The face networks' working memory overlaps the framebuffer, which is why the display is blanked for the capture window.</a:t>
            </a:r>
          </a:p>
          <a:p>
            <a:pPr algn="l">
              <a:lnSpc>
                <a:spcPct val="134000"/>
              </a:lnSpc>
              <a:spcAft>
                <a:spcPts val="900"/>
              </a:spcAft>
            </a:pPr>
            <a:r>
              <a:rPr sz="1200" b="0" dirty="0">
                <a:solidFill>
                  <a:srgbClr val="4A4542"/>
                </a:solidFill>
                <a:latin typeface="Segoe UI"/>
              </a:rPr>
              <a:t>The hand model needs 1,197,952 bytes: about 220 KB in the arena and about 978 KB spilled to external PSRAM.</a:t>
            </a:r>
          </a:p>
        </p:txBody>
      </p:sp>
      <p:sp>
        <p:nvSpPr>
          <p:cNvPr id="23" name="Rectangle 22"/>
          <p:cNvSpPr/>
          <p:nvPr/>
        </p:nvSpPr>
        <p:spPr>
          <a:xfrm>
            <a:off x="777240" y="5406390"/>
            <a:ext cx="10637215"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7240" y="5607558"/>
            <a:ext cx="10637215" cy="473202"/>
          </a:xfrm>
          <a:prstGeom prst="rect">
            <a:avLst/>
          </a:prstGeom>
          <a:noFill/>
        </p:spPr>
        <p:txBody>
          <a:bodyPr wrap="square" lIns="0" tIns="0" rIns="0" bIns="0" anchor="t">
            <a:spAutoFit/>
          </a:bodyPr>
          <a:lstStyle/>
          <a:p>
            <a:pPr algn="l">
              <a:lnSpc>
                <a:spcPct val="135000"/>
              </a:lnSpc>
              <a:spcAft>
                <a:spcPts val="0"/>
              </a:spcAft>
            </a:pPr>
            <a:r>
              <a:rPr sz="1150" b="0">
                <a:solidFill>
                  <a:srgbClr val="6E6864"/>
                </a:solidFill>
                <a:latin typeface="Segoe UI"/>
              </a:rPr>
              <a:t>The first network run crashed with a bus fault: the generated code placed the weights in a RAM bank the accelerator's data masters have no physical connection to. Whether an address is valid and whether a given master can reach it are different questions, and only the bus matrix answers the second.</a:t>
            </a:r>
          </a:p>
        </p:txBody>
      </p:sp>
      <p:sp>
        <p:nvSpPr>
          <p:cNvPr id="25" name="TextBox 24"/>
          <p:cNvSpPr txBox="1"/>
          <p:nvPr/>
        </p:nvSpPr>
        <p:spPr>
          <a:xfrm>
            <a:off x="10865815" y="6291072"/>
            <a:ext cx="548640" cy="274320"/>
          </a:xfrm>
          <a:prstGeom prst="rect">
            <a:avLst/>
          </a:prstGeom>
          <a:noFill/>
        </p:spPr>
        <p:txBody>
          <a:bodyPr wrap="square" lIns="0" tIns="0" rIns="0" bIns="0" anchor="t">
            <a:spAutoFit/>
          </a:bodyPr>
          <a:lstStyle/>
          <a:p>
            <a:pPr algn="r">
              <a:lnSpc>
                <a:spcPct val="118000"/>
              </a:lnSpc>
              <a:spcAft>
                <a:spcPts val="0"/>
              </a:spcAft>
            </a:pPr>
            <a:r>
              <a:rPr sz="1100" b="0">
                <a:solidFill>
                  <a:srgbClr val="6E6864"/>
                </a:solidFill>
                <a:latin typeface="Segoe U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4F2"/>
        </a:solidFill>
        <a:effectLst/>
      </p:bgPr>
    </p:bg>
    <p:spTree>
      <p:nvGrpSpPr>
        <p:cNvPr id="1" name=""/>
        <p:cNvGrpSpPr/>
        <p:nvPr/>
      </p:nvGrpSpPr>
      <p:grpSpPr>
        <a:xfrm>
          <a:off x="0" y="0"/>
          <a:ext cx="0" cy="0"/>
          <a:chOff x="0" y="0"/>
          <a:chExt cx="0" cy="0"/>
        </a:xfrm>
      </p:grpSpPr>
      <p:sp>
        <p:nvSpPr>
          <p:cNvPr id="2" name="TextBox 1"/>
          <p:cNvSpPr txBox="1"/>
          <p:nvPr/>
        </p:nvSpPr>
        <p:spPr>
          <a:xfrm>
            <a:off x="777240" y="566928"/>
            <a:ext cx="10637215" cy="274320"/>
          </a:xfrm>
          <a:prstGeom prst="rect">
            <a:avLst/>
          </a:prstGeom>
          <a:noFill/>
        </p:spPr>
        <p:txBody>
          <a:bodyPr wrap="square" lIns="0" tIns="0" rIns="0" bIns="0" anchor="t">
            <a:spAutoFit/>
          </a:bodyPr>
          <a:lstStyle/>
          <a:p>
            <a:pPr algn="l">
              <a:lnSpc>
                <a:spcPct val="118000"/>
              </a:lnSpc>
              <a:spcAft>
                <a:spcPts val="0"/>
              </a:spcAft>
            </a:pPr>
            <a:r>
              <a:rPr sz="1050" b="1">
                <a:solidFill>
                  <a:srgbClr val="C2651F"/>
                </a:solidFill>
                <a:latin typeface="Segoe UI"/>
              </a:rPr>
              <a:t>NEURAL NETWORK INVENTORY</a:t>
            </a:r>
          </a:p>
        </p:txBody>
      </p:sp>
      <p:sp>
        <p:nvSpPr>
          <p:cNvPr id="3" name="TextBox 2"/>
          <p:cNvSpPr txBox="1"/>
          <p:nvPr/>
        </p:nvSpPr>
        <p:spPr>
          <a:xfrm>
            <a:off x="777240" y="868680"/>
            <a:ext cx="10637215" cy="480060"/>
          </a:xfrm>
          <a:prstGeom prst="rect">
            <a:avLst/>
          </a:prstGeom>
          <a:noFill/>
        </p:spPr>
        <p:txBody>
          <a:bodyPr wrap="square" lIns="0" tIns="0" rIns="0" bIns="0" anchor="t">
            <a:spAutoFit/>
          </a:bodyPr>
          <a:lstStyle/>
          <a:p>
            <a:pPr algn="l">
              <a:lnSpc>
                <a:spcPct val="105000"/>
              </a:lnSpc>
              <a:spcAft>
                <a:spcPts val="0"/>
              </a:spcAft>
            </a:pPr>
            <a:r>
              <a:rPr sz="3000" b="1">
                <a:solidFill>
                  <a:srgbClr val="1C1A19"/>
                </a:solidFill>
                <a:latin typeface="Segoe UI"/>
              </a:rPr>
              <a:t>Four networks executing on the Neural-ART accelerator</a:t>
            </a:r>
          </a:p>
        </p:txBody>
      </p:sp>
      <p:sp>
        <p:nvSpPr>
          <p:cNvPr id="4" name="Rectangle 3"/>
          <p:cNvSpPr/>
          <p:nvPr/>
        </p:nvSpPr>
        <p:spPr>
          <a:xfrm>
            <a:off x="777240" y="1627632"/>
            <a:ext cx="10637215" cy="20320"/>
          </a:xfrm>
          <a:prstGeom prst="rect">
            <a:avLst/>
          </a:prstGeom>
          <a:solidFill>
            <a:srgbClr val="1C1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920240"/>
            <a:ext cx="1887321" cy="274320"/>
          </a:xfrm>
          <a:prstGeom prst="rect">
            <a:avLst/>
          </a:prstGeom>
          <a:noFill/>
        </p:spPr>
        <p:txBody>
          <a:bodyPr wrap="square" lIns="0" tIns="0" rIns="0" bIns="0" anchor="t">
            <a:spAutoFit/>
          </a:bodyPr>
          <a:lstStyle/>
          <a:p>
            <a:pPr algn="l">
              <a:lnSpc>
                <a:spcPct val="118000"/>
              </a:lnSpc>
              <a:spcAft>
                <a:spcPts val="0"/>
              </a:spcAft>
            </a:pPr>
            <a:r>
              <a:rPr sz="880" b="1">
                <a:solidFill>
                  <a:srgbClr val="1C1A19"/>
                </a:solidFill>
                <a:latin typeface="Segoe UI"/>
              </a:rPr>
              <a:t>NETWORK</a:t>
            </a:r>
          </a:p>
        </p:txBody>
      </p:sp>
      <p:sp>
        <p:nvSpPr>
          <p:cNvPr id="6" name="TextBox 5"/>
          <p:cNvSpPr txBox="1"/>
          <p:nvPr/>
        </p:nvSpPr>
        <p:spPr>
          <a:xfrm>
            <a:off x="2792577" y="1920240"/>
            <a:ext cx="3160166" cy="274320"/>
          </a:xfrm>
          <a:prstGeom prst="rect">
            <a:avLst/>
          </a:prstGeom>
          <a:noFill/>
        </p:spPr>
        <p:txBody>
          <a:bodyPr wrap="square" lIns="0" tIns="0" rIns="0" bIns="0" anchor="t">
            <a:spAutoFit/>
          </a:bodyPr>
          <a:lstStyle/>
          <a:p>
            <a:pPr algn="l">
              <a:lnSpc>
                <a:spcPct val="118000"/>
              </a:lnSpc>
              <a:spcAft>
                <a:spcPts val="0"/>
              </a:spcAft>
            </a:pPr>
            <a:r>
              <a:rPr sz="880" b="1">
                <a:solidFill>
                  <a:srgbClr val="1C1A19"/>
                </a:solidFill>
                <a:latin typeface="Segoe UI"/>
              </a:rPr>
              <a:t>WHAT IT COMPUTES</a:t>
            </a:r>
          </a:p>
        </p:txBody>
      </p:sp>
      <p:sp>
        <p:nvSpPr>
          <p:cNvPr id="7" name="TextBox 6"/>
          <p:cNvSpPr txBox="1"/>
          <p:nvPr/>
        </p:nvSpPr>
        <p:spPr>
          <a:xfrm>
            <a:off x="6080759" y="1920240"/>
            <a:ext cx="3372307" cy="274320"/>
          </a:xfrm>
          <a:prstGeom prst="rect">
            <a:avLst/>
          </a:prstGeom>
          <a:noFill/>
        </p:spPr>
        <p:txBody>
          <a:bodyPr wrap="square" lIns="0" tIns="0" rIns="0" bIns="0" anchor="t">
            <a:spAutoFit/>
          </a:bodyPr>
          <a:lstStyle/>
          <a:p>
            <a:pPr algn="l">
              <a:lnSpc>
                <a:spcPct val="118000"/>
              </a:lnSpc>
              <a:spcAft>
                <a:spcPts val="0"/>
              </a:spcAft>
            </a:pPr>
            <a:r>
              <a:rPr sz="880" b="1">
                <a:solidFill>
                  <a:srgbClr val="1C1A19"/>
                </a:solidFill>
                <a:latin typeface="Segoe UI"/>
              </a:rPr>
              <a:t>ORIGIN</a:t>
            </a:r>
          </a:p>
        </p:txBody>
      </p:sp>
      <p:sp>
        <p:nvSpPr>
          <p:cNvPr id="8" name="TextBox 7"/>
          <p:cNvSpPr txBox="1"/>
          <p:nvPr/>
        </p:nvSpPr>
        <p:spPr>
          <a:xfrm>
            <a:off x="9581082" y="1920240"/>
            <a:ext cx="1675180" cy="274320"/>
          </a:xfrm>
          <a:prstGeom prst="rect">
            <a:avLst/>
          </a:prstGeom>
          <a:noFill/>
        </p:spPr>
        <p:txBody>
          <a:bodyPr wrap="square" lIns="0" tIns="0" rIns="0" bIns="0" anchor="t">
            <a:spAutoFit/>
          </a:bodyPr>
          <a:lstStyle/>
          <a:p>
            <a:pPr algn="l">
              <a:lnSpc>
                <a:spcPct val="118000"/>
              </a:lnSpc>
              <a:spcAft>
                <a:spcPts val="0"/>
              </a:spcAft>
            </a:pPr>
            <a:r>
              <a:rPr sz="880" b="1">
                <a:solidFill>
                  <a:srgbClr val="1C1A19"/>
                </a:solidFill>
                <a:latin typeface="Segoe UI"/>
              </a:rPr>
              <a:t>LICENCE</a:t>
            </a:r>
          </a:p>
        </p:txBody>
      </p:sp>
      <p:sp>
        <p:nvSpPr>
          <p:cNvPr id="9" name="Rectangle 8"/>
          <p:cNvSpPr/>
          <p:nvPr/>
        </p:nvSpPr>
        <p:spPr>
          <a:xfrm>
            <a:off x="777240" y="2157984"/>
            <a:ext cx="10607040" cy="17780"/>
          </a:xfrm>
          <a:prstGeom prst="rect">
            <a:avLst/>
          </a:prstGeom>
          <a:solidFill>
            <a:srgbClr val="1C1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2286000"/>
            <a:ext cx="1887321" cy="495300"/>
          </a:xfrm>
          <a:prstGeom prst="rect">
            <a:avLst/>
          </a:prstGeom>
          <a:noFill/>
        </p:spPr>
        <p:txBody>
          <a:bodyPr wrap="square" lIns="0" tIns="0" rIns="0" bIns="0" anchor="t">
            <a:spAutoFit/>
          </a:bodyPr>
          <a:lstStyle/>
          <a:p>
            <a:pPr algn="l">
              <a:lnSpc>
                <a:spcPct val="130000"/>
              </a:lnSpc>
              <a:spcAft>
                <a:spcPts val="0"/>
              </a:spcAft>
            </a:pPr>
            <a:r>
              <a:rPr sz="1250" b="1">
                <a:solidFill>
                  <a:srgbClr val="1C1A19"/>
                </a:solidFill>
                <a:latin typeface="Segoe UI"/>
              </a:rPr>
              <a:t>CenterFace</a:t>
            </a:r>
          </a:p>
        </p:txBody>
      </p:sp>
      <p:sp>
        <p:nvSpPr>
          <p:cNvPr id="11" name="TextBox 10"/>
          <p:cNvSpPr txBox="1"/>
          <p:nvPr/>
        </p:nvSpPr>
        <p:spPr>
          <a:xfrm>
            <a:off x="2792577" y="2286000"/>
            <a:ext cx="3160166" cy="495300"/>
          </a:xfrm>
          <a:prstGeom prst="rect">
            <a:avLst/>
          </a:prstGeom>
          <a:noFill/>
        </p:spPr>
        <p:txBody>
          <a:bodyPr wrap="square" lIns="0" tIns="0" rIns="0" bIns="0" anchor="t">
            <a:spAutoFit/>
          </a:bodyPr>
          <a:lstStyle/>
          <a:p>
            <a:pPr algn="l">
              <a:lnSpc>
                <a:spcPct val="130000"/>
              </a:lnSpc>
              <a:spcAft>
                <a:spcPts val="0"/>
              </a:spcAft>
            </a:pPr>
            <a:r>
              <a:rPr sz="1250" b="0">
                <a:solidFill>
                  <a:srgbClr val="4A4542"/>
                </a:solidFill>
                <a:latin typeface="Segoe UI"/>
              </a:rPr>
              <a:t>Detects a face and emits five landmarks with it, both mouth corners among them</a:t>
            </a:r>
          </a:p>
        </p:txBody>
      </p:sp>
      <p:sp>
        <p:nvSpPr>
          <p:cNvPr id="12" name="TextBox 11"/>
          <p:cNvSpPr txBox="1"/>
          <p:nvPr/>
        </p:nvSpPr>
        <p:spPr>
          <a:xfrm>
            <a:off x="6080759" y="2286000"/>
            <a:ext cx="3372307" cy="495300"/>
          </a:xfrm>
          <a:prstGeom prst="rect">
            <a:avLst/>
          </a:prstGeom>
          <a:noFill/>
        </p:spPr>
        <p:txBody>
          <a:bodyPr wrap="square" lIns="0" tIns="0" rIns="0" bIns="0" anchor="t">
            <a:spAutoFit/>
          </a:bodyPr>
          <a:lstStyle/>
          <a:p>
            <a:pPr algn="l">
              <a:lnSpc>
                <a:spcPct val="130000"/>
              </a:lnSpc>
              <a:spcAft>
                <a:spcPts val="0"/>
              </a:spcAft>
            </a:pPr>
            <a:r>
              <a:rPr sz="1250" b="0">
                <a:solidFill>
                  <a:srgbClr val="4A4542"/>
                </a:solidFill>
                <a:latin typeface="Segoe UI"/>
              </a:rPr>
              <a:t>STMicroelectronics</a:t>
            </a:r>
          </a:p>
        </p:txBody>
      </p:sp>
      <p:sp>
        <p:nvSpPr>
          <p:cNvPr id="13" name="TextBox 12"/>
          <p:cNvSpPr txBox="1"/>
          <p:nvPr/>
        </p:nvSpPr>
        <p:spPr>
          <a:xfrm>
            <a:off x="9581082" y="2286000"/>
            <a:ext cx="1675180" cy="495300"/>
          </a:xfrm>
          <a:prstGeom prst="rect">
            <a:avLst/>
          </a:prstGeom>
          <a:noFill/>
        </p:spPr>
        <p:txBody>
          <a:bodyPr wrap="square" lIns="0" tIns="0" rIns="0" bIns="0" anchor="t">
            <a:spAutoFit/>
          </a:bodyPr>
          <a:lstStyle/>
          <a:p>
            <a:pPr algn="l">
              <a:lnSpc>
                <a:spcPct val="130000"/>
              </a:lnSpc>
              <a:spcAft>
                <a:spcPts val="0"/>
              </a:spcAft>
            </a:pPr>
            <a:r>
              <a:rPr sz="1250" b="0">
                <a:solidFill>
                  <a:srgbClr val="4A4542"/>
                </a:solidFill>
                <a:latin typeface="Segoe UI"/>
              </a:rPr>
              <a:t>SLA0044</a:t>
            </a:r>
          </a:p>
        </p:txBody>
      </p:sp>
      <p:sp>
        <p:nvSpPr>
          <p:cNvPr id="14" name="Rectangle 13"/>
          <p:cNvSpPr/>
          <p:nvPr/>
        </p:nvSpPr>
        <p:spPr>
          <a:xfrm>
            <a:off x="777240" y="2854452"/>
            <a:ext cx="1060704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2982468"/>
            <a:ext cx="1887321" cy="495300"/>
          </a:xfrm>
          <a:prstGeom prst="rect">
            <a:avLst/>
          </a:prstGeom>
          <a:noFill/>
        </p:spPr>
        <p:txBody>
          <a:bodyPr wrap="square" lIns="0" tIns="0" rIns="0" bIns="0" anchor="t">
            <a:spAutoFit/>
          </a:bodyPr>
          <a:lstStyle/>
          <a:p>
            <a:pPr algn="l">
              <a:lnSpc>
                <a:spcPct val="130000"/>
              </a:lnSpc>
              <a:spcAft>
                <a:spcPts val="0"/>
              </a:spcAft>
            </a:pPr>
            <a:r>
              <a:rPr sz="1250" b="1">
                <a:solidFill>
                  <a:srgbClr val="1C1A19"/>
                </a:solidFill>
                <a:latin typeface="Segoe UI"/>
              </a:rPr>
              <a:t>MobileFaceNet</a:t>
            </a:r>
          </a:p>
        </p:txBody>
      </p:sp>
      <p:sp>
        <p:nvSpPr>
          <p:cNvPr id="16" name="TextBox 15"/>
          <p:cNvSpPr txBox="1"/>
          <p:nvPr/>
        </p:nvSpPr>
        <p:spPr>
          <a:xfrm>
            <a:off x="2792577" y="2982468"/>
            <a:ext cx="3160166" cy="495300"/>
          </a:xfrm>
          <a:prstGeom prst="rect">
            <a:avLst/>
          </a:prstGeom>
          <a:noFill/>
        </p:spPr>
        <p:txBody>
          <a:bodyPr wrap="square" lIns="0" tIns="0" rIns="0" bIns="0" anchor="t">
            <a:spAutoFit/>
          </a:bodyPr>
          <a:lstStyle/>
          <a:p>
            <a:pPr algn="l">
              <a:lnSpc>
                <a:spcPct val="130000"/>
              </a:lnSpc>
              <a:spcAft>
                <a:spcPts val="0"/>
              </a:spcAft>
            </a:pPr>
            <a:r>
              <a:rPr sz="1250" b="0">
                <a:solidFill>
                  <a:srgbClr val="4A4542"/>
                </a:solidFill>
                <a:latin typeface="Segoe UI"/>
              </a:rPr>
              <a:t>Encodes the face crop as a 128-dimension embedding for cosine matching</a:t>
            </a:r>
          </a:p>
        </p:txBody>
      </p:sp>
      <p:sp>
        <p:nvSpPr>
          <p:cNvPr id="17" name="TextBox 16"/>
          <p:cNvSpPr txBox="1"/>
          <p:nvPr/>
        </p:nvSpPr>
        <p:spPr>
          <a:xfrm>
            <a:off x="6080759" y="2982468"/>
            <a:ext cx="3372307" cy="495300"/>
          </a:xfrm>
          <a:prstGeom prst="rect">
            <a:avLst/>
          </a:prstGeom>
          <a:noFill/>
        </p:spPr>
        <p:txBody>
          <a:bodyPr wrap="square" lIns="0" tIns="0" rIns="0" bIns="0" anchor="t">
            <a:spAutoFit/>
          </a:bodyPr>
          <a:lstStyle/>
          <a:p>
            <a:pPr algn="l">
              <a:lnSpc>
                <a:spcPct val="130000"/>
              </a:lnSpc>
              <a:spcAft>
                <a:spcPts val="0"/>
              </a:spcAft>
            </a:pPr>
            <a:r>
              <a:rPr sz="1250" b="0">
                <a:solidFill>
                  <a:srgbClr val="4A4542"/>
                </a:solidFill>
                <a:latin typeface="Segoe UI"/>
              </a:rPr>
              <a:t>STMicroelectronics</a:t>
            </a:r>
          </a:p>
        </p:txBody>
      </p:sp>
      <p:sp>
        <p:nvSpPr>
          <p:cNvPr id="18" name="TextBox 17"/>
          <p:cNvSpPr txBox="1"/>
          <p:nvPr/>
        </p:nvSpPr>
        <p:spPr>
          <a:xfrm>
            <a:off x="9581082" y="2982468"/>
            <a:ext cx="1675180" cy="495300"/>
          </a:xfrm>
          <a:prstGeom prst="rect">
            <a:avLst/>
          </a:prstGeom>
          <a:noFill/>
        </p:spPr>
        <p:txBody>
          <a:bodyPr wrap="square" lIns="0" tIns="0" rIns="0" bIns="0" anchor="t">
            <a:spAutoFit/>
          </a:bodyPr>
          <a:lstStyle/>
          <a:p>
            <a:pPr algn="l">
              <a:lnSpc>
                <a:spcPct val="130000"/>
              </a:lnSpc>
              <a:spcAft>
                <a:spcPts val="0"/>
              </a:spcAft>
            </a:pPr>
            <a:r>
              <a:rPr sz="1250" b="0">
                <a:solidFill>
                  <a:srgbClr val="4A4542"/>
                </a:solidFill>
                <a:latin typeface="Segoe UI"/>
              </a:rPr>
              <a:t>SLA0044</a:t>
            </a:r>
          </a:p>
        </p:txBody>
      </p:sp>
      <p:sp>
        <p:nvSpPr>
          <p:cNvPr id="19" name="Rectangle 18"/>
          <p:cNvSpPr/>
          <p:nvPr/>
        </p:nvSpPr>
        <p:spPr>
          <a:xfrm>
            <a:off x="777240" y="3550920"/>
            <a:ext cx="1060704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3678936"/>
            <a:ext cx="1887321" cy="495300"/>
          </a:xfrm>
          <a:prstGeom prst="rect">
            <a:avLst/>
          </a:prstGeom>
          <a:noFill/>
        </p:spPr>
        <p:txBody>
          <a:bodyPr wrap="square" lIns="0" tIns="0" rIns="0" bIns="0" anchor="t">
            <a:spAutoFit/>
          </a:bodyPr>
          <a:lstStyle/>
          <a:p>
            <a:pPr algn="l">
              <a:lnSpc>
                <a:spcPct val="130000"/>
              </a:lnSpc>
              <a:spcAft>
                <a:spcPts val="0"/>
              </a:spcAft>
            </a:pPr>
            <a:r>
              <a:rPr sz="1250" b="1">
                <a:solidFill>
                  <a:srgbClr val="1C1A19"/>
                </a:solidFill>
                <a:latin typeface="Segoe UI"/>
              </a:rPr>
              <a:t>MediaPipe hand landmarks</a:t>
            </a:r>
          </a:p>
        </p:txBody>
      </p:sp>
      <p:sp>
        <p:nvSpPr>
          <p:cNvPr id="21" name="TextBox 20"/>
          <p:cNvSpPr txBox="1"/>
          <p:nvPr/>
        </p:nvSpPr>
        <p:spPr>
          <a:xfrm>
            <a:off x="2792577" y="3678936"/>
            <a:ext cx="3160166" cy="495300"/>
          </a:xfrm>
          <a:prstGeom prst="rect">
            <a:avLst/>
          </a:prstGeom>
          <a:noFill/>
        </p:spPr>
        <p:txBody>
          <a:bodyPr wrap="square" lIns="0" tIns="0" rIns="0" bIns="0" anchor="t">
            <a:spAutoFit/>
          </a:bodyPr>
          <a:lstStyle/>
          <a:p>
            <a:pPr algn="l">
              <a:lnSpc>
                <a:spcPct val="130000"/>
              </a:lnSpc>
              <a:spcAft>
                <a:spcPts val="0"/>
              </a:spcAft>
            </a:pPr>
            <a:r>
              <a:rPr sz="1250" b="0">
                <a:solidFill>
                  <a:srgbClr val="4A4542"/>
                </a:solidFill>
                <a:latin typeface="Segoe UI"/>
              </a:rPr>
              <a:t>21 keypoints, giving the fingertip position during the confirm window</a:t>
            </a:r>
          </a:p>
        </p:txBody>
      </p:sp>
      <p:sp>
        <p:nvSpPr>
          <p:cNvPr id="22" name="TextBox 21"/>
          <p:cNvSpPr txBox="1"/>
          <p:nvPr/>
        </p:nvSpPr>
        <p:spPr>
          <a:xfrm>
            <a:off x="6080759" y="3678936"/>
            <a:ext cx="3372307" cy="495300"/>
          </a:xfrm>
          <a:prstGeom prst="rect">
            <a:avLst/>
          </a:prstGeom>
          <a:noFill/>
        </p:spPr>
        <p:txBody>
          <a:bodyPr wrap="square" lIns="0" tIns="0" rIns="0" bIns="0" anchor="t">
            <a:spAutoFit/>
          </a:bodyPr>
          <a:lstStyle/>
          <a:p>
            <a:pPr algn="l">
              <a:lnSpc>
                <a:spcPct val="130000"/>
              </a:lnSpc>
              <a:spcAft>
                <a:spcPts val="0"/>
              </a:spcAft>
            </a:pPr>
            <a:r>
              <a:rPr sz="1250" b="0">
                <a:solidFill>
                  <a:srgbClr val="4A4542"/>
                </a:solidFill>
                <a:latin typeface="Segoe UI"/>
              </a:rPr>
              <a:t>Google, via ST's model zoo; selected, quantised and compiled here</a:t>
            </a:r>
          </a:p>
        </p:txBody>
      </p:sp>
      <p:sp>
        <p:nvSpPr>
          <p:cNvPr id="23" name="TextBox 22"/>
          <p:cNvSpPr txBox="1"/>
          <p:nvPr/>
        </p:nvSpPr>
        <p:spPr>
          <a:xfrm>
            <a:off x="9581082" y="3678936"/>
            <a:ext cx="1675180" cy="495300"/>
          </a:xfrm>
          <a:prstGeom prst="rect">
            <a:avLst/>
          </a:prstGeom>
          <a:noFill/>
        </p:spPr>
        <p:txBody>
          <a:bodyPr wrap="square" lIns="0" tIns="0" rIns="0" bIns="0" anchor="t">
            <a:spAutoFit/>
          </a:bodyPr>
          <a:lstStyle/>
          <a:p>
            <a:pPr algn="l">
              <a:lnSpc>
                <a:spcPct val="130000"/>
              </a:lnSpc>
              <a:spcAft>
                <a:spcPts val="0"/>
              </a:spcAft>
            </a:pPr>
            <a:r>
              <a:rPr sz="1250" b="0">
                <a:solidFill>
                  <a:srgbClr val="4A4542"/>
                </a:solidFill>
                <a:latin typeface="Segoe UI"/>
              </a:rPr>
              <a:t>Apache-2.0</a:t>
            </a:r>
          </a:p>
        </p:txBody>
      </p:sp>
      <p:sp>
        <p:nvSpPr>
          <p:cNvPr id="24" name="Rectangle 23"/>
          <p:cNvSpPr/>
          <p:nvPr/>
        </p:nvSpPr>
        <p:spPr>
          <a:xfrm>
            <a:off x="777240" y="4247388"/>
            <a:ext cx="1060704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7240" y="4375404"/>
            <a:ext cx="1887321" cy="495300"/>
          </a:xfrm>
          <a:prstGeom prst="rect">
            <a:avLst/>
          </a:prstGeom>
          <a:noFill/>
        </p:spPr>
        <p:txBody>
          <a:bodyPr wrap="square" lIns="0" tIns="0" rIns="0" bIns="0" anchor="t">
            <a:spAutoFit/>
          </a:bodyPr>
          <a:lstStyle/>
          <a:p>
            <a:pPr algn="l">
              <a:lnSpc>
                <a:spcPct val="130000"/>
              </a:lnSpc>
              <a:spcAft>
                <a:spcPts val="0"/>
              </a:spcAft>
            </a:pPr>
            <a:r>
              <a:rPr sz="1250" b="1">
                <a:solidFill>
                  <a:srgbClr val="1C1A19"/>
                </a:solidFill>
                <a:latin typeface="Segoe UI"/>
              </a:rPr>
              <a:t>Pill detector</a:t>
            </a:r>
          </a:p>
        </p:txBody>
      </p:sp>
      <p:sp>
        <p:nvSpPr>
          <p:cNvPr id="26" name="TextBox 25"/>
          <p:cNvSpPr txBox="1"/>
          <p:nvPr/>
        </p:nvSpPr>
        <p:spPr>
          <a:xfrm>
            <a:off x="2792577" y="4375404"/>
            <a:ext cx="3160166" cy="495300"/>
          </a:xfrm>
          <a:prstGeom prst="rect">
            <a:avLst/>
          </a:prstGeom>
          <a:noFill/>
        </p:spPr>
        <p:txBody>
          <a:bodyPr wrap="square" lIns="0" tIns="0" rIns="0" bIns="0" anchor="t">
            <a:spAutoFit/>
          </a:bodyPr>
          <a:lstStyle/>
          <a:p>
            <a:pPr algn="l">
              <a:lnSpc>
                <a:spcPct val="130000"/>
              </a:lnSpc>
              <a:spcAft>
                <a:spcPts val="0"/>
              </a:spcAft>
            </a:pPr>
            <a:r>
              <a:rPr sz="1250" b="0">
                <a:solidFill>
                  <a:srgbClr val="4A4542"/>
                </a:solidFill>
                <a:latin typeface="Segoe UI"/>
              </a:rPr>
              <a:t>Single-class detection in a mouth-centred region. Corroboration only</a:t>
            </a:r>
          </a:p>
        </p:txBody>
      </p:sp>
      <p:sp>
        <p:nvSpPr>
          <p:cNvPr id="27" name="TextBox 26"/>
          <p:cNvSpPr txBox="1"/>
          <p:nvPr/>
        </p:nvSpPr>
        <p:spPr>
          <a:xfrm>
            <a:off x="6080759" y="4375404"/>
            <a:ext cx="3372307" cy="495300"/>
          </a:xfrm>
          <a:prstGeom prst="rect">
            <a:avLst/>
          </a:prstGeom>
          <a:noFill/>
        </p:spPr>
        <p:txBody>
          <a:bodyPr wrap="square" lIns="0" tIns="0" rIns="0" bIns="0" anchor="t">
            <a:spAutoFit/>
          </a:bodyPr>
          <a:lstStyle/>
          <a:p>
            <a:pPr algn="l">
              <a:lnSpc>
                <a:spcPct val="130000"/>
              </a:lnSpc>
              <a:spcAft>
                <a:spcPts val="0"/>
              </a:spcAft>
            </a:pPr>
            <a:r>
              <a:rPr sz="1250" b="0">
                <a:solidFill>
                  <a:srgbClr val="4A4542"/>
                </a:solidFill>
                <a:latin typeface="Segoe UI"/>
              </a:rPr>
              <a:t>Trained by this team</a:t>
            </a:r>
          </a:p>
        </p:txBody>
      </p:sp>
      <p:sp>
        <p:nvSpPr>
          <p:cNvPr id="28" name="TextBox 27"/>
          <p:cNvSpPr txBox="1"/>
          <p:nvPr/>
        </p:nvSpPr>
        <p:spPr>
          <a:xfrm>
            <a:off x="9581082" y="4375404"/>
            <a:ext cx="1675180" cy="495300"/>
          </a:xfrm>
          <a:prstGeom prst="rect">
            <a:avLst/>
          </a:prstGeom>
          <a:noFill/>
        </p:spPr>
        <p:txBody>
          <a:bodyPr wrap="square" lIns="0" tIns="0" rIns="0" bIns="0" anchor="t">
            <a:spAutoFit/>
          </a:bodyPr>
          <a:lstStyle/>
          <a:p>
            <a:pPr algn="l">
              <a:lnSpc>
                <a:spcPct val="130000"/>
              </a:lnSpc>
              <a:spcAft>
                <a:spcPts val="0"/>
              </a:spcAft>
            </a:pPr>
            <a:r>
              <a:rPr sz="1250" b="0">
                <a:solidFill>
                  <a:srgbClr val="4A4542"/>
                </a:solidFill>
                <a:latin typeface="Segoe UI"/>
              </a:rPr>
              <a:t>AGPL-3.0, from the training framework</a:t>
            </a:r>
          </a:p>
        </p:txBody>
      </p:sp>
      <p:sp>
        <p:nvSpPr>
          <p:cNvPr id="29" name="Rectangle 28"/>
          <p:cNvSpPr/>
          <p:nvPr/>
        </p:nvSpPr>
        <p:spPr>
          <a:xfrm>
            <a:off x="777240" y="4943856"/>
            <a:ext cx="1060704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77240" y="5163312"/>
            <a:ext cx="10607040" cy="1314907"/>
          </a:xfrm>
          <a:prstGeom prst="rect">
            <a:avLst/>
          </a:prstGeom>
          <a:solidFill>
            <a:srgbClr val="F7F4F2"/>
          </a:solidFill>
          <a:ln w="12700">
            <a:solidFill>
              <a:srgbClr val="E6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97280" y="5391912"/>
            <a:ext cx="9966960" cy="857707"/>
          </a:xfrm>
          <a:prstGeom prst="rect">
            <a:avLst/>
          </a:prstGeom>
          <a:noFill/>
        </p:spPr>
        <p:txBody>
          <a:bodyPr wrap="square" lIns="0" tIns="0" rIns="0" bIns="0" anchor="t">
            <a:spAutoFit/>
          </a:bodyPr>
          <a:lstStyle/>
          <a:p>
            <a:pPr algn="l">
              <a:lnSpc>
                <a:spcPct val="134000"/>
              </a:lnSpc>
              <a:spcAft>
                <a:spcPts val="0"/>
              </a:spcAft>
            </a:pPr>
            <a:r>
              <a:rPr sz="1400" b="1">
                <a:solidFill>
                  <a:srgbClr val="1C1A19"/>
                </a:solidFill>
                <a:latin typeface="Segoe UI"/>
              </a:rPr>
              <a:t>The pill detector corroborates and does not decide. </a:t>
            </a:r>
            <a:r>
              <a:rPr sz="1400" b="0">
                <a:solidFill>
                  <a:srgbClr val="4A4542"/>
                </a:solidFill>
                <a:latin typeface="Segoe UI"/>
              </a:rPr>
              <a:t>Trained here on a public pill dataset and adapted to the accelerator. At the deployment distance a pill is about an 8-pixel object and per-frame detection is around 7%. It carries AGPL-3.0 because Ultralytics YOLOv8 trained it and that licence follows the weights, so the pipeline is published with them.</a:t>
            </a:r>
          </a:p>
        </p:txBody>
      </p:sp>
      <p:sp>
        <p:nvSpPr>
          <p:cNvPr id="32" name="TextBox 31"/>
          <p:cNvSpPr txBox="1"/>
          <p:nvPr/>
        </p:nvSpPr>
        <p:spPr>
          <a:xfrm>
            <a:off x="10865815" y="6291072"/>
            <a:ext cx="548640" cy="274320"/>
          </a:xfrm>
          <a:prstGeom prst="rect">
            <a:avLst/>
          </a:prstGeom>
          <a:noFill/>
        </p:spPr>
        <p:txBody>
          <a:bodyPr wrap="square" lIns="0" tIns="0" rIns="0" bIns="0" anchor="t">
            <a:spAutoFit/>
          </a:bodyPr>
          <a:lstStyle/>
          <a:p>
            <a:pPr algn="r">
              <a:lnSpc>
                <a:spcPct val="118000"/>
              </a:lnSpc>
              <a:spcAft>
                <a:spcPts val="0"/>
              </a:spcAft>
            </a:pPr>
            <a:r>
              <a:rPr sz="1100" b="0">
                <a:solidFill>
                  <a:srgbClr val="6E6864"/>
                </a:solidFill>
                <a:latin typeface="Segoe U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4F2"/>
        </a:solidFill>
        <a:effectLst/>
      </p:bgPr>
    </p:bg>
    <p:spTree>
      <p:nvGrpSpPr>
        <p:cNvPr id="1" name=""/>
        <p:cNvGrpSpPr/>
        <p:nvPr/>
      </p:nvGrpSpPr>
      <p:grpSpPr>
        <a:xfrm>
          <a:off x="0" y="0"/>
          <a:ext cx="0" cy="0"/>
          <a:chOff x="0" y="0"/>
          <a:chExt cx="0" cy="0"/>
        </a:xfrm>
      </p:grpSpPr>
      <p:sp>
        <p:nvSpPr>
          <p:cNvPr id="2" name="TextBox 1"/>
          <p:cNvSpPr txBox="1"/>
          <p:nvPr/>
        </p:nvSpPr>
        <p:spPr>
          <a:xfrm>
            <a:off x="777240" y="566928"/>
            <a:ext cx="10637215" cy="274320"/>
          </a:xfrm>
          <a:prstGeom prst="rect">
            <a:avLst/>
          </a:prstGeom>
          <a:noFill/>
        </p:spPr>
        <p:txBody>
          <a:bodyPr wrap="square" lIns="0" tIns="0" rIns="0" bIns="0" anchor="t">
            <a:spAutoFit/>
          </a:bodyPr>
          <a:lstStyle/>
          <a:p>
            <a:pPr algn="l">
              <a:lnSpc>
                <a:spcPct val="118000"/>
              </a:lnSpc>
              <a:spcAft>
                <a:spcPts val="0"/>
              </a:spcAft>
            </a:pPr>
            <a:r>
              <a:rPr sz="1050" b="1">
                <a:solidFill>
                  <a:srgbClr val="C2651F"/>
                </a:solidFill>
                <a:latin typeface="Segoe UI"/>
              </a:rPr>
              <a:t>FACE RECOGNITION PIPELINE</a:t>
            </a:r>
          </a:p>
        </p:txBody>
      </p:sp>
      <p:sp>
        <p:nvSpPr>
          <p:cNvPr id="3" name="TextBox 2"/>
          <p:cNvSpPr txBox="1"/>
          <p:nvPr/>
        </p:nvSpPr>
        <p:spPr>
          <a:xfrm>
            <a:off x="777240" y="868680"/>
            <a:ext cx="10637215" cy="480060"/>
          </a:xfrm>
          <a:prstGeom prst="rect">
            <a:avLst/>
          </a:prstGeom>
          <a:noFill/>
        </p:spPr>
        <p:txBody>
          <a:bodyPr wrap="square" lIns="0" tIns="0" rIns="0" bIns="0" anchor="t">
            <a:spAutoFit/>
          </a:bodyPr>
          <a:lstStyle/>
          <a:p>
            <a:pPr algn="l">
              <a:lnSpc>
                <a:spcPct val="105000"/>
              </a:lnSpc>
              <a:spcAft>
                <a:spcPts val="0"/>
              </a:spcAft>
            </a:pPr>
            <a:r>
              <a:rPr sz="3000" b="1">
                <a:solidFill>
                  <a:srgbClr val="1C1A19"/>
                </a:solidFill>
                <a:latin typeface="Segoe UI"/>
              </a:rPr>
              <a:t>209 ms end to end, invariant across captures</a:t>
            </a:r>
          </a:p>
        </p:txBody>
      </p:sp>
      <p:sp>
        <p:nvSpPr>
          <p:cNvPr id="4" name="Rectangle 3"/>
          <p:cNvSpPr/>
          <p:nvPr/>
        </p:nvSpPr>
        <p:spPr>
          <a:xfrm>
            <a:off x="777240" y="1627632"/>
            <a:ext cx="10637215" cy="20320"/>
          </a:xfrm>
          <a:prstGeom prst="rect">
            <a:avLst/>
          </a:prstGeom>
          <a:solidFill>
            <a:srgbClr val="1C1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 y="1920240"/>
            <a:ext cx="1872691" cy="936954"/>
          </a:xfrm>
          <a:prstGeom prst="rect">
            <a:avLst/>
          </a:prstGeom>
          <a:solidFill>
            <a:srgbClr val="F1EBE8"/>
          </a:solidFill>
          <a:ln w="12700">
            <a:solidFill>
              <a:srgbClr val="E6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05256" y="2075688"/>
            <a:ext cx="1616659" cy="626058"/>
          </a:xfrm>
          <a:prstGeom prst="rect">
            <a:avLst/>
          </a:prstGeom>
          <a:noFill/>
        </p:spPr>
        <p:txBody>
          <a:bodyPr wrap="square" lIns="0" tIns="0" rIns="0" bIns="0" anchor="t">
            <a:spAutoFit/>
          </a:bodyPr>
          <a:lstStyle/>
          <a:p>
            <a:pPr algn="l">
              <a:lnSpc>
                <a:spcPct val="126000"/>
              </a:lnSpc>
              <a:spcAft>
                <a:spcPts val="200"/>
              </a:spcAft>
            </a:pPr>
            <a:r>
              <a:rPr sz="1100" b="1">
                <a:solidFill>
                  <a:srgbClr val="1C1A19"/>
                </a:solidFill>
                <a:latin typeface="Segoe UI"/>
              </a:rPr>
              <a:t>Camera frame</a:t>
            </a:r>
          </a:p>
          <a:p>
            <a:pPr algn="l">
              <a:lnSpc>
                <a:spcPct val="126000"/>
              </a:lnSpc>
              <a:spcAft>
                <a:spcPts val="200"/>
              </a:spcAft>
            </a:pPr>
            <a:r>
              <a:rPr sz="1050" b="0">
                <a:solidFill>
                  <a:srgbClr val="4A4542"/>
                </a:solidFill>
                <a:latin typeface="Segoe UI"/>
              </a:rPr>
              <a:t>one capture, the display held still</a:t>
            </a:r>
          </a:p>
        </p:txBody>
      </p:sp>
      <p:sp>
        <p:nvSpPr>
          <p:cNvPr id="7" name="Right Arrow 6"/>
          <p:cNvSpPr/>
          <p:nvPr/>
        </p:nvSpPr>
        <p:spPr>
          <a:xfrm>
            <a:off x="2713939" y="2320137"/>
            <a:ext cx="182880" cy="137160"/>
          </a:xfrm>
          <a:prstGeom prst="rightArrow">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960827" y="1920240"/>
            <a:ext cx="1872691" cy="936954"/>
          </a:xfrm>
          <a:prstGeom prst="rect">
            <a:avLst/>
          </a:prstGeom>
          <a:solidFill>
            <a:srgbClr val="F1EBE8"/>
          </a:solidFill>
          <a:ln w="12700">
            <a:solidFill>
              <a:srgbClr val="E6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088843" y="2075688"/>
            <a:ext cx="1616659" cy="626058"/>
          </a:xfrm>
          <a:prstGeom prst="rect">
            <a:avLst/>
          </a:prstGeom>
          <a:noFill/>
        </p:spPr>
        <p:txBody>
          <a:bodyPr wrap="square" lIns="0" tIns="0" rIns="0" bIns="0" anchor="t">
            <a:spAutoFit/>
          </a:bodyPr>
          <a:lstStyle/>
          <a:p>
            <a:pPr algn="l">
              <a:lnSpc>
                <a:spcPct val="126000"/>
              </a:lnSpc>
              <a:spcAft>
                <a:spcPts val="200"/>
              </a:spcAft>
            </a:pPr>
            <a:r>
              <a:rPr sz="1100" b="1">
                <a:solidFill>
                  <a:srgbClr val="1C1A19"/>
                </a:solidFill>
                <a:latin typeface="Segoe UI"/>
              </a:rPr>
              <a:t>CenterFace</a:t>
            </a:r>
          </a:p>
          <a:p>
            <a:pPr algn="l">
              <a:lnSpc>
                <a:spcPct val="126000"/>
              </a:lnSpc>
              <a:spcAft>
                <a:spcPts val="200"/>
              </a:spcAft>
            </a:pPr>
            <a:r>
              <a:rPr sz="1050" b="0">
                <a:solidFill>
                  <a:srgbClr val="4A4542"/>
                </a:solidFill>
                <a:latin typeface="Segoe UI"/>
              </a:rPr>
              <a:t>face box and five landmarks</a:t>
            </a:r>
          </a:p>
        </p:txBody>
      </p:sp>
      <p:sp>
        <p:nvSpPr>
          <p:cNvPr id="10" name="Right Arrow 9"/>
          <p:cNvSpPr/>
          <p:nvPr/>
        </p:nvSpPr>
        <p:spPr>
          <a:xfrm>
            <a:off x="4897526" y="2320137"/>
            <a:ext cx="182880" cy="137160"/>
          </a:xfrm>
          <a:prstGeom prst="rightArrow">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144414" y="1920240"/>
            <a:ext cx="1872691" cy="936954"/>
          </a:xfrm>
          <a:prstGeom prst="rect">
            <a:avLst/>
          </a:prstGeom>
          <a:solidFill>
            <a:srgbClr val="F1EBE8"/>
          </a:solidFill>
          <a:ln w="12700">
            <a:solidFill>
              <a:srgbClr val="E6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72430" y="2075688"/>
            <a:ext cx="1616659" cy="626058"/>
          </a:xfrm>
          <a:prstGeom prst="rect">
            <a:avLst/>
          </a:prstGeom>
          <a:noFill/>
        </p:spPr>
        <p:txBody>
          <a:bodyPr wrap="square" lIns="0" tIns="0" rIns="0" bIns="0" anchor="t">
            <a:spAutoFit/>
          </a:bodyPr>
          <a:lstStyle/>
          <a:p>
            <a:pPr algn="l">
              <a:lnSpc>
                <a:spcPct val="126000"/>
              </a:lnSpc>
              <a:spcAft>
                <a:spcPts val="200"/>
              </a:spcAft>
            </a:pPr>
            <a:r>
              <a:rPr sz="1100" b="1">
                <a:solidFill>
                  <a:srgbClr val="1C1A19"/>
                </a:solidFill>
                <a:latin typeface="Segoe UI"/>
              </a:rPr>
              <a:t>MobileFaceNet</a:t>
            </a:r>
          </a:p>
          <a:p>
            <a:pPr algn="l">
              <a:lnSpc>
                <a:spcPct val="126000"/>
              </a:lnSpc>
              <a:spcAft>
                <a:spcPts val="200"/>
              </a:spcAft>
            </a:pPr>
            <a:r>
              <a:rPr sz="1050" b="0">
                <a:solidFill>
                  <a:srgbClr val="4A4542"/>
                </a:solidFill>
                <a:latin typeface="Segoe UI"/>
              </a:rPr>
              <a:t>a 128-dimension embedding</a:t>
            </a:r>
          </a:p>
        </p:txBody>
      </p:sp>
      <p:sp>
        <p:nvSpPr>
          <p:cNvPr id="13" name="Right Arrow 12"/>
          <p:cNvSpPr/>
          <p:nvPr/>
        </p:nvSpPr>
        <p:spPr>
          <a:xfrm>
            <a:off x="7081113" y="2320137"/>
            <a:ext cx="182880" cy="137160"/>
          </a:xfrm>
          <a:prstGeom prst="rightArrow">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28001" y="1920240"/>
            <a:ext cx="1872691" cy="936954"/>
          </a:xfrm>
          <a:prstGeom prst="rect">
            <a:avLst/>
          </a:prstGeom>
          <a:solidFill>
            <a:srgbClr val="F1EBE8"/>
          </a:solidFill>
          <a:ln w="12700">
            <a:solidFill>
              <a:srgbClr val="E6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56017" y="2075688"/>
            <a:ext cx="1616659" cy="626058"/>
          </a:xfrm>
          <a:prstGeom prst="rect">
            <a:avLst/>
          </a:prstGeom>
          <a:noFill/>
        </p:spPr>
        <p:txBody>
          <a:bodyPr wrap="square" lIns="0" tIns="0" rIns="0" bIns="0" anchor="t">
            <a:spAutoFit/>
          </a:bodyPr>
          <a:lstStyle/>
          <a:p>
            <a:pPr algn="l">
              <a:lnSpc>
                <a:spcPct val="126000"/>
              </a:lnSpc>
              <a:spcAft>
                <a:spcPts val="200"/>
              </a:spcAft>
            </a:pPr>
            <a:r>
              <a:rPr sz="1100" b="1">
                <a:solidFill>
                  <a:srgbClr val="1C1A19"/>
                </a:solidFill>
                <a:latin typeface="Segoe UI"/>
              </a:rPr>
              <a:t>Normalise</a:t>
            </a:r>
          </a:p>
          <a:p>
            <a:pPr algn="l">
              <a:lnSpc>
                <a:spcPct val="126000"/>
              </a:lnSpc>
              <a:spcAft>
                <a:spcPts val="200"/>
              </a:spcAft>
            </a:pPr>
            <a:r>
              <a:rPr sz="1050" b="0">
                <a:solidFill>
                  <a:srgbClr val="4A4542"/>
                </a:solidFill>
                <a:latin typeface="Segoe UI"/>
              </a:rPr>
              <a:t>L2, then quantise to int8</a:t>
            </a:r>
          </a:p>
        </p:txBody>
      </p:sp>
      <p:sp>
        <p:nvSpPr>
          <p:cNvPr id="16" name="Right Arrow 15"/>
          <p:cNvSpPr/>
          <p:nvPr/>
        </p:nvSpPr>
        <p:spPr>
          <a:xfrm>
            <a:off x="9264700" y="2320137"/>
            <a:ext cx="182880" cy="137160"/>
          </a:xfrm>
          <a:prstGeom prst="rightArrow">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511588" y="1920240"/>
            <a:ext cx="1872691" cy="936954"/>
          </a:xfrm>
          <a:prstGeom prst="rect">
            <a:avLst/>
          </a:prstGeom>
          <a:solidFill>
            <a:srgbClr val="F1EBE8"/>
          </a:solidFill>
          <a:ln w="12700">
            <a:solidFill>
              <a:srgbClr val="E6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39604" y="2075688"/>
            <a:ext cx="1616659" cy="626058"/>
          </a:xfrm>
          <a:prstGeom prst="rect">
            <a:avLst/>
          </a:prstGeom>
          <a:noFill/>
        </p:spPr>
        <p:txBody>
          <a:bodyPr wrap="square" lIns="0" tIns="0" rIns="0" bIns="0" anchor="t">
            <a:spAutoFit/>
          </a:bodyPr>
          <a:lstStyle/>
          <a:p>
            <a:pPr algn="l">
              <a:lnSpc>
                <a:spcPct val="126000"/>
              </a:lnSpc>
              <a:spcAft>
                <a:spcPts val="200"/>
              </a:spcAft>
            </a:pPr>
            <a:r>
              <a:rPr sz="1100" b="1">
                <a:solidFill>
                  <a:srgbClr val="1C1A19"/>
                </a:solidFill>
                <a:latin typeface="Segoe UI"/>
              </a:rPr>
              <a:t>Cosine match</a:t>
            </a:r>
          </a:p>
          <a:p>
            <a:pPr algn="l">
              <a:lnSpc>
                <a:spcPct val="126000"/>
              </a:lnSpc>
              <a:spcAft>
                <a:spcPts val="200"/>
              </a:spcAft>
            </a:pPr>
            <a:r>
              <a:rPr sz="1050" b="0">
                <a:solidFill>
                  <a:srgbClr val="4A4542"/>
                </a:solidFill>
                <a:latin typeface="Segoe UI"/>
              </a:rPr>
              <a:t>against the gallery, accepted at 0.65</a:t>
            </a:r>
          </a:p>
        </p:txBody>
      </p:sp>
      <p:sp>
        <p:nvSpPr>
          <p:cNvPr id="19" name="TextBox 18"/>
          <p:cNvSpPr txBox="1"/>
          <p:nvPr/>
        </p:nvSpPr>
        <p:spPr>
          <a:xfrm>
            <a:off x="777240" y="3222954"/>
            <a:ext cx="3063240" cy="508000"/>
          </a:xfrm>
          <a:prstGeom prst="rect">
            <a:avLst/>
          </a:prstGeom>
          <a:noFill/>
        </p:spPr>
        <p:txBody>
          <a:bodyPr wrap="square" lIns="0" tIns="0" rIns="0" bIns="0" anchor="t">
            <a:spAutoFit/>
          </a:bodyPr>
          <a:lstStyle/>
          <a:p>
            <a:pPr algn="l">
              <a:lnSpc>
                <a:spcPct val="100000"/>
              </a:lnSpc>
              <a:spcAft>
                <a:spcPts val="0"/>
              </a:spcAft>
            </a:pPr>
            <a:r>
              <a:rPr sz="3200" b="1">
                <a:solidFill>
                  <a:srgbClr val="C2651F"/>
                </a:solidFill>
                <a:latin typeface="Segoe UI"/>
              </a:rPr>
              <a:t>209 ms</a:t>
            </a:r>
          </a:p>
        </p:txBody>
      </p:sp>
      <p:sp>
        <p:nvSpPr>
          <p:cNvPr id="20" name="TextBox 19"/>
          <p:cNvSpPr txBox="1"/>
          <p:nvPr/>
        </p:nvSpPr>
        <p:spPr>
          <a:xfrm>
            <a:off x="777240" y="3751274"/>
            <a:ext cx="3063240" cy="967435"/>
          </a:xfrm>
          <a:prstGeom prst="rect">
            <a:avLst/>
          </a:prstGeom>
          <a:noFill/>
        </p:spPr>
        <p:txBody>
          <a:bodyPr wrap="square" lIns="0" tIns="0" rIns="0" bIns="0" anchor="t">
            <a:spAutoFit/>
          </a:bodyPr>
          <a:lstStyle/>
          <a:p>
            <a:pPr algn="l">
              <a:lnSpc>
                <a:spcPct val="138000"/>
              </a:lnSpc>
              <a:spcAft>
                <a:spcPts val="0"/>
              </a:spcAft>
            </a:pPr>
            <a:r>
              <a:rPr sz="1150" b="0">
                <a:solidFill>
                  <a:srgbClr val="6E6864"/>
                </a:solidFill>
                <a:latin typeface="Segoe UI"/>
              </a:rPr>
              <a:t>end to end, detector and embedder and the kernel IPC between them, identical to the millisecond across four captures with different faces and different detector confidences.</a:t>
            </a:r>
          </a:p>
        </p:txBody>
      </p:sp>
      <p:sp>
        <p:nvSpPr>
          <p:cNvPr id="21" name="TextBox 20"/>
          <p:cNvSpPr txBox="1"/>
          <p:nvPr/>
        </p:nvSpPr>
        <p:spPr>
          <a:xfrm>
            <a:off x="4206240" y="3222954"/>
            <a:ext cx="3063240" cy="508000"/>
          </a:xfrm>
          <a:prstGeom prst="rect">
            <a:avLst/>
          </a:prstGeom>
          <a:noFill/>
        </p:spPr>
        <p:txBody>
          <a:bodyPr wrap="square" lIns="0" tIns="0" rIns="0" bIns="0" anchor="t">
            <a:spAutoFit/>
          </a:bodyPr>
          <a:lstStyle/>
          <a:p>
            <a:pPr algn="l">
              <a:lnSpc>
                <a:spcPct val="100000"/>
              </a:lnSpc>
              <a:spcAft>
                <a:spcPts val="0"/>
              </a:spcAft>
            </a:pPr>
            <a:r>
              <a:rPr sz="3200" b="1">
                <a:solidFill>
                  <a:srgbClr val="C2651F"/>
                </a:solidFill>
                <a:latin typeface="Segoe UI"/>
              </a:rPr>
              <a:t>1111 ms</a:t>
            </a:r>
          </a:p>
        </p:txBody>
      </p:sp>
      <p:sp>
        <p:nvSpPr>
          <p:cNvPr id="22" name="TextBox 21"/>
          <p:cNvSpPr txBox="1"/>
          <p:nvPr/>
        </p:nvSpPr>
        <p:spPr>
          <a:xfrm>
            <a:off x="4206240" y="3751274"/>
            <a:ext cx="3063240" cy="725576"/>
          </a:xfrm>
          <a:prstGeom prst="rect">
            <a:avLst/>
          </a:prstGeom>
          <a:noFill/>
        </p:spPr>
        <p:txBody>
          <a:bodyPr wrap="square" lIns="0" tIns="0" rIns="0" bIns="0" anchor="t">
            <a:spAutoFit/>
          </a:bodyPr>
          <a:lstStyle/>
          <a:p>
            <a:pPr algn="l">
              <a:lnSpc>
                <a:spcPct val="138000"/>
              </a:lnSpc>
              <a:spcAft>
                <a:spcPts val="0"/>
              </a:spcAft>
            </a:pPr>
            <a:r>
              <a:rPr sz="1150" b="0">
                <a:solidFill>
                  <a:srgbClr val="6E6864"/>
                </a:solidFill>
                <a:latin typeface="Segoe UI"/>
              </a:rPr>
              <a:t>a failed capture: three detector passes and two 500 ms waits, which is the cost the retry screen is paying for.</a:t>
            </a:r>
          </a:p>
        </p:txBody>
      </p:sp>
      <p:sp>
        <p:nvSpPr>
          <p:cNvPr id="23" name="TextBox 22"/>
          <p:cNvSpPr txBox="1"/>
          <p:nvPr/>
        </p:nvSpPr>
        <p:spPr>
          <a:xfrm>
            <a:off x="7635240" y="3222954"/>
            <a:ext cx="3063240" cy="508000"/>
          </a:xfrm>
          <a:prstGeom prst="rect">
            <a:avLst/>
          </a:prstGeom>
          <a:noFill/>
        </p:spPr>
        <p:txBody>
          <a:bodyPr wrap="square" lIns="0" tIns="0" rIns="0" bIns="0" anchor="t">
            <a:spAutoFit/>
          </a:bodyPr>
          <a:lstStyle/>
          <a:p>
            <a:pPr algn="l">
              <a:lnSpc>
                <a:spcPct val="100000"/>
              </a:lnSpc>
              <a:spcAft>
                <a:spcPts val="0"/>
              </a:spcAft>
            </a:pPr>
            <a:r>
              <a:rPr sz="3200" b="1">
                <a:solidFill>
                  <a:srgbClr val="C2651F"/>
                </a:solidFill>
                <a:latin typeface="Segoe UI"/>
              </a:rPr>
              <a:t>0.65</a:t>
            </a:r>
          </a:p>
        </p:txBody>
      </p:sp>
      <p:sp>
        <p:nvSpPr>
          <p:cNvPr id="24" name="TextBox 23"/>
          <p:cNvSpPr txBox="1"/>
          <p:nvPr/>
        </p:nvSpPr>
        <p:spPr>
          <a:xfrm>
            <a:off x="7635240" y="3751274"/>
            <a:ext cx="3063240" cy="967435"/>
          </a:xfrm>
          <a:prstGeom prst="rect">
            <a:avLst/>
          </a:prstGeom>
          <a:noFill/>
        </p:spPr>
        <p:txBody>
          <a:bodyPr wrap="square" lIns="0" tIns="0" rIns="0" bIns="0" anchor="t">
            <a:spAutoFit/>
          </a:bodyPr>
          <a:lstStyle/>
          <a:p>
            <a:pPr algn="l">
              <a:lnSpc>
                <a:spcPct val="138000"/>
              </a:lnSpc>
              <a:spcAft>
                <a:spcPts val="0"/>
              </a:spcAft>
            </a:pPr>
            <a:r>
              <a:rPr sz="1150" b="0">
                <a:solidFill>
                  <a:srgbClr val="6E6864"/>
                </a:solidFill>
                <a:latin typeface="Segoe UI"/>
              </a:rPr>
              <a:t>the cosine accept threshold. It was deliberately not moved blind, because loosening it trades a recoverable false rejection for a false acceptance.</a:t>
            </a:r>
          </a:p>
        </p:txBody>
      </p:sp>
      <p:sp>
        <p:nvSpPr>
          <p:cNvPr id="25" name="Rectangle 24"/>
          <p:cNvSpPr/>
          <p:nvPr/>
        </p:nvSpPr>
        <p:spPr>
          <a:xfrm>
            <a:off x="777240" y="5169789"/>
            <a:ext cx="10637215"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 y="5370957"/>
            <a:ext cx="10637215" cy="709803"/>
          </a:xfrm>
          <a:prstGeom prst="rect">
            <a:avLst/>
          </a:prstGeom>
          <a:noFill/>
        </p:spPr>
        <p:txBody>
          <a:bodyPr wrap="square" lIns="0" tIns="0" rIns="0" bIns="0" anchor="t">
            <a:spAutoFit/>
          </a:bodyPr>
          <a:lstStyle/>
          <a:p>
            <a:pPr algn="l">
              <a:lnSpc>
                <a:spcPct val="135000"/>
              </a:lnSpc>
              <a:spcAft>
                <a:spcPts val="0"/>
              </a:spcAft>
            </a:pPr>
            <a:r>
              <a:rPr sz="1150" b="0">
                <a:solidFill>
                  <a:srgbClr val="6E6864"/>
                </a:solidFill>
                <a:latin typeface="Segoe UI"/>
              </a:rPr>
              <a:t>The invariance is the useful part: the runtime executes a fixed epoch schedule for a fixed input shape, so cost does not depend on image content, and holding the display still for the capture window is defensible rather than a stall. Match scores of 57 to 88 were measured for one person under varying illumination, rejecting them about one time in three; the retry screen recovered every case. Enrol in the light the device will be used in.</a:t>
            </a:r>
          </a:p>
        </p:txBody>
      </p:sp>
      <p:sp>
        <p:nvSpPr>
          <p:cNvPr id="27" name="TextBox 26"/>
          <p:cNvSpPr txBox="1"/>
          <p:nvPr/>
        </p:nvSpPr>
        <p:spPr>
          <a:xfrm>
            <a:off x="10865815" y="6291072"/>
            <a:ext cx="548640" cy="274320"/>
          </a:xfrm>
          <a:prstGeom prst="rect">
            <a:avLst/>
          </a:prstGeom>
          <a:noFill/>
        </p:spPr>
        <p:txBody>
          <a:bodyPr wrap="square" lIns="0" tIns="0" rIns="0" bIns="0" anchor="t">
            <a:spAutoFit/>
          </a:bodyPr>
          <a:lstStyle/>
          <a:p>
            <a:pPr algn="r">
              <a:lnSpc>
                <a:spcPct val="118000"/>
              </a:lnSpc>
              <a:spcAft>
                <a:spcPts val="0"/>
              </a:spcAft>
            </a:pPr>
            <a:r>
              <a:rPr sz="1100" b="0">
                <a:solidFill>
                  <a:srgbClr val="6E6864"/>
                </a:solidFill>
                <a:latin typeface="Segoe U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4F2"/>
        </a:solidFill>
        <a:effectLst/>
      </p:bgPr>
    </p:bg>
    <p:spTree>
      <p:nvGrpSpPr>
        <p:cNvPr id="1" name=""/>
        <p:cNvGrpSpPr/>
        <p:nvPr/>
      </p:nvGrpSpPr>
      <p:grpSpPr>
        <a:xfrm>
          <a:off x="0" y="0"/>
          <a:ext cx="0" cy="0"/>
          <a:chOff x="0" y="0"/>
          <a:chExt cx="0" cy="0"/>
        </a:xfrm>
      </p:grpSpPr>
      <p:sp>
        <p:nvSpPr>
          <p:cNvPr id="2" name="TextBox 1"/>
          <p:cNvSpPr txBox="1"/>
          <p:nvPr/>
        </p:nvSpPr>
        <p:spPr>
          <a:xfrm>
            <a:off x="777240" y="566928"/>
            <a:ext cx="10637215" cy="274320"/>
          </a:xfrm>
          <a:prstGeom prst="rect">
            <a:avLst/>
          </a:prstGeom>
          <a:noFill/>
        </p:spPr>
        <p:txBody>
          <a:bodyPr wrap="square" lIns="0" tIns="0" rIns="0" bIns="0" anchor="t">
            <a:spAutoFit/>
          </a:bodyPr>
          <a:lstStyle/>
          <a:p>
            <a:pPr algn="l">
              <a:lnSpc>
                <a:spcPct val="118000"/>
              </a:lnSpc>
              <a:spcAft>
                <a:spcPts val="0"/>
              </a:spcAft>
            </a:pPr>
            <a:r>
              <a:rPr sz="1050" b="1">
                <a:solidFill>
                  <a:srgbClr val="C2651F"/>
                </a:solidFill>
                <a:latin typeface="Segoe UI"/>
              </a:rPr>
              <a:t>INTAKE VERIFICATION</a:t>
            </a:r>
          </a:p>
        </p:txBody>
      </p:sp>
      <p:sp>
        <p:nvSpPr>
          <p:cNvPr id="3" name="TextBox 2"/>
          <p:cNvSpPr txBox="1"/>
          <p:nvPr/>
        </p:nvSpPr>
        <p:spPr>
          <a:xfrm>
            <a:off x="777240" y="868680"/>
            <a:ext cx="10637215" cy="480060"/>
          </a:xfrm>
          <a:prstGeom prst="rect">
            <a:avLst/>
          </a:prstGeom>
          <a:noFill/>
        </p:spPr>
        <p:txBody>
          <a:bodyPr wrap="square" lIns="0" tIns="0" rIns="0" bIns="0" anchor="t">
            <a:spAutoFit/>
          </a:bodyPr>
          <a:lstStyle/>
          <a:p>
            <a:pPr algn="l">
              <a:lnSpc>
                <a:spcPct val="105000"/>
              </a:lnSpc>
              <a:spcAft>
                <a:spcPts val="0"/>
              </a:spcAft>
            </a:pPr>
            <a:r>
              <a:rPr sz="3000" b="1">
                <a:solidFill>
                  <a:srgbClr val="1C1A19"/>
                </a:solidFill>
                <a:latin typeface="Segoe UI"/>
              </a:rPr>
              <a:t>Hand geometry decides; pill detection corroborates</a:t>
            </a:r>
          </a:p>
        </p:txBody>
      </p:sp>
      <p:sp>
        <p:nvSpPr>
          <p:cNvPr id="4" name="Rectangle 3"/>
          <p:cNvSpPr/>
          <p:nvPr/>
        </p:nvSpPr>
        <p:spPr>
          <a:xfrm>
            <a:off x="777240" y="1627632"/>
            <a:ext cx="10637215" cy="20320"/>
          </a:xfrm>
          <a:prstGeom prst="rect">
            <a:avLst/>
          </a:prstGeom>
          <a:solidFill>
            <a:srgbClr val="1C1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 y="1920240"/>
            <a:ext cx="1872691" cy="936954"/>
          </a:xfrm>
          <a:prstGeom prst="rect">
            <a:avLst/>
          </a:prstGeom>
          <a:solidFill>
            <a:srgbClr val="F1EBE8"/>
          </a:solidFill>
          <a:ln w="12700">
            <a:solidFill>
              <a:srgbClr val="E6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05256" y="2075688"/>
            <a:ext cx="1616659" cy="626058"/>
          </a:xfrm>
          <a:prstGeom prst="rect">
            <a:avLst/>
          </a:prstGeom>
          <a:noFill/>
        </p:spPr>
        <p:txBody>
          <a:bodyPr wrap="square" lIns="0" tIns="0" rIns="0" bIns="0" anchor="t">
            <a:spAutoFit/>
          </a:bodyPr>
          <a:lstStyle/>
          <a:p>
            <a:pPr algn="l">
              <a:lnSpc>
                <a:spcPct val="126000"/>
              </a:lnSpc>
              <a:spcAft>
                <a:spcPts val="200"/>
              </a:spcAft>
            </a:pPr>
            <a:r>
              <a:rPr sz="1100" b="1">
                <a:solidFill>
                  <a:srgbClr val="1C1A19"/>
                </a:solidFill>
                <a:latin typeface="Segoe UI"/>
              </a:rPr>
              <a:t>Mouth landmarks</a:t>
            </a:r>
          </a:p>
          <a:p>
            <a:pPr algn="l">
              <a:lnSpc>
                <a:spcPct val="126000"/>
              </a:lnSpc>
              <a:spcAft>
                <a:spcPts val="200"/>
              </a:spcAft>
            </a:pPr>
            <a:r>
              <a:rPr sz="1050" b="0">
                <a:solidFill>
                  <a:srgbClr val="4A4542"/>
                </a:solidFill>
                <a:latin typeface="Segoe UI"/>
              </a:rPr>
              <a:t>free, from the capture just taken</a:t>
            </a:r>
          </a:p>
        </p:txBody>
      </p:sp>
      <p:sp>
        <p:nvSpPr>
          <p:cNvPr id="7" name="Right Arrow 6"/>
          <p:cNvSpPr/>
          <p:nvPr/>
        </p:nvSpPr>
        <p:spPr>
          <a:xfrm>
            <a:off x="2713939" y="2320137"/>
            <a:ext cx="182880" cy="137160"/>
          </a:xfrm>
          <a:prstGeom prst="rightArrow">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960827" y="1920240"/>
            <a:ext cx="1872691" cy="936954"/>
          </a:xfrm>
          <a:prstGeom prst="rect">
            <a:avLst/>
          </a:prstGeom>
          <a:solidFill>
            <a:srgbClr val="F1EBE8"/>
          </a:solidFill>
          <a:ln w="12700">
            <a:solidFill>
              <a:srgbClr val="E6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088843" y="2075688"/>
            <a:ext cx="1616659" cy="626058"/>
          </a:xfrm>
          <a:prstGeom prst="rect">
            <a:avLst/>
          </a:prstGeom>
          <a:noFill/>
        </p:spPr>
        <p:txBody>
          <a:bodyPr wrap="square" lIns="0" tIns="0" rIns="0" bIns="0" anchor="t">
            <a:spAutoFit/>
          </a:bodyPr>
          <a:lstStyle/>
          <a:p>
            <a:pPr algn="l">
              <a:lnSpc>
                <a:spcPct val="126000"/>
              </a:lnSpc>
              <a:spcAft>
                <a:spcPts val="200"/>
              </a:spcAft>
            </a:pPr>
            <a:r>
              <a:rPr sz="1100" b="1">
                <a:solidFill>
                  <a:srgbClr val="1C1A19"/>
                </a:solidFill>
                <a:latin typeface="Segoe UI"/>
              </a:rPr>
              <a:t>Region of interest</a:t>
            </a:r>
          </a:p>
          <a:p>
            <a:pPr algn="l">
              <a:lnSpc>
                <a:spcPct val="126000"/>
              </a:lnSpc>
              <a:spcAft>
                <a:spcPts val="200"/>
              </a:spcAft>
            </a:pPr>
            <a:r>
              <a:rPr sz="1050" b="0">
                <a:solidFill>
                  <a:srgbClr val="4A4542"/>
                </a:solidFill>
                <a:latin typeface="Segoe UI"/>
              </a:rPr>
              <a:t>1.5 face widths, on the mouth</a:t>
            </a:r>
          </a:p>
        </p:txBody>
      </p:sp>
      <p:sp>
        <p:nvSpPr>
          <p:cNvPr id="10" name="Right Arrow 9"/>
          <p:cNvSpPr/>
          <p:nvPr/>
        </p:nvSpPr>
        <p:spPr>
          <a:xfrm>
            <a:off x="4897526" y="2320137"/>
            <a:ext cx="182880" cy="137160"/>
          </a:xfrm>
          <a:prstGeom prst="rightArrow">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144414" y="1920240"/>
            <a:ext cx="1872691" cy="936954"/>
          </a:xfrm>
          <a:prstGeom prst="rect">
            <a:avLst/>
          </a:prstGeom>
          <a:solidFill>
            <a:srgbClr val="F1EBE8"/>
          </a:solidFill>
          <a:ln w="12700">
            <a:solidFill>
              <a:srgbClr val="E6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72430" y="2075688"/>
            <a:ext cx="1616659" cy="626058"/>
          </a:xfrm>
          <a:prstGeom prst="rect">
            <a:avLst/>
          </a:prstGeom>
          <a:noFill/>
        </p:spPr>
        <p:txBody>
          <a:bodyPr wrap="square" lIns="0" tIns="0" rIns="0" bIns="0" anchor="t">
            <a:spAutoFit/>
          </a:bodyPr>
          <a:lstStyle/>
          <a:p>
            <a:pPr algn="l">
              <a:lnSpc>
                <a:spcPct val="126000"/>
              </a:lnSpc>
              <a:spcAft>
                <a:spcPts val="200"/>
              </a:spcAft>
            </a:pPr>
            <a:r>
              <a:rPr sz="1100" b="1">
                <a:solidFill>
                  <a:srgbClr val="1C1A19"/>
                </a:solidFill>
                <a:latin typeface="Segoe UI"/>
              </a:rPr>
              <a:t>Hand model</a:t>
            </a:r>
          </a:p>
          <a:p>
            <a:pPr algn="l">
              <a:lnSpc>
                <a:spcPct val="126000"/>
              </a:lnSpc>
              <a:spcAft>
                <a:spcPts val="200"/>
              </a:spcAft>
            </a:pPr>
            <a:r>
              <a:rPr sz="1050" b="0">
                <a:solidFill>
                  <a:srgbClr val="4A4542"/>
                </a:solidFill>
                <a:latin typeface="Segoe UI"/>
              </a:rPr>
              <a:t>presence and 21 keypoints</a:t>
            </a:r>
          </a:p>
        </p:txBody>
      </p:sp>
      <p:sp>
        <p:nvSpPr>
          <p:cNvPr id="13" name="Right Arrow 12"/>
          <p:cNvSpPr/>
          <p:nvPr/>
        </p:nvSpPr>
        <p:spPr>
          <a:xfrm>
            <a:off x="7081113" y="2320137"/>
            <a:ext cx="182880" cy="137160"/>
          </a:xfrm>
          <a:prstGeom prst="rightArrow">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28001" y="1920240"/>
            <a:ext cx="1872691" cy="936954"/>
          </a:xfrm>
          <a:prstGeom prst="rect">
            <a:avLst/>
          </a:prstGeom>
          <a:solidFill>
            <a:srgbClr val="F1EBE8"/>
          </a:solidFill>
          <a:ln w="12700">
            <a:solidFill>
              <a:srgbClr val="E6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56017" y="2075688"/>
            <a:ext cx="1616659" cy="626058"/>
          </a:xfrm>
          <a:prstGeom prst="rect">
            <a:avLst/>
          </a:prstGeom>
          <a:noFill/>
        </p:spPr>
        <p:txBody>
          <a:bodyPr wrap="square" lIns="0" tIns="0" rIns="0" bIns="0" anchor="t">
            <a:spAutoFit/>
          </a:bodyPr>
          <a:lstStyle/>
          <a:p>
            <a:pPr algn="l">
              <a:lnSpc>
                <a:spcPct val="126000"/>
              </a:lnSpc>
              <a:spcAft>
                <a:spcPts val="200"/>
              </a:spcAft>
            </a:pPr>
            <a:r>
              <a:rPr sz="1100" b="1">
                <a:solidFill>
                  <a:srgbClr val="1C1A19"/>
                </a:solidFill>
                <a:latin typeface="Segoe UI"/>
              </a:rPr>
              <a:t>Fingertip distance</a:t>
            </a:r>
          </a:p>
          <a:p>
            <a:pPr algn="l">
              <a:lnSpc>
                <a:spcPct val="126000"/>
              </a:lnSpc>
              <a:spcAft>
                <a:spcPts val="200"/>
              </a:spcAft>
            </a:pPr>
            <a:r>
              <a:rPr sz="1050" b="0">
                <a:solidFill>
                  <a:srgbClr val="4A4542"/>
                </a:solidFill>
                <a:latin typeface="Segoe UI"/>
              </a:rPr>
              <a:t>to the mouth, in face widths</a:t>
            </a:r>
          </a:p>
        </p:txBody>
      </p:sp>
      <p:sp>
        <p:nvSpPr>
          <p:cNvPr id="16" name="Right Arrow 15"/>
          <p:cNvSpPr/>
          <p:nvPr/>
        </p:nvSpPr>
        <p:spPr>
          <a:xfrm>
            <a:off x="9264700" y="2320137"/>
            <a:ext cx="182880" cy="137160"/>
          </a:xfrm>
          <a:prstGeom prst="rightArrow">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511588" y="1920240"/>
            <a:ext cx="1872691" cy="936954"/>
          </a:xfrm>
          <a:prstGeom prst="rect">
            <a:avLst/>
          </a:prstGeom>
          <a:solidFill>
            <a:srgbClr val="F1EBE8"/>
          </a:solidFill>
          <a:ln w="12700">
            <a:solidFill>
              <a:srgbClr val="E6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39604" y="2075688"/>
            <a:ext cx="1616659" cy="626058"/>
          </a:xfrm>
          <a:prstGeom prst="rect">
            <a:avLst/>
          </a:prstGeom>
          <a:noFill/>
        </p:spPr>
        <p:txBody>
          <a:bodyPr wrap="square" lIns="0" tIns="0" rIns="0" bIns="0" anchor="t">
            <a:spAutoFit/>
          </a:bodyPr>
          <a:lstStyle/>
          <a:p>
            <a:pPr algn="l">
              <a:lnSpc>
                <a:spcPct val="126000"/>
              </a:lnSpc>
              <a:spcAft>
                <a:spcPts val="200"/>
              </a:spcAft>
            </a:pPr>
            <a:r>
              <a:rPr sz="1100" b="1">
                <a:solidFill>
                  <a:srgbClr val="1C1A19"/>
                </a:solidFill>
                <a:latin typeface="Segoe UI"/>
              </a:rPr>
              <a:t>Three frames</a:t>
            </a:r>
          </a:p>
          <a:p>
            <a:pPr algn="l">
              <a:lnSpc>
                <a:spcPct val="126000"/>
              </a:lnSpc>
              <a:spcAft>
                <a:spcPts val="200"/>
              </a:spcAft>
            </a:pPr>
            <a:r>
              <a:rPr sz="1050" b="0">
                <a:solidFill>
                  <a:srgbClr val="4A4542"/>
                </a:solidFill>
                <a:latin typeface="Segoe UI"/>
              </a:rPr>
              <a:t>consecutive, then intake observed</a:t>
            </a:r>
          </a:p>
        </p:txBody>
      </p:sp>
      <p:sp>
        <p:nvSpPr>
          <p:cNvPr id="19" name="TextBox 18"/>
          <p:cNvSpPr txBox="1"/>
          <p:nvPr/>
        </p:nvSpPr>
        <p:spPr>
          <a:xfrm>
            <a:off x="777240" y="3168090"/>
            <a:ext cx="2663190" cy="274320"/>
          </a:xfrm>
          <a:prstGeom prst="rect">
            <a:avLst/>
          </a:prstGeom>
          <a:noFill/>
        </p:spPr>
        <p:txBody>
          <a:bodyPr wrap="square" lIns="0" tIns="0" rIns="0" bIns="0" anchor="t">
            <a:spAutoFit/>
          </a:bodyPr>
          <a:lstStyle/>
          <a:p>
            <a:pPr algn="l">
              <a:lnSpc>
                <a:spcPct val="118000"/>
              </a:lnSpc>
              <a:spcAft>
                <a:spcPts val="0"/>
              </a:spcAft>
            </a:pPr>
            <a:r>
              <a:rPr sz="880" b="1">
                <a:solidFill>
                  <a:srgbClr val="1C1A19"/>
                </a:solidFill>
                <a:latin typeface="Segoe UI"/>
              </a:rPr>
              <a:t>INPUT</a:t>
            </a:r>
          </a:p>
        </p:txBody>
      </p:sp>
      <p:sp>
        <p:nvSpPr>
          <p:cNvPr id="20" name="TextBox 19"/>
          <p:cNvSpPr txBox="1"/>
          <p:nvPr/>
        </p:nvSpPr>
        <p:spPr>
          <a:xfrm>
            <a:off x="3568446" y="3168090"/>
            <a:ext cx="2155698" cy="274320"/>
          </a:xfrm>
          <a:prstGeom prst="rect">
            <a:avLst/>
          </a:prstGeom>
          <a:noFill/>
        </p:spPr>
        <p:txBody>
          <a:bodyPr wrap="square" lIns="0" tIns="0" rIns="0" bIns="0" anchor="t">
            <a:spAutoFit/>
          </a:bodyPr>
          <a:lstStyle/>
          <a:p>
            <a:pPr algn="l">
              <a:lnSpc>
                <a:spcPct val="118000"/>
              </a:lnSpc>
              <a:spcAft>
                <a:spcPts val="0"/>
              </a:spcAft>
            </a:pPr>
            <a:r>
              <a:rPr sz="880" b="1">
                <a:solidFill>
                  <a:srgbClr val="1C1A19"/>
                </a:solidFill>
                <a:latin typeface="Segoe UI"/>
              </a:rPr>
              <a:t>HAND PRESENCE</a:t>
            </a:r>
          </a:p>
        </p:txBody>
      </p:sp>
      <p:sp>
        <p:nvSpPr>
          <p:cNvPr id="21" name="Rectangle 20"/>
          <p:cNvSpPr/>
          <p:nvPr/>
        </p:nvSpPr>
        <p:spPr>
          <a:xfrm>
            <a:off x="777240" y="3405834"/>
            <a:ext cx="5074920" cy="17780"/>
          </a:xfrm>
          <a:prstGeom prst="rect">
            <a:avLst/>
          </a:prstGeom>
          <a:solidFill>
            <a:srgbClr val="1C1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3533850"/>
            <a:ext cx="2663190" cy="227837"/>
          </a:xfrm>
          <a:prstGeom prst="rect">
            <a:avLst/>
          </a:prstGeom>
          <a:noFill/>
        </p:spPr>
        <p:txBody>
          <a:bodyPr wrap="square" lIns="0" tIns="0" rIns="0" bIns="0" anchor="t">
            <a:spAutoFit/>
          </a:bodyPr>
          <a:lstStyle/>
          <a:p>
            <a:pPr algn="l">
              <a:lnSpc>
                <a:spcPct val="130000"/>
              </a:lnSpc>
              <a:spcAft>
                <a:spcPts val="0"/>
              </a:spcAft>
            </a:pPr>
            <a:r>
              <a:rPr sz="1150" b="1">
                <a:solidFill>
                  <a:srgbClr val="1C1A19"/>
                </a:solidFill>
                <a:latin typeface="Segoe UI"/>
              </a:rPr>
              <a:t>A face</a:t>
            </a:r>
          </a:p>
        </p:txBody>
      </p:sp>
      <p:sp>
        <p:nvSpPr>
          <p:cNvPr id="23" name="TextBox 22"/>
          <p:cNvSpPr txBox="1"/>
          <p:nvPr/>
        </p:nvSpPr>
        <p:spPr>
          <a:xfrm>
            <a:off x="3568446" y="3533850"/>
            <a:ext cx="2155698" cy="227837"/>
          </a:xfrm>
          <a:prstGeom prst="rect">
            <a:avLst/>
          </a:prstGeom>
          <a:noFill/>
        </p:spPr>
        <p:txBody>
          <a:bodyPr wrap="square" lIns="0" tIns="0" rIns="0" bIns="0" anchor="t">
            <a:spAutoFit/>
          </a:bodyPr>
          <a:lstStyle/>
          <a:p>
            <a:pPr algn="l">
              <a:lnSpc>
                <a:spcPct val="130000"/>
              </a:lnSpc>
              <a:spcAft>
                <a:spcPts val="0"/>
              </a:spcAft>
            </a:pPr>
            <a:r>
              <a:rPr sz="1150" b="0">
                <a:solidFill>
                  <a:srgbClr val="4A4542"/>
                </a:solidFill>
                <a:latin typeface="Segoe UI"/>
              </a:rPr>
              <a:t>0.0078</a:t>
            </a:r>
          </a:p>
        </p:txBody>
      </p:sp>
      <p:sp>
        <p:nvSpPr>
          <p:cNvPr id="24" name="Rectangle 23"/>
          <p:cNvSpPr/>
          <p:nvPr/>
        </p:nvSpPr>
        <p:spPr>
          <a:xfrm>
            <a:off x="777240" y="3779975"/>
            <a:ext cx="507492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7240" y="3907991"/>
            <a:ext cx="2663190" cy="227837"/>
          </a:xfrm>
          <a:prstGeom prst="rect">
            <a:avLst/>
          </a:prstGeom>
          <a:noFill/>
        </p:spPr>
        <p:txBody>
          <a:bodyPr wrap="square" lIns="0" tIns="0" rIns="0" bIns="0" anchor="t">
            <a:spAutoFit/>
          </a:bodyPr>
          <a:lstStyle/>
          <a:p>
            <a:pPr algn="l">
              <a:lnSpc>
                <a:spcPct val="130000"/>
              </a:lnSpc>
              <a:spcAft>
                <a:spcPts val="0"/>
              </a:spcAft>
            </a:pPr>
            <a:r>
              <a:rPr sz="1150" b="1">
                <a:solidFill>
                  <a:srgbClr val="1C1A19"/>
                </a:solidFill>
                <a:latin typeface="Segoe UI"/>
              </a:rPr>
              <a:t>400 random images</a:t>
            </a:r>
          </a:p>
        </p:txBody>
      </p:sp>
      <p:sp>
        <p:nvSpPr>
          <p:cNvPr id="26" name="TextBox 25"/>
          <p:cNvSpPr txBox="1"/>
          <p:nvPr/>
        </p:nvSpPr>
        <p:spPr>
          <a:xfrm>
            <a:off x="3568446" y="3907991"/>
            <a:ext cx="2155698" cy="227837"/>
          </a:xfrm>
          <a:prstGeom prst="rect">
            <a:avLst/>
          </a:prstGeom>
          <a:noFill/>
        </p:spPr>
        <p:txBody>
          <a:bodyPr wrap="square" lIns="0" tIns="0" rIns="0" bIns="0" anchor="t">
            <a:spAutoFit/>
          </a:bodyPr>
          <a:lstStyle/>
          <a:p>
            <a:pPr algn="l">
              <a:lnSpc>
                <a:spcPct val="130000"/>
              </a:lnSpc>
              <a:spcAft>
                <a:spcPts val="0"/>
              </a:spcAft>
            </a:pPr>
            <a:r>
              <a:rPr sz="1150" b="0">
                <a:solidFill>
                  <a:srgbClr val="4A4542"/>
                </a:solidFill>
                <a:latin typeface="Segoe UI"/>
              </a:rPr>
              <a:t>never above 0.035</a:t>
            </a:r>
          </a:p>
        </p:txBody>
      </p:sp>
      <p:sp>
        <p:nvSpPr>
          <p:cNvPr id="27" name="Rectangle 26"/>
          <p:cNvSpPr/>
          <p:nvPr/>
        </p:nvSpPr>
        <p:spPr>
          <a:xfrm>
            <a:off x="777240" y="4154116"/>
            <a:ext cx="507492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77240" y="4282132"/>
            <a:ext cx="2663190" cy="227837"/>
          </a:xfrm>
          <a:prstGeom prst="rect">
            <a:avLst/>
          </a:prstGeom>
          <a:noFill/>
        </p:spPr>
        <p:txBody>
          <a:bodyPr wrap="square" lIns="0" tIns="0" rIns="0" bIns="0" anchor="t">
            <a:spAutoFit/>
          </a:bodyPr>
          <a:lstStyle/>
          <a:p>
            <a:pPr algn="l">
              <a:lnSpc>
                <a:spcPct val="130000"/>
              </a:lnSpc>
              <a:spcAft>
                <a:spcPts val="0"/>
              </a:spcAft>
            </a:pPr>
            <a:r>
              <a:rPr sz="1150" b="1">
                <a:solidFill>
                  <a:srgbClr val="1C1A19"/>
                </a:solidFill>
                <a:latin typeface="Segoe UI"/>
              </a:rPr>
              <a:t>An ear, waved deliberately</a:t>
            </a:r>
          </a:p>
        </p:txBody>
      </p:sp>
      <p:sp>
        <p:nvSpPr>
          <p:cNvPr id="29" name="TextBox 28"/>
          <p:cNvSpPr txBox="1"/>
          <p:nvPr/>
        </p:nvSpPr>
        <p:spPr>
          <a:xfrm>
            <a:off x="3568446" y="4282132"/>
            <a:ext cx="2155698" cy="227837"/>
          </a:xfrm>
          <a:prstGeom prst="rect">
            <a:avLst/>
          </a:prstGeom>
          <a:noFill/>
        </p:spPr>
        <p:txBody>
          <a:bodyPr wrap="square" lIns="0" tIns="0" rIns="0" bIns="0" anchor="t">
            <a:spAutoFit/>
          </a:bodyPr>
          <a:lstStyle/>
          <a:p>
            <a:pPr algn="l">
              <a:lnSpc>
                <a:spcPct val="130000"/>
              </a:lnSpc>
              <a:spcAft>
                <a:spcPts val="0"/>
              </a:spcAft>
            </a:pPr>
            <a:r>
              <a:rPr sz="1150" b="0">
                <a:solidFill>
                  <a:srgbClr val="4A4542"/>
                </a:solidFill>
                <a:latin typeface="Segoe UI"/>
              </a:rPr>
              <a:t>does not fire</a:t>
            </a:r>
          </a:p>
        </p:txBody>
      </p:sp>
      <p:sp>
        <p:nvSpPr>
          <p:cNvPr id="30" name="Rectangle 29"/>
          <p:cNvSpPr/>
          <p:nvPr/>
        </p:nvSpPr>
        <p:spPr>
          <a:xfrm>
            <a:off x="777240" y="4528257"/>
            <a:ext cx="507492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7240" y="4656273"/>
            <a:ext cx="2663190" cy="227837"/>
          </a:xfrm>
          <a:prstGeom prst="rect">
            <a:avLst/>
          </a:prstGeom>
          <a:noFill/>
        </p:spPr>
        <p:txBody>
          <a:bodyPr wrap="square" lIns="0" tIns="0" rIns="0" bIns="0" anchor="t">
            <a:spAutoFit/>
          </a:bodyPr>
          <a:lstStyle/>
          <a:p>
            <a:pPr algn="l">
              <a:lnSpc>
                <a:spcPct val="130000"/>
              </a:lnSpc>
              <a:spcAft>
                <a:spcPts val="0"/>
              </a:spcAft>
            </a:pPr>
            <a:r>
              <a:rPr sz="1150" b="1">
                <a:solidFill>
                  <a:srgbClr val="1C1A19"/>
                </a:solidFill>
                <a:latin typeface="Segoe UI"/>
              </a:rPr>
              <a:t>A hand at the mouth</a:t>
            </a:r>
          </a:p>
        </p:txBody>
      </p:sp>
      <p:sp>
        <p:nvSpPr>
          <p:cNvPr id="32" name="TextBox 31"/>
          <p:cNvSpPr txBox="1"/>
          <p:nvPr/>
        </p:nvSpPr>
        <p:spPr>
          <a:xfrm>
            <a:off x="3568446" y="4656273"/>
            <a:ext cx="2155698" cy="227837"/>
          </a:xfrm>
          <a:prstGeom prst="rect">
            <a:avLst/>
          </a:prstGeom>
          <a:noFill/>
        </p:spPr>
        <p:txBody>
          <a:bodyPr wrap="square" lIns="0" tIns="0" rIns="0" bIns="0" anchor="t">
            <a:spAutoFit/>
          </a:bodyPr>
          <a:lstStyle/>
          <a:p>
            <a:pPr algn="l">
              <a:lnSpc>
                <a:spcPct val="130000"/>
              </a:lnSpc>
              <a:spcAft>
                <a:spcPts val="0"/>
              </a:spcAft>
            </a:pPr>
            <a:r>
              <a:rPr sz="1150" b="0">
                <a:solidFill>
                  <a:srgbClr val="4A4542"/>
                </a:solidFill>
                <a:latin typeface="Segoe UI"/>
              </a:rPr>
              <a:t>about 0.50, and confirms</a:t>
            </a:r>
          </a:p>
        </p:txBody>
      </p:sp>
      <p:sp>
        <p:nvSpPr>
          <p:cNvPr id="33" name="Rectangle 32"/>
          <p:cNvSpPr/>
          <p:nvPr/>
        </p:nvSpPr>
        <p:spPr>
          <a:xfrm>
            <a:off x="777240" y="4902398"/>
            <a:ext cx="507492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446520" y="3218382"/>
            <a:ext cx="45720" cy="680313"/>
          </a:xfrm>
          <a:prstGeom prst="rect">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702552" y="3168090"/>
            <a:ext cx="4681728" cy="735177"/>
          </a:xfrm>
          <a:prstGeom prst="rect">
            <a:avLst/>
          </a:prstGeom>
          <a:noFill/>
        </p:spPr>
        <p:txBody>
          <a:bodyPr wrap="square" lIns="0" tIns="0" rIns="0" bIns="0" anchor="t">
            <a:spAutoFit/>
          </a:bodyPr>
          <a:lstStyle/>
          <a:p>
            <a:pPr algn="l">
              <a:lnSpc>
                <a:spcPct val="134000"/>
              </a:lnSpc>
              <a:spcAft>
                <a:spcPts val="0"/>
              </a:spcAft>
            </a:pPr>
            <a:r>
              <a:rPr sz="1200" b="1">
                <a:solidFill>
                  <a:srgbClr val="1C1A19"/>
                </a:solidFill>
                <a:latin typeface="Segoe UI"/>
              </a:rPr>
              <a:t>The pill detector was intended to carry the decision and cannot. </a:t>
            </a:r>
            <a:r>
              <a:rPr sz="1200" b="0">
                <a:solidFill>
                  <a:srgbClr val="4A4542"/>
                </a:solidFill>
                <a:latin typeface="Segoe UI"/>
              </a:rPr>
              <a:t>At the deployment region of interest a pill is about an 8-pixel object and per-frame detection is about 7 per cent.</a:t>
            </a:r>
          </a:p>
        </p:txBody>
      </p:sp>
      <p:sp>
        <p:nvSpPr>
          <p:cNvPr id="36" name="Rectangle 35"/>
          <p:cNvSpPr/>
          <p:nvPr/>
        </p:nvSpPr>
        <p:spPr>
          <a:xfrm>
            <a:off x="6446520" y="4173015"/>
            <a:ext cx="45720" cy="435254"/>
          </a:xfrm>
          <a:prstGeom prst="rect">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702552" y="4122723"/>
            <a:ext cx="4681728" cy="490118"/>
          </a:xfrm>
          <a:prstGeom prst="rect">
            <a:avLst/>
          </a:prstGeom>
          <a:noFill/>
        </p:spPr>
        <p:txBody>
          <a:bodyPr wrap="square" lIns="0" tIns="0" rIns="0" bIns="0" anchor="t">
            <a:spAutoFit/>
          </a:bodyPr>
          <a:lstStyle/>
          <a:p>
            <a:pPr algn="l">
              <a:lnSpc>
                <a:spcPct val="134000"/>
              </a:lnSpc>
              <a:spcAft>
                <a:spcPts val="0"/>
              </a:spcAft>
            </a:pPr>
            <a:r>
              <a:rPr sz="1200" b="1">
                <a:solidFill>
                  <a:srgbClr val="1C1A19"/>
                </a:solidFill>
                <a:latin typeface="Segoe UI"/>
              </a:rPr>
              <a:t>Skin-tone heuristics were evaluated first. </a:t>
            </a:r>
            <a:r>
              <a:rPr sz="1200" b="0">
                <a:solidFill>
                  <a:srgbClr val="4A4542"/>
                </a:solidFill>
                <a:latin typeface="Segoe UI"/>
              </a:rPr>
              <a:t>None could separate a moving ear from a hand.</a:t>
            </a:r>
          </a:p>
        </p:txBody>
      </p:sp>
      <p:sp>
        <p:nvSpPr>
          <p:cNvPr id="38" name="Rectangle 37"/>
          <p:cNvSpPr/>
          <p:nvPr/>
        </p:nvSpPr>
        <p:spPr>
          <a:xfrm>
            <a:off x="777240" y="5406390"/>
            <a:ext cx="10637215"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77240" y="5607558"/>
            <a:ext cx="10637215" cy="473202"/>
          </a:xfrm>
          <a:prstGeom prst="rect">
            <a:avLst/>
          </a:prstGeom>
          <a:noFill/>
        </p:spPr>
        <p:txBody>
          <a:bodyPr wrap="square" lIns="0" tIns="0" rIns="0" bIns="0" anchor="t">
            <a:spAutoFit/>
          </a:bodyPr>
          <a:lstStyle/>
          <a:p>
            <a:pPr algn="l">
              <a:lnSpc>
                <a:spcPct val="135000"/>
              </a:lnSpc>
              <a:spcAft>
                <a:spcPts val="0"/>
              </a:spcAft>
            </a:pPr>
            <a:r>
              <a:rPr sz="1150" b="0">
                <a:solidFill>
                  <a:srgbClr val="6E6864"/>
                </a:solidFill>
                <a:latin typeface="Segoe UI"/>
              </a:rPr>
              <a:t>Measuring in face widths rather than pixels makes the geometry independent of how far the patient stands from the camera. The detector supplies two mouth corners and no lip contour, so the device cannot analyse expression: it measures one distance.</a:t>
            </a:r>
          </a:p>
        </p:txBody>
      </p:sp>
      <p:sp>
        <p:nvSpPr>
          <p:cNvPr id="40" name="TextBox 39"/>
          <p:cNvSpPr txBox="1"/>
          <p:nvPr/>
        </p:nvSpPr>
        <p:spPr>
          <a:xfrm>
            <a:off x="10865815" y="6291072"/>
            <a:ext cx="548640" cy="274320"/>
          </a:xfrm>
          <a:prstGeom prst="rect">
            <a:avLst/>
          </a:prstGeom>
          <a:noFill/>
        </p:spPr>
        <p:txBody>
          <a:bodyPr wrap="square" lIns="0" tIns="0" rIns="0" bIns="0" anchor="t">
            <a:spAutoFit/>
          </a:bodyPr>
          <a:lstStyle/>
          <a:p>
            <a:pPr algn="r">
              <a:lnSpc>
                <a:spcPct val="118000"/>
              </a:lnSpc>
              <a:spcAft>
                <a:spcPts val="0"/>
              </a:spcAft>
            </a:pPr>
            <a:r>
              <a:rPr sz="1100" b="0">
                <a:solidFill>
                  <a:srgbClr val="6E6864"/>
                </a:solidFill>
                <a:latin typeface="Segoe U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4F2"/>
        </a:solidFill>
        <a:effectLst/>
      </p:bgPr>
    </p:bg>
    <p:spTree>
      <p:nvGrpSpPr>
        <p:cNvPr id="1" name=""/>
        <p:cNvGrpSpPr/>
        <p:nvPr/>
      </p:nvGrpSpPr>
      <p:grpSpPr>
        <a:xfrm>
          <a:off x="0" y="0"/>
          <a:ext cx="0" cy="0"/>
          <a:chOff x="0" y="0"/>
          <a:chExt cx="0" cy="0"/>
        </a:xfrm>
      </p:grpSpPr>
      <p:sp>
        <p:nvSpPr>
          <p:cNvPr id="2" name="TextBox 1"/>
          <p:cNvSpPr txBox="1"/>
          <p:nvPr/>
        </p:nvSpPr>
        <p:spPr>
          <a:xfrm>
            <a:off x="777240" y="566928"/>
            <a:ext cx="10637215" cy="274320"/>
          </a:xfrm>
          <a:prstGeom prst="rect">
            <a:avLst/>
          </a:prstGeom>
          <a:noFill/>
        </p:spPr>
        <p:txBody>
          <a:bodyPr wrap="square" lIns="0" tIns="0" rIns="0" bIns="0" anchor="t">
            <a:spAutoFit/>
          </a:bodyPr>
          <a:lstStyle/>
          <a:p>
            <a:pPr algn="l">
              <a:lnSpc>
                <a:spcPct val="118000"/>
              </a:lnSpc>
              <a:spcAft>
                <a:spcPts val="0"/>
              </a:spcAft>
            </a:pPr>
            <a:r>
              <a:rPr sz="1050" b="1">
                <a:solidFill>
                  <a:srgbClr val="C2651F"/>
                </a:solidFill>
                <a:latin typeface="Segoe UI"/>
              </a:rPr>
              <a:t>HARDWARE ARCHITECTURE</a:t>
            </a:r>
          </a:p>
        </p:txBody>
      </p:sp>
      <p:sp>
        <p:nvSpPr>
          <p:cNvPr id="3" name="TextBox 2"/>
          <p:cNvSpPr txBox="1"/>
          <p:nvPr/>
        </p:nvSpPr>
        <p:spPr>
          <a:xfrm>
            <a:off x="777240" y="868680"/>
            <a:ext cx="10637215" cy="480060"/>
          </a:xfrm>
          <a:prstGeom prst="rect">
            <a:avLst/>
          </a:prstGeom>
          <a:noFill/>
        </p:spPr>
        <p:txBody>
          <a:bodyPr wrap="square" lIns="0" tIns="0" rIns="0" bIns="0" anchor="t">
            <a:spAutoFit/>
          </a:bodyPr>
          <a:lstStyle/>
          <a:p>
            <a:pPr algn="l">
              <a:lnSpc>
                <a:spcPct val="105000"/>
              </a:lnSpc>
              <a:spcAft>
                <a:spcPts val="0"/>
              </a:spcAft>
            </a:pPr>
            <a:r>
              <a:rPr sz="3000" b="1">
                <a:solidFill>
                  <a:srgbClr val="1C1A19"/>
                </a:solidFill>
                <a:latin typeface="Segoe UI"/>
              </a:rPr>
              <a:t>Eleven interconnects, and the sensor the count depends on</a:t>
            </a:r>
          </a:p>
        </p:txBody>
      </p:sp>
      <p:sp>
        <p:nvSpPr>
          <p:cNvPr id="4" name="Rectangle 3"/>
          <p:cNvSpPr/>
          <p:nvPr/>
        </p:nvSpPr>
        <p:spPr>
          <a:xfrm>
            <a:off x="777240" y="1627632"/>
            <a:ext cx="10637215" cy="20320"/>
          </a:xfrm>
          <a:prstGeom prst="rect">
            <a:avLst/>
          </a:prstGeom>
          <a:solidFill>
            <a:srgbClr val="1C1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ad_parts_sheet.jpg"/>
          <p:cNvPicPr>
            <a:picLocks noChangeAspect="1"/>
          </p:cNvPicPr>
          <p:nvPr/>
        </p:nvPicPr>
        <p:blipFill>
          <a:blip r:embed="rId2"/>
          <a:stretch>
            <a:fillRect/>
          </a:stretch>
        </p:blipFill>
        <p:spPr>
          <a:xfrm>
            <a:off x="777240" y="1965960"/>
            <a:ext cx="5760720" cy="2624627"/>
          </a:xfrm>
          <a:prstGeom prst="rect">
            <a:avLst/>
          </a:prstGeom>
        </p:spPr>
      </p:pic>
      <p:sp>
        <p:nvSpPr>
          <p:cNvPr id="6" name="TextBox 5"/>
          <p:cNvSpPr txBox="1"/>
          <p:nvPr/>
        </p:nvSpPr>
        <p:spPr>
          <a:xfrm>
            <a:off x="777240" y="4773467"/>
            <a:ext cx="5760720" cy="731520"/>
          </a:xfrm>
          <a:prstGeom prst="rect">
            <a:avLst/>
          </a:prstGeom>
          <a:noFill/>
        </p:spPr>
        <p:txBody>
          <a:bodyPr wrap="square" lIns="0" tIns="0" rIns="0" bIns="0" anchor="t">
            <a:spAutoFit/>
          </a:bodyPr>
          <a:lstStyle/>
          <a:p>
            <a:pPr algn="l">
              <a:lnSpc>
                <a:spcPct val="130000"/>
              </a:lnSpc>
              <a:spcAft>
                <a:spcPts val="300"/>
              </a:spcAft>
            </a:pPr>
            <a:r>
              <a:rPr sz="900" b="1">
                <a:solidFill>
                  <a:srgbClr val="1C1A19"/>
                </a:solidFill>
                <a:latin typeface="Segoe UI"/>
              </a:rPr>
              <a:t>01 Board enclosure  </a:t>
            </a:r>
            <a:r>
              <a:rPr sz="900" b="0">
                <a:solidFill>
                  <a:srgbClr val="6E6864"/>
                </a:solidFill>
                <a:latin typeface="Segoe UI"/>
              </a:rPr>
              <a:t>1 housing shell · 2 port grid · 3 battery compartment · 4 brand plate</a:t>
            </a:r>
          </a:p>
          <a:p>
            <a:pPr algn="l">
              <a:lnSpc>
                <a:spcPct val="130000"/>
              </a:lnSpc>
              <a:spcAft>
                <a:spcPts val="300"/>
              </a:spcAft>
            </a:pPr>
            <a:r>
              <a:rPr sz="900" b="1">
                <a:solidFill>
                  <a:srgbClr val="1C1A19"/>
                </a:solidFill>
                <a:latin typeface="Segoe UI"/>
              </a:rPr>
              <a:t>02 Pill dispenser  </a:t>
            </a:r>
            <a:r>
              <a:rPr sz="900" b="0">
                <a:solidFill>
                  <a:srgbClr val="6E6864"/>
                </a:solidFill>
                <a:latin typeface="Segoe UI"/>
              </a:rPr>
              <a:t>1 enclosure box · 2 carousel · 3 motor hub · 4 chute · 5 drawer · 6 sensor brackets · 7 divider</a:t>
            </a:r>
          </a:p>
          <a:p>
            <a:pPr algn="l">
              <a:lnSpc>
                <a:spcPct val="130000"/>
              </a:lnSpc>
              <a:spcAft>
                <a:spcPts val="300"/>
              </a:spcAft>
            </a:pPr>
            <a:r>
              <a:rPr sz="900" b="1">
                <a:solidFill>
                  <a:srgbClr val="1C1A19"/>
                </a:solidFill>
                <a:latin typeface="Segoe UI"/>
              </a:rPr>
              <a:t>03 Structural pillars  </a:t>
            </a:r>
            <a:r>
              <a:rPr sz="900" b="0">
                <a:solidFill>
                  <a:srgbClr val="6E6864"/>
                </a:solidFill>
                <a:latin typeface="Segoe UI"/>
              </a:rPr>
              <a:t>1 pillar, eight off</a:t>
            </a:r>
          </a:p>
        </p:txBody>
      </p:sp>
      <p:sp>
        <p:nvSpPr>
          <p:cNvPr id="7" name="TextBox 6"/>
          <p:cNvSpPr txBox="1"/>
          <p:nvPr/>
        </p:nvSpPr>
        <p:spPr>
          <a:xfrm>
            <a:off x="7406640" y="1965960"/>
            <a:ext cx="1065275" cy="274320"/>
          </a:xfrm>
          <a:prstGeom prst="rect">
            <a:avLst/>
          </a:prstGeom>
          <a:noFill/>
        </p:spPr>
        <p:txBody>
          <a:bodyPr wrap="square" lIns="0" tIns="0" rIns="0" bIns="0" anchor="t">
            <a:spAutoFit/>
          </a:bodyPr>
          <a:lstStyle/>
          <a:p>
            <a:pPr algn="l">
              <a:lnSpc>
                <a:spcPct val="118000"/>
              </a:lnSpc>
              <a:spcAft>
                <a:spcPts val="0"/>
              </a:spcAft>
            </a:pPr>
            <a:r>
              <a:rPr sz="880" b="1">
                <a:solidFill>
                  <a:srgbClr val="1C1A19"/>
                </a:solidFill>
                <a:latin typeface="Segoe UI"/>
              </a:rPr>
              <a:t>ITEM</a:t>
            </a:r>
          </a:p>
        </p:txBody>
      </p:sp>
      <p:sp>
        <p:nvSpPr>
          <p:cNvPr id="8" name="TextBox 7"/>
          <p:cNvSpPr txBox="1"/>
          <p:nvPr/>
        </p:nvSpPr>
        <p:spPr>
          <a:xfrm>
            <a:off x="8599931" y="1965960"/>
            <a:ext cx="2656331" cy="274320"/>
          </a:xfrm>
          <a:prstGeom prst="rect">
            <a:avLst/>
          </a:prstGeom>
          <a:noFill/>
        </p:spPr>
        <p:txBody>
          <a:bodyPr wrap="square" lIns="0" tIns="0" rIns="0" bIns="0" anchor="t">
            <a:spAutoFit/>
          </a:bodyPr>
          <a:lstStyle/>
          <a:p>
            <a:pPr algn="l">
              <a:lnSpc>
                <a:spcPct val="118000"/>
              </a:lnSpc>
              <a:spcAft>
                <a:spcPts val="0"/>
              </a:spcAft>
            </a:pPr>
            <a:r>
              <a:rPr sz="880" b="1">
                <a:solidFill>
                  <a:srgbClr val="1C1A19"/>
                </a:solidFill>
                <a:latin typeface="Segoe UI"/>
              </a:rPr>
              <a:t>PART</a:t>
            </a:r>
          </a:p>
        </p:txBody>
      </p:sp>
      <p:sp>
        <p:nvSpPr>
          <p:cNvPr id="9" name="Rectangle 8"/>
          <p:cNvSpPr/>
          <p:nvPr/>
        </p:nvSpPr>
        <p:spPr>
          <a:xfrm>
            <a:off x="7406640" y="2203704"/>
            <a:ext cx="3977639" cy="17780"/>
          </a:xfrm>
          <a:prstGeom prst="rect">
            <a:avLst/>
          </a:prstGeom>
          <a:solidFill>
            <a:srgbClr val="1C1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06640" y="2331720"/>
            <a:ext cx="1065275" cy="455675"/>
          </a:xfrm>
          <a:prstGeom prst="rect">
            <a:avLst/>
          </a:prstGeom>
          <a:noFill/>
        </p:spPr>
        <p:txBody>
          <a:bodyPr wrap="square" lIns="0" tIns="0" rIns="0" bIns="0" anchor="t">
            <a:spAutoFit/>
          </a:bodyPr>
          <a:lstStyle/>
          <a:p>
            <a:pPr algn="l">
              <a:lnSpc>
                <a:spcPct val="130000"/>
              </a:lnSpc>
              <a:spcAft>
                <a:spcPts val="0"/>
              </a:spcAft>
            </a:pPr>
            <a:r>
              <a:rPr sz="1150" b="1">
                <a:solidFill>
                  <a:srgbClr val="1C1A19"/>
                </a:solidFill>
                <a:latin typeface="Segoe UI"/>
              </a:rPr>
              <a:t>Processor</a:t>
            </a:r>
          </a:p>
        </p:txBody>
      </p:sp>
      <p:sp>
        <p:nvSpPr>
          <p:cNvPr id="11" name="TextBox 10"/>
          <p:cNvSpPr txBox="1"/>
          <p:nvPr/>
        </p:nvSpPr>
        <p:spPr>
          <a:xfrm>
            <a:off x="8599931" y="2331720"/>
            <a:ext cx="2656331" cy="455675"/>
          </a:xfrm>
          <a:prstGeom prst="rect">
            <a:avLst/>
          </a:prstGeom>
          <a:noFill/>
        </p:spPr>
        <p:txBody>
          <a:bodyPr wrap="square" lIns="0" tIns="0" rIns="0" bIns="0" anchor="t">
            <a:spAutoFit/>
          </a:bodyPr>
          <a:lstStyle/>
          <a:p>
            <a:pPr algn="l">
              <a:lnSpc>
                <a:spcPct val="130000"/>
              </a:lnSpc>
              <a:spcAft>
                <a:spcPts val="0"/>
              </a:spcAft>
            </a:pPr>
            <a:r>
              <a:rPr sz="1150" b="0">
                <a:solidFill>
                  <a:srgbClr val="4A4542"/>
                </a:solidFill>
                <a:latin typeface="Segoe UI"/>
              </a:rPr>
              <a:t>Cortex-M55 800 MHz + Neural-ART 1 GHz</a:t>
            </a:r>
          </a:p>
        </p:txBody>
      </p:sp>
      <p:sp>
        <p:nvSpPr>
          <p:cNvPr id="12" name="Rectangle 11"/>
          <p:cNvSpPr/>
          <p:nvPr/>
        </p:nvSpPr>
        <p:spPr>
          <a:xfrm>
            <a:off x="7406640" y="2805683"/>
            <a:ext cx="3977639"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06640" y="2933699"/>
            <a:ext cx="1065275" cy="227837"/>
          </a:xfrm>
          <a:prstGeom prst="rect">
            <a:avLst/>
          </a:prstGeom>
          <a:noFill/>
        </p:spPr>
        <p:txBody>
          <a:bodyPr wrap="square" lIns="0" tIns="0" rIns="0" bIns="0" anchor="t">
            <a:spAutoFit/>
          </a:bodyPr>
          <a:lstStyle/>
          <a:p>
            <a:pPr algn="l">
              <a:lnSpc>
                <a:spcPct val="130000"/>
              </a:lnSpc>
              <a:spcAft>
                <a:spcPts val="0"/>
              </a:spcAft>
            </a:pPr>
            <a:r>
              <a:rPr sz="1150" b="1">
                <a:solidFill>
                  <a:srgbClr val="1C1A19"/>
                </a:solidFill>
                <a:latin typeface="Segoe UI"/>
              </a:rPr>
              <a:t>Display</a:t>
            </a:r>
          </a:p>
        </p:txBody>
      </p:sp>
      <p:sp>
        <p:nvSpPr>
          <p:cNvPr id="14" name="TextBox 13"/>
          <p:cNvSpPr txBox="1"/>
          <p:nvPr/>
        </p:nvSpPr>
        <p:spPr>
          <a:xfrm>
            <a:off x="8599931" y="2933699"/>
            <a:ext cx="2656331" cy="227837"/>
          </a:xfrm>
          <a:prstGeom prst="rect">
            <a:avLst/>
          </a:prstGeom>
          <a:noFill/>
        </p:spPr>
        <p:txBody>
          <a:bodyPr wrap="square" lIns="0" tIns="0" rIns="0" bIns="0" anchor="t">
            <a:spAutoFit/>
          </a:bodyPr>
          <a:lstStyle/>
          <a:p>
            <a:pPr algn="l">
              <a:lnSpc>
                <a:spcPct val="130000"/>
              </a:lnSpc>
              <a:spcAft>
                <a:spcPts val="0"/>
              </a:spcAft>
            </a:pPr>
            <a:r>
              <a:rPr sz="1150" b="0">
                <a:solidFill>
                  <a:srgbClr val="4A4542"/>
                </a:solidFill>
                <a:latin typeface="Segoe UI"/>
              </a:rPr>
              <a:t>5 inch 800x480, GT911 touch</a:t>
            </a:r>
          </a:p>
        </p:txBody>
      </p:sp>
      <p:sp>
        <p:nvSpPr>
          <p:cNvPr id="15" name="Rectangle 14"/>
          <p:cNvSpPr/>
          <p:nvPr/>
        </p:nvSpPr>
        <p:spPr>
          <a:xfrm>
            <a:off x="7406640" y="3179824"/>
            <a:ext cx="3977639"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06640" y="3307840"/>
            <a:ext cx="1065275" cy="227837"/>
          </a:xfrm>
          <a:prstGeom prst="rect">
            <a:avLst/>
          </a:prstGeom>
          <a:noFill/>
        </p:spPr>
        <p:txBody>
          <a:bodyPr wrap="square" lIns="0" tIns="0" rIns="0" bIns="0" anchor="t">
            <a:spAutoFit/>
          </a:bodyPr>
          <a:lstStyle/>
          <a:p>
            <a:pPr algn="l">
              <a:lnSpc>
                <a:spcPct val="130000"/>
              </a:lnSpc>
              <a:spcAft>
                <a:spcPts val="0"/>
              </a:spcAft>
            </a:pPr>
            <a:r>
              <a:rPr sz="1150" b="1">
                <a:solidFill>
                  <a:srgbClr val="1C1A19"/>
                </a:solidFill>
                <a:latin typeface="Segoe UI"/>
              </a:rPr>
              <a:t>Camera</a:t>
            </a:r>
          </a:p>
        </p:txBody>
      </p:sp>
      <p:sp>
        <p:nvSpPr>
          <p:cNvPr id="17" name="TextBox 16"/>
          <p:cNvSpPr txBox="1"/>
          <p:nvPr/>
        </p:nvSpPr>
        <p:spPr>
          <a:xfrm>
            <a:off x="8599931" y="3307840"/>
            <a:ext cx="2656331" cy="227837"/>
          </a:xfrm>
          <a:prstGeom prst="rect">
            <a:avLst/>
          </a:prstGeom>
          <a:noFill/>
        </p:spPr>
        <p:txBody>
          <a:bodyPr wrap="square" lIns="0" tIns="0" rIns="0" bIns="0" anchor="t">
            <a:spAutoFit/>
          </a:bodyPr>
          <a:lstStyle/>
          <a:p>
            <a:pPr algn="l">
              <a:lnSpc>
                <a:spcPct val="130000"/>
              </a:lnSpc>
              <a:spcAft>
                <a:spcPts val="0"/>
              </a:spcAft>
            </a:pPr>
            <a:r>
              <a:rPr sz="1150" b="0">
                <a:solidFill>
                  <a:srgbClr val="4A4542"/>
                </a:solidFill>
                <a:latin typeface="Segoe UI"/>
              </a:rPr>
              <a:t>IMX335 via DCMIPP</a:t>
            </a:r>
          </a:p>
        </p:txBody>
      </p:sp>
      <p:sp>
        <p:nvSpPr>
          <p:cNvPr id="18" name="Rectangle 17"/>
          <p:cNvSpPr/>
          <p:nvPr/>
        </p:nvSpPr>
        <p:spPr>
          <a:xfrm>
            <a:off x="7406640" y="3553965"/>
            <a:ext cx="3977639"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06640" y="3681981"/>
            <a:ext cx="1065275" cy="227837"/>
          </a:xfrm>
          <a:prstGeom prst="rect">
            <a:avLst/>
          </a:prstGeom>
          <a:noFill/>
        </p:spPr>
        <p:txBody>
          <a:bodyPr wrap="square" lIns="0" tIns="0" rIns="0" bIns="0" anchor="t">
            <a:spAutoFit/>
          </a:bodyPr>
          <a:lstStyle/>
          <a:p>
            <a:pPr algn="l">
              <a:lnSpc>
                <a:spcPct val="130000"/>
              </a:lnSpc>
              <a:spcAft>
                <a:spcPts val="0"/>
              </a:spcAft>
            </a:pPr>
            <a:r>
              <a:rPr sz="1150" b="1">
                <a:solidFill>
                  <a:srgbClr val="1C1A19"/>
                </a:solidFill>
                <a:latin typeface="Segoe UI"/>
              </a:rPr>
              <a:t>Actuator</a:t>
            </a:r>
          </a:p>
        </p:txBody>
      </p:sp>
      <p:sp>
        <p:nvSpPr>
          <p:cNvPr id="20" name="TextBox 19"/>
          <p:cNvSpPr txBox="1"/>
          <p:nvPr/>
        </p:nvSpPr>
        <p:spPr>
          <a:xfrm>
            <a:off x="8599931" y="3681981"/>
            <a:ext cx="2656331" cy="227837"/>
          </a:xfrm>
          <a:prstGeom prst="rect">
            <a:avLst/>
          </a:prstGeom>
          <a:noFill/>
        </p:spPr>
        <p:txBody>
          <a:bodyPr wrap="square" lIns="0" tIns="0" rIns="0" bIns="0" anchor="t">
            <a:spAutoFit/>
          </a:bodyPr>
          <a:lstStyle/>
          <a:p>
            <a:pPr algn="l">
              <a:lnSpc>
                <a:spcPct val="130000"/>
              </a:lnSpc>
              <a:spcAft>
                <a:spcPts val="0"/>
              </a:spcAft>
            </a:pPr>
            <a:r>
              <a:rPr sz="1150" b="0">
                <a:solidFill>
                  <a:srgbClr val="4A4542"/>
                </a:solidFill>
                <a:latin typeface="Segoe UI"/>
              </a:rPr>
              <a:t>28BYJ-48 stepper via ULN2003A</a:t>
            </a:r>
          </a:p>
        </p:txBody>
      </p:sp>
      <p:sp>
        <p:nvSpPr>
          <p:cNvPr id="21" name="Rectangle 20"/>
          <p:cNvSpPr/>
          <p:nvPr/>
        </p:nvSpPr>
        <p:spPr>
          <a:xfrm>
            <a:off x="7406640" y="3928106"/>
            <a:ext cx="3977639"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06640" y="4056122"/>
            <a:ext cx="1065275" cy="227837"/>
          </a:xfrm>
          <a:prstGeom prst="rect">
            <a:avLst/>
          </a:prstGeom>
          <a:noFill/>
        </p:spPr>
        <p:txBody>
          <a:bodyPr wrap="square" lIns="0" tIns="0" rIns="0" bIns="0" anchor="t">
            <a:spAutoFit/>
          </a:bodyPr>
          <a:lstStyle/>
          <a:p>
            <a:pPr algn="l">
              <a:lnSpc>
                <a:spcPct val="130000"/>
              </a:lnSpc>
              <a:spcAft>
                <a:spcPts val="0"/>
              </a:spcAft>
            </a:pPr>
            <a:r>
              <a:rPr sz="1150" b="1">
                <a:solidFill>
                  <a:srgbClr val="1C1A19"/>
                </a:solidFill>
                <a:latin typeface="Segoe UI"/>
              </a:rPr>
              <a:t>Sensor</a:t>
            </a:r>
          </a:p>
        </p:txBody>
      </p:sp>
      <p:sp>
        <p:nvSpPr>
          <p:cNvPr id="23" name="TextBox 22"/>
          <p:cNvSpPr txBox="1"/>
          <p:nvPr/>
        </p:nvSpPr>
        <p:spPr>
          <a:xfrm>
            <a:off x="8599931" y="4056122"/>
            <a:ext cx="2656331" cy="227837"/>
          </a:xfrm>
          <a:prstGeom prst="rect">
            <a:avLst/>
          </a:prstGeom>
          <a:noFill/>
        </p:spPr>
        <p:txBody>
          <a:bodyPr wrap="square" lIns="0" tIns="0" rIns="0" bIns="0" anchor="t">
            <a:spAutoFit/>
          </a:bodyPr>
          <a:lstStyle/>
          <a:p>
            <a:pPr algn="l">
              <a:lnSpc>
                <a:spcPct val="130000"/>
              </a:lnSpc>
              <a:spcAft>
                <a:spcPts val="0"/>
              </a:spcAft>
            </a:pPr>
            <a:r>
              <a:rPr sz="1150" b="0">
                <a:solidFill>
                  <a:srgbClr val="4A4542"/>
                </a:solidFill>
                <a:latin typeface="Segoe UI"/>
              </a:rPr>
              <a:t>IR proximity on EXTI0</a:t>
            </a:r>
          </a:p>
        </p:txBody>
      </p:sp>
      <p:sp>
        <p:nvSpPr>
          <p:cNvPr id="24" name="Rectangle 23"/>
          <p:cNvSpPr/>
          <p:nvPr/>
        </p:nvSpPr>
        <p:spPr>
          <a:xfrm>
            <a:off x="7406640" y="4302247"/>
            <a:ext cx="3977639"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06640" y="4430263"/>
            <a:ext cx="1065275" cy="227837"/>
          </a:xfrm>
          <a:prstGeom prst="rect">
            <a:avLst/>
          </a:prstGeom>
          <a:noFill/>
        </p:spPr>
        <p:txBody>
          <a:bodyPr wrap="square" lIns="0" tIns="0" rIns="0" bIns="0" anchor="t">
            <a:spAutoFit/>
          </a:bodyPr>
          <a:lstStyle/>
          <a:p>
            <a:pPr algn="l">
              <a:lnSpc>
                <a:spcPct val="130000"/>
              </a:lnSpc>
              <a:spcAft>
                <a:spcPts val="0"/>
              </a:spcAft>
            </a:pPr>
            <a:r>
              <a:rPr sz="1150" b="1">
                <a:solidFill>
                  <a:srgbClr val="1C1A19"/>
                </a:solidFill>
                <a:latin typeface="Segoe UI"/>
              </a:rPr>
              <a:t>Audio</a:t>
            </a:r>
          </a:p>
        </p:txBody>
      </p:sp>
      <p:sp>
        <p:nvSpPr>
          <p:cNvPr id="26" name="TextBox 25"/>
          <p:cNvSpPr txBox="1"/>
          <p:nvPr/>
        </p:nvSpPr>
        <p:spPr>
          <a:xfrm>
            <a:off x="8599931" y="4430263"/>
            <a:ext cx="2656331" cy="227837"/>
          </a:xfrm>
          <a:prstGeom prst="rect">
            <a:avLst/>
          </a:prstGeom>
          <a:noFill/>
        </p:spPr>
        <p:txBody>
          <a:bodyPr wrap="square" lIns="0" tIns="0" rIns="0" bIns="0" anchor="t">
            <a:spAutoFit/>
          </a:bodyPr>
          <a:lstStyle/>
          <a:p>
            <a:pPr algn="l">
              <a:lnSpc>
                <a:spcPct val="130000"/>
              </a:lnSpc>
              <a:spcAft>
                <a:spcPts val="0"/>
              </a:spcAft>
            </a:pPr>
            <a:r>
              <a:rPr sz="1150" b="0">
                <a:solidFill>
                  <a:srgbClr val="4A4542"/>
                </a:solidFill>
                <a:latin typeface="Segoe UI"/>
              </a:rPr>
              <a:t>active piezo, five patterns</a:t>
            </a:r>
          </a:p>
        </p:txBody>
      </p:sp>
      <p:sp>
        <p:nvSpPr>
          <p:cNvPr id="27" name="Rectangle 26"/>
          <p:cNvSpPr/>
          <p:nvPr/>
        </p:nvSpPr>
        <p:spPr>
          <a:xfrm>
            <a:off x="7406640" y="4676388"/>
            <a:ext cx="3977639"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06640" y="4804404"/>
            <a:ext cx="1065275" cy="227837"/>
          </a:xfrm>
          <a:prstGeom prst="rect">
            <a:avLst/>
          </a:prstGeom>
          <a:noFill/>
        </p:spPr>
        <p:txBody>
          <a:bodyPr wrap="square" lIns="0" tIns="0" rIns="0" bIns="0" anchor="t">
            <a:spAutoFit/>
          </a:bodyPr>
          <a:lstStyle/>
          <a:p>
            <a:pPr algn="l">
              <a:lnSpc>
                <a:spcPct val="130000"/>
              </a:lnSpc>
              <a:spcAft>
                <a:spcPts val="0"/>
              </a:spcAft>
            </a:pPr>
            <a:r>
              <a:rPr sz="1150" b="1">
                <a:solidFill>
                  <a:srgbClr val="1C1A19"/>
                </a:solidFill>
                <a:latin typeface="Segoe UI"/>
              </a:rPr>
              <a:t>Storage</a:t>
            </a:r>
          </a:p>
        </p:txBody>
      </p:sp>
      <p:sp>
        <p:nvSpPr>
          <p:cNvPr id="29" name="TextBox 28"/>
          <p:cNvSpPr txBox="1"/>
          <p:nvPr/>
        </p:nvSpPr>
        <p:spPr>
          <a:xfrm>
            <a:off x="8599931" y="4804404"/>
            <a:ext cx="2656331" cy="227837"/>
          </a:xfrm>
          <a:prstGeom prst="rect">
            <a:avLst/>
          </a:prstGeom>
          <a:noFill/>
        </p:spPr>
        <p:txBody>
          <a:bodyPr wrap="square" lIns="0" tIns="0" rIns="0" bIns="0" anchor="t">
            <a:spAutoFit/>
          </a:bodyPr>
          <a:lstStyle/>
          <a:p>
            <a:pPr algn="l">
              <a:lnSpc>
                <a:spcPct val="130000"/>
              </a:lnSpc>
              <a:spcAft>
                <a:spcPts val="0"/>
              </a:spcAft>
            </a:pPr>
            <a:r>
              <a:rPr sz="1150" b="0">
                <a:solidFill>
                  <a:srgbClr val="4A4542"/>
                </a:solidFill>
                <a:latin typeface="Segoe UI"/>
              </a:rPr>
              <a:t>microSD, the only storage</a:t>
            </a:r>
          </a:p>
        </p:txBody>
      </p:sp>
      <p:sp>
        <p:nvSpPr>
          <p:cNvPr id="30" name="Rectangle 29"/>
          <p:cNvSpPr/>
          <p:nvPr/>
        </p:nvSpPr>
        <p:spPr>
          <a:xfrm>
            <a:off x="7406640" y="5050529"/>
            <a:ext cx="3977639"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406640" y="5178545"/>
            <a:ext cx="1065275" cy="227837"/>
          </a:xfrm>
          <a:prstGeom prst="rect">
            <a:avLst/>
          </a:prstGeom>
          <a:noFill/>
        </p:spPr>
        <p:txBody>
          <a:bodyPr wrap="square" lIns="0" tIns="0" rIns="0" bIns="0" anchor="t">
            <a:spAutoFit/>
          </a:bodyPr>
          <a:lstStyle/>
          <a:p>
            <a:pPr algn="l">
              <a:lnSpc>
                <a:spcPct val="130000"/>
              </a:lnSpc>
              <a:spcAft>
                <a:spcPts val="0"/>
              </a:spcAft>
            </a:pPr>
            <a:r>
              <a:rPr sz="1150" b="1">
                <a:solidFill>
                  <a:srgbClr val="1C1A19"/>
                </a:solidFill>
                <a:latin typeface="Segoe UI"/>
              </a:rPr>
              <a:t>Power</a:t>
            </a:r>
          </a:p>
        </p:txBody>
      </p:sp>
      <p:sp>
        <p:nvSpPr>
          <p:cNvPr id="32" name="TextBox 31"/>
          <p:cNvSpPr txBox="1"/>
          <p:nvPr/>
        </p:nvSpPr>
        <p:spPr>
          <a:xfrm>
            <a:off x="8599931" y="5178545"/>
            <a:ext cx="2656331" cy="227837"/>
          </a:xfrm>
          <a:prstGeom prst="rect">
            <a:avLst/>
          </a:prstGeom>
          <a:noFill/>
        </p:spPr>
        <p:txBody>
          <a:bodyPr wrap="square" lIns="0" tIns="0" rIns="0" bIns="0" anchor="t">
            <a:spAutoFit/>
          </a:bodyPr>
          <a:lstStyle/>
          <a:p>
            <a:pPr algn="l">
              <a:lnSpc>
                <a:spcPct val="130000"/>
              </a:lnSpc>
              <a:spcAft>
                <a:spcPts val="0"/>
              </a:spcAft>
            </a:pPr>
            <a:r>
              <a:rPr sz="1150" b="0">
                <a:solidFill>
                  <a:srgbClr val="4A4542"/>
                </a:solidFill>
                <a:latin typeface="Segoe UI"/>
              </a:rPr>
              <a:t>5 V USB-C, runs on battery</a:t>
            </a:r>
          </a:p>
        </p:txBody>
      </p:sp>
      <p:sp>
        <p:nvSpPr>
          <p:cNvPr id="33" name="Rectangle 32"/>
          <p:cNvSpPr/>
          <p:nvPr/>
        </p:nvSpPr>
        <p:spPr>
          <a:xfrm>
            <a:off x="7406640" y="5424670"/>
            <a:ext cx="3977639"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77240" y="5642991"/>
            <a:ext cx="10637215"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77240" y="5844159"/>
            <a:ext cx="10637215" cy="236601"/>
          </a:xfrm>
          <a:prstGeom prst="rect">
            <a:avLst/>
          </a:prstGeom>
          <a:noFill/>
        </p:spPr>
        <p:txBody>
          <a:bodyPr wrap="square" lIns="0" tIns="0" rIns="0" bIns="0" anchor="t">
            <a:spAutoFit/>
          </a:bodyPr>
          <a:lstStyle/>
          <a:p>
            <a:pPr algn="l">
              <a:lnSpc>
                <a:spcPct val="135000"/>
              </a:lnSpc>
              <a:spcAft>
                <a:spcPts val="0"/>
              </a:spcAft>
            </a:pPr>
            <a:r>
              <a:rPr sz="1150" b="0">
                <a:solidFill>
                  <a:srgbClr val="6E6864"/>
                </a:solidFill>
                <a:latin typeface="Segoe UI"/>
              </a:rPr>
              <a:t>It boots itself: a signed second-stage image in external flash, no debugger. A complete dispense has been run on battery alone.</a:t>
            </a:r>
          </a:p>
        </p:txBody>
      </p:sp>
      <p:sp>
        <p:nvSpPr>
          <p:cNvPr id="36" name="TextBox 35"/>
          <p:cNvSpPr txBox="1"/>
          <p:nvPr/>
        </p:nvSpPr>
        <p:spPr>
          <a:xfrm>
            <a:off x="10865815" y="6291072"/>
            <a:ext cx="548640" cy="274320"/>
          </a:xfrm>
          <a:prstGeom prst="rect">
            <a:avLst/>
          </a:prstGeom>
          <a:noFill/>
        </p:spPr>
        <p:txBody>
          <a:bodyPr wrap="square" lIns="0" tIns="0" rIns="0" bIns="0" anchor="t">
            <a:spAutoFit/>
          </a:bodyPr>
          <a:lstStyle/>
          <a:p>
            <a:pPr algn="r">
              <a:lnSpc>
                <a:spcPct val="118000"/>
              </a:lnSpc>
              <a:spcAft>
                <a:spcPts val="0"/>
              </a:spcAft>
            </a:pPr>
            <a:r>
              <a:rPr sz="1100" b="0">
                <a:solidFill>
                  <a:srgbClr val="6E6864"/>
                </a:solidFill>
                <a:latin typeface="Segoe U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4F2"/>
        </a:solidFill>
        <a:effectLst/>
      </p:bgPr>
    </p:bg>
    <p:spTree>
      <p:nvGrpSpPr>
        <p:cNvPr id="1" name=""/>
        <p:cNvGrpSpPr/>
        <p:nvPr/>
      </p:nvGrpSpPr>
      <p:grpSpPr>
        <a:xfrm>
          <a:off x="0" y="0"/>
          <a:ext cx="0" cy="0"/>
          <a:chOff x="0" y="0"/>
          <a:chExt cx="0" cy="0"/>
        </a:xfrm>
      </p:grpSpPr>
      <p:sp>
        <p:nvSpPr>
          <p:cNvPr id="2" name="TextBox 1"/>
          <p:cNvSpPr txBox="1"/>
          <p:nvPr/>
        </p:nvSpPr>
        <p:spPr>
          <a:xfrm>
            <a:off x="777240" y="566928"/>
            <a:ext cx="10637215" cy="274320"/>
          </a:xfrm>
          <a:prstGeom prst="rect">
            <a:avLst/>
          </a:prstGeom>
          <a:noFill/>
        </p:spPr>
        <p:txBody>
          <a:bodyPr wrap="square" lIns="0" tIns="0" rIns="0" bIns="0" anchor="t">
            <a:spAutoFit/>
          </a:bodyPr>
          <a:lstStyle/>
          <a:p>
            <a:pPr algn="l">
              <a:lnSpc>
                <a:spcPct val="118000"/>
              </a:lnSpc>
              <a:spcAft>
                <a:spcPts val="0"/>
              </a:spcAft>
            </a:pPr>
            <a:r>
              <a:rPr sz="1050" b="1">
                <a:solidFill>
                  <a:srgbClr val="C2651F"/>
                </a:solidFill>
                <a:latin typeface="Segoe UI"/>
              </a:rPr>
              <a:t>PILL COUNTING</a:t>
            </a:r>
          </a:p>
        </p:txBody>
      </p:sp>
      <p:sp>
        <p:nvSpPr>
          <p:cNvPr id="3" name="TextBox 2"/>
          <p:cNvSpPr txBox="1"/>
          <p:nvPr/>
        </p:nvSpPr>
        <p:spPr>
          <a:xfrm>
            <a:off x="777240" y="868680"/>
            <a:ext cx="10637215" cy="480060"/>
          </a:xfrm>
          <a:prstGeom prst="rect">
            <a:avLst/>
          </a:prstGeom>
          <a:noFill/>
        </p:spPr>
        <p:txBody>
          <a:bodyPr wrap="square" lIns="0" tIns="0" rIns="0" bIns="0" anchor="t">
            <a:spAutoFit/>
          </a:bodyPr>
          <a:lstStyle/>
          <a:p>
            <a:pPr algn="l">
              <a:lnSpc>
                <a:spcPct val="105000"/>
              </a:lnSpc>
              <a:spcAft>
                <a:spcPts val="0"/>
              </a:spcAft>
            </a:pPr>
            <a:r>
              <a:rPr sz="3000" b="1">
                <a:solidFill>
                  <a:srgbClr val="1C1A19"/>
                </a:solidFill>
                <a:latin typeface="Segoe UI"/>
              </a:rPr>
              <a:t>Count derived from interrupt timestamps</a:t>
            </a:r>
          </a:p>
        </p:txBody>
      </p:sp>
      <p:sp>
        <p:nvSpPr>
          <p:cNvPr id="4" name="Rectangle 3"/>
          <p:cNvSpPr/>
          <p:nvPr/>
        </p:nvSpPr>
        <p:spPr>
          <a:xfrm>
            <a:off x="777240" y="1627632"/>
            <a:ext cx="10637215" cy="20320"/>
          </a:xfrm>
          <a:prstGeom prst="rect">
            <a:avLst/>
          </a:prstGeom>
          <a:solidFill>
            <a:srgbClr val="1C1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920240"/>
            <a:ext cx="2143353" cy="274320"/>
          </a:xfrm>
          <a:prstGeom prst="rect">
            <a:avLst/>
          </a:prstGeom>
          <a:noFill/>
        </p:spPr>
        <p:txBody>
          <a:bodyPr wrap="square" lIns="0" tIns="0" rIns="0" bIns="0" anchor="t">
            <a:spAutoFit/>
          </a:bodyPr>
          <a:lstStyle/>
          <a:p>
            <a:pPr algn="l">
              <a:lnSpc>
                <a:spcPct val="118000"/>
              </a:lnSpc>
              <a:spcAft>
                <a:spcPts val="0"/>
              </a:spcAft>
            </a:pPr>
            <a:r>
              <a:rPr sz="880" b="1">
                <a:solidFill>
                  <a:srgbClr val="1C1A19"/>
                </a:solidFill>
                <a:latin typeface="Segoe UI"/>
              </a:rPr>
              <a:t>QUANTITY</a:t>
            </a:r>
          </a:p>
        </p:txBody>
      </p:sp>
      <p:sp>
        <p:nvSpPr>
          <p:cNvPr id="6" name="TextBox 5"/>
          <p:cNvSpPr txBox="1"/>
          <p:nvPr/>
        </p:nvSpPr>
        <p:spPr>
          <a:xfrm>
            <a:off x="3048609" y="1920240"/>
            <a:ext cx="3909974" cy="274320"/>
          </a:xfrm>
          <a:prstGeom prst="rect">
            <a:avLst/>
          </a:prstGeom>
          <a:noFill/>
        </p:spPr>
        <p:txBody>
          <a:bodyPr wrap="square" lIns="0" tIns="0" rIns="0" bIns="0" anchor="t">
            <a:spAutoFit/>
          </a:bodyPr>
          <a:lstStyle/>
          <a:p>
            <a:pPr algn="l">
              <a:lnSpc>
                <a:spcPct val="118000"/>
              </a:lnSpc>
              <a:spcAft>
                <a:spcPts val="0"/>
              </a:spcAft>
            </a:pPr>
            <a:r>
              <a:rPr sz="880" b="1">
                <a:solidFill>
                  <a:srgbClr val="1C1A19"/>
                </a:solidFill>
                <a:latin typeface="Segoe UI"/>
              </a:rPr>
              <a:t>MEASURED</a:t>
            </a:r>
          </a:p>
        </p:txBody>
      </p:sp>
      <p:sp>
        <p:nvSpPr>
          <p:cNvPr id="7" name="Rectangle 6"/>
          <p:cNvSpPr/>
          <p:nvPr/>
        </p:nvSpPr>
        <p:spPr>
          <a:xfrm>
            <a:off x="777240" y="2157984"/>
            <a:ext cx="6309360" cy="17780"/>
          </a:xfrm>
          <a:prstGeom prst="rect">
            <a:avLst/>
          </a:prstGeom>
          <a:solidFill>
            <a:srgbClr val="1C1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286000"/>
            <a:ext cx="2143353" cy="227837"/>
          </a:xfrm>
          <a:prstGeom prst="rect">
            <a:avLst/>
          </a:prstGeom>
          <a:noFill/>
        </p:spPr>
        <p:txBody>
          <a:bodyPr wrap="square" lIns="0" tIns="0" rIns="0" bIns="0" anchor="t">
            <a:spAutoFit/>
          </a:bodyPr>
          <a:lstStyle/>
          <a:p>
            <a:pPr algn="l">
              <a:lnSpc>
                <a:spcPct val="130000"/>
              </a:lnSpc>
              <a:spcAft>
                <a:spcPts val="0"/>
              </a:spcAft>
            </a:pPr>
            <a:r>
              <a:rPr sz="1150" b="1">
                <a:solidFill>
                  <a:srgbClr val="1C1A19"/>
                </a:solidFill>
                <a:latin typeface="Segoe UI"/>
              </a:rPr>
              <a:t>Sensor idle level</a:t>
            </a:r>
          </a:p>
        </p:txBody>
      </p:sp>
      <p:sp>
        <p:nvSpPr>
          <p:cNvPr id="9" name="TextBox 8"/>
          <p:cNvSpPr txBox="1"/>
          <p:nvPr/>
        </p:nvSpPr>
        <p:spPr>
          <a:xfrm>
            <a:off x="3048609" y="2286000"/>
            <a:ext cx="3909974" cy="227837"/>
          </a:xfrm>
          <a:prstGeom prst="rect">
            <a:avLst/>
          </a:prstGeom>
          <a:noFill/>
        </p:spPr>
        <p:txBody>
          <a:bodyPr wrap="square" lIns="0" tIns="0" rIns="0" bIns="0" anchor="t">
            <a:spAutoFit/>
          </a:bodyPr>
          <a:lstStyle/>
          <a:p>
            <a:pPr algn="l">
              <a:lnSpc>
                <a:spcPct val="130000"/>
              </a:lnSpc>
              <a:spcAft>
                <a:spcPts val="0"/>
              </a:spcAft>
            </a:pPr>
            <a:r>
              <a:rPr sz="1150" b="0">
                <a:solidFill>
                  <a:srgbClr val="4A4542"/>
                </a:solidFill>
                <a:latin typeface="Segoe UI"/>
              </a:rPr>
              <a:t>HIGH, across 7 separate boots</a:t>
            </a:r>
          </a:p>
        </p:txBody>
      </p:sp>
      <p:sp>
        <p:nvSpPr>
          <p:cNvPr id="10" name="Rectangle 9"/>
          <p:cNvSpPr/>
          <p:nvPr/>
        </p:nvSpPr>
        <p:spPr>
          <a:xfrm>
            <a:off x="777240" y="2532125"/>
            <a:ext cx="630936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60141"/>
            <a:ext cx="2143353" cy="227837"/>
          </a:xfrm>
          <a:prstGeom prst="rect">
            <a:avLst/>
          </a:prstGeom>
          <a:noFill/>
        </p:spPr>
        <p:txBody>
          <a:bodyPr wrap="square" lIns="0" tIns="0" rIns="0" bIns="0" anchor="t">
            <a:spAutoFit/>
          </a:bodyPr>
          <a:lstStyle/>
          <a:p>
            <a:pPr algn="l">
              <a:lnSpc>
                <a:spcPct val="130000"/>
              </a:lnSpc>
              <a:spcAft>
                <a:spcPts val="0"/>
              </a:spcAft>
            </a:pPr>
            <a:r>
              <a:rPr sz="1150" b="1">
                <a:solidFill>
                  <a:srgbClr val="1C1A19"/>
                </a:solidFill>
                <a:latin typeface="Segoe UI"/>
              </a:rPr>
              <a:t>Real pill pulses</a:t>
            </a:r>
          </a:p>
        </p:txBody>
      </p:sp>
      <p:sp>
        <p:nvSpPr>
          <p:cNvPr id="12" name="TextBox 11"/>
          <p:cNvSpPr txBox="1"/>
          <p:nvPr/>
        </p:nvSpPr>
        <p:spPr>
          <a:xfrm>
            <a:off x="3048609" y="2660141"/>
            <a:ext cx="3909974" cy="227837"/>
          </a:xfrm>
          <a:prstGeom prst="rect">
            <a:avLst/>
          </a:prstGeom>
          <a:noFill/>
        </p:spPr>
        <p:txBody>
          <a:bodyPr wrap="square" lIns="0" tIns="0" rIns="0" bIns="0" anchor="t">
            <a:spAutoFit/>
          </a:bodyPr>
          <a:lstStyle/>
          <a:p>
            <a:pPr algn="l">
              <a:lnSpc>
                <a:spcPct val="130000"/>
              </a:lnSpc>
              <a:spcAft>
                <a:spcPts val="0"/>
              </a:spcAft>
            </a:pPr>
            <a:r>
              <a:rPr sz="1150" b="0">
                <a:solidFill>
                  <a:srgbClr val="4A4542"/>
                </a:solidFill>
                <a:latin typeface="Segoe UI"/>
              </a:rPr>
              <a:t>17 to 46 ms</a:t>
            </a:r>
          </a:p>
        </p:txBody>
      </p:sp>
      <p:sp>
        <p:nvSpPr>
          <p:cNvPr id="13" name="Rectangle 12"/>
          <p:cNvSpPr/>
          <p:nvPr/>
        </p:nvSpPr>
        <p:spPr>
          <a:xfrm>
            <a:off x="777240" y="2906266"/>
            <a:ext cx="630936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3034282"/>
            <a:ext cx="2143353" cy="227837"/>
          </a:xfrm>
          <a:prstGeom prst="rect">
            <a:avLst/>
          </a:prstGeom>
          <a:noFill/>
        </p:spPr>
        <p:txBody>
          <a:bodyPr wrap="square" lIns="0" tIns="0" rIns="0" bIns="0" anchor="t">
            <a:spAutoFit/>
          </a:bodyPr>
          <a:lstStyle/>
          <a:p>
            <a:pPr algn="l">
              <a:lnSpc>
                <a:spcPct val="130000"/>
              </a:lnSpc>
              <a:spcAft>
                <a:spcPts val="0"/>
              </a:spcAft>
            </a:pPr>
            <a:r>
              <a:rPr sz="1150" b="1">
                <a:solidFill>
                  <a:srgbClr val="1C1A19"/>
                </a:solidFill>
                <a:latin typeface="Segoe UI"/>
              </a:rPr>
              <a:t>Contact chatter</a:t>
            </a:r>
          </a:p>
        </p:txBody>
      </p:sp>
      <p:sp>
        <p:nvSpPr>
          <p:cNvPr id="15" name="TextBox 14"/>
          <p:cNvSpPr txBox="1"/>
          <p:nvPr/>
        </p:nvSpPr>
        <p:spPr>
          <a:xfrm>
            <a:off x="3048609" y="3034282"/>
            <a:ext cx="3909974" cy="227837"/>
          </a:xfrm>
          <a:prstGeom prst="rect">
            <a:avLst/>
          </a:prstGeom>
          <a:noFill/>
        </p:spPr>
        <p:txBody>
          <a:bodyPr wrap="square" lIns="0" tIns="0" rIns="0" bIns="0" anchor="t">
            <a:spAutoFit/>
          </a:bodyPr>
          <a:lstStyle/>
          <a:p>
            <a:pPr algn="l">
              <a:lnSpc>
                <a:spcPct val="130000"/>
              </a:lnSpc>
              <a:spcAft>
                <a:spcPts val="0"/>
              </a:spcAft>
            </a:pPr>
            <a:r>
              <a:rPr sz="1150" b="0">
                <a:solidFill>
                  <a:srgbClr val="4A4542"/>
                </a:solidFill>
                <a:latin typeface="Segoe UI"/>
              </a:rPr>
              <a:t>0 to 1 ms</a:t>
            </a:r>
          </a:p>
        </p:txBody>
      </p:sp>
      <p:sp>
        <p:nvSpPr>
          <p:cNvPr id="16" name="Rectangle 15"/>
          <p:cNvSpPr/>
          <p:nvPr/>
        </p:nvSpPr>
        <p:spPr>
          <a:xfrm>
            <a:off x="777240" y="3280407"/>
            <a:ext cx="630936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3408423"/>
            <a:ext cx="2143353" cy="455675"/>
          </a:xfrm>
          <a:prstGeom prst="rect">
            <a:avLst/>
          </a:prstGeom>
          <a:noFill/>
        </p:spPr>
        <p:txBody>
          <a:bodyPr wrap="square" lIns="0" tIns="0" rIns="0" bIns="0" anchor="t">
            <a:spAutoFit/>
          </a:bodyPr>
          <a:lstStyle/>
          <a:p>
            <a:pPr algn="l">
              <a:lnSpc>
                <a:spcPct val="130000"/>
              </a:lnSpc>
              <a:spcAft>
                <a:spcPts val="0"/>
              </a:spcAft>
            </a:pPr>
            <a:r>
              <a:rPr sz="1150" b="1">
                <a:solidFill>
                  <a:srgbClr val="1C1A19"/>
                </a:solidFill>
                <a:latin typeface="Segoe UI"/>
              </a:rPr>
              <a:t>Discrimination floor</a:t>
            </a:r>
          </a:p>
        </p:txBody>
      </p:sp>
      <p:sp>
        <p:nvSpPr>
          <p:cNvPr id="18" name="TextBox 17"/>
          <p:cNvSpPr txBox="1"/>
          <p:nvPr/>
        </p:nvSpPr>
        <p:spPr>
          <a:xfrm>
            <a:off x="3048609" y="3408423"/>
            <a:ext cx="3909974" cy="455675"/>
          </a:xfrm>
          <a:prstGeom prst="rect">
            <a:avLst/>
          </a:prstGeom>
          <a:noFill/>
        </p:spPr>
        <p:txBody>
          <a:bodyPr wrap="square" lIns="0" tIns="0" rIns="0" bIns="0" anchor="t">
            <a:spAutoFit/>
          </a:bodyPr>
          <a:lstStyle/>
          <a:p>
            <a:pPr algn="l">
              <a:lnSpc>
                <a:spcPct val="130000"/>
              </a:lnSpc>
              <a:spcAft>
                <a:spcPts val="0"/>
              </a:spcAft>
            </a:pPr>
            <a:r>
              <a:rPr sz="1150" b="0">
                <a:solidFill>
                  <a:srgbClr val="4A4542"/>
                </a:solidFill>
                <a:latin typeface="Segoe UI"/>
              </a:rPr>
              <a:t>8 ms, above every chatter event seen and under half the shortest real break</a:t>
            </a:r>
          </a:p>
        </p:txBody>
      </p:sp>
      <p:sp>
        <p:nvSpPr>
          <p:cNvPr id="19" name="Rectangle 18"/>
          <p:cNvSpPr/>
          <p:nvPr/>
        </p:nvSpPr>
        <p:spPr>
          <a:xfrm>
            <a:off x="777240" y="3882386"/>
            <a:ext cx="630936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4010402"/>
            <a:ext cx="2143353" cy="227837"/>
          </a:xfrm>
          <a:prstGeom prst="rect">
            <a:avLst/>
          </a:prstGeom>
          <a:noFill/>
        </p:spPr>
        <p:txBody>
          <a:bodyPr wrap="square" lIns="0" tIns="0" rIns="0" bIns="0" anchor="t">
            <a:spAutoFit/>
          </a:bodyPr>
          <a:lstStyle/>
          <a:p>
            <a:pPr algn="l">
              <a:lnSpc>
                <a:spcPct val="130000"/>
              </a:lnSpc>
              <a:spcAft>
                <a:spcPts val="0"/>
              </a:spcAft>
            </a:pPr>
            <a:r>
              <a:rPr sz="1150" b="1">
                <a:solidFill>
                  <a:srgbClr val="1C1A19"/>
                </a:solidFill>
                <a:latin typeface="Segoe UI"/>
              </a:rPr>
              <a:t>Longest legitimate pulse</a:t>
            </a:r>
          </a:p>
        </p:txBody>
      </p:sp>
      <p:sp>
        <p:nvSpPr>
          <p:cNvPr id="21" name="TextBox 20"/>
          <p:cNvSpPr txBox="1"/>
          <p:nvPr/>
        </p:nvSpPr>
        <p:spPr>
          <a:xfrm>
            <a:off x="3048609" y="4010402"/>
            <a:ext cx="3909974" cy="227837"/>
          </a:xfrm>
          <a:prstGeom prst="rect">
            <a:avLst/>
          </a:prstGeom>
          <a:noFill/>
        </p:spPr>
        <p:txBody>
          <a:bodyPr wrap="square" lIns="0" tIns="0" rIns="0" bIns="0" anchor="t">
            <a:spAutoFit/>
          </a:bodyPr>
          <a:lstStyle/>
          <a:p>
            <a:pPr algn="l">
              <a:lnSpc>
                <a:spcPct val="130000"/>
              </a:lnSpc>
              <a:spcAft>
                <a:spcPts val="0"/>
              </a:spcAft>
            </a:pPr>
            <a:r>
              <a:rPr sz="1150" b="0">
                <a:solidFill>
                  <a:srgbClr val="4A4542"/>
                </a:solidFill>
                <a:latin typeface="Segoe UI"/>
              </a:rPr>
              <a:t>1210 ms</a:t>
            </a:r>
          </a:p>
        </p:txBody>
      </p:sp>
      <p:sp>
        <p:nvSpPr>
          <p:cNvPr id="22" name="Rectangle 21"/>
          <p:cNvSpPr/>
          <p:nvPr/>
        </p:nvSpPr>
        <p:spPr>
          <a:xfrm>
            <a:off x="777240" y="4256527"/>
            <a:ext cx="630936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4384543"/>
            <a:ext cx="2143353" cy="227837"/>
          </a:xfrm>
          <a:prstGeom prst="rect">
            <a:avLst/>
          </a:prstGeom>
          <a:noFill/>
        </p:spPr>
        <p:txBody>
          <a:bodyPr wrap="square" lIns="0" tIns="0" rIns="0" bIns="0" anchor="t">
            <a:spAutoFit/>
          </a:bodyPr>
          <a:lstStyle/>
          <a:p>
            <a:pPr algn="l">
              <a:lnSpc>
                <a:spcPct val="130000"/>
              </a:lnSpc>
              <a:spcAft>
                <a:spcPts val="0"/>
              </a:spcAft>
            </a:pPr>
            <a:r>
              <a:rPr sz="1150" b="1">
                <a:solidFill>
                  <a:srgbClr val="1C1A19"/>
                </a:solidFill>
                <a:latin typeface="Segoe UI"/>
              </a:rPr>
              <a:t>Half-step period</a:t>
            </a:r>
          </a:p>
        </p:txBody>
      </p:sp>
      <p:sp>
        <p:nvSpPr>
          <p:cNvPr id="24" name="TextBox 23"/>
          <p:cNvSpPr txBox="1"/>
          <p:nvPr/>
        </p:nvSpPr>
        <p:spPr>
          <a:xfrm>
            <a:off x="3048609" y="4384543"/>
            <a:ext cx="3909974" cy="227837"/>
          </a:xfrm>
          <a:prstGeom prst="rect">
            <a:avLst/>
          </a:prstGeom>
          <a:noFill/>
        </p:spPr>
        <p:txBody>
          <a:bodyPr wrap="square" lIns="0" tIns="0" rIns="0" bIns="0" anchor="t">
            <a:spAutoFit/>
          </a:bodyPr>
          <a:lstStyle/>
          <a:p>
            <a:pPr algn="l">
              <a:lnSpc>
                <a:spcPct val="130000"/>
              </a:lnSpc>
              <a:spcAft>
                <a:spcPts val="0"/>
              </a:spcAft>
            </a:pPr>
            <a:r>
              <a:rPr sz="1150" b="0">
                <a:solidFill>
                  <a:srgbClr val="4A4542"/>
                </a:solidFill>
                <a:latin typeface="Segoe UI"/>
              </a:rPr>
              <a:t>2 ms, smooth and silent under load</a:t>
            </a:r>
          </a:p>
        </p:txBody>
      </p:sp>
      <p:sp>
        <p:nvSpPr>
          <p:cNvPr id="25" name="Rectangle 24"/>
          <p:cNvSpPr/>
          <p:nvPr/>
        </p:nvSpPr>
        <p:spPr>
          <a:xfrm>
            <a:off x="777240" y="4630668"/>
            <a:ext cx="6309360"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452360" y="1920240"/>
            <a:ext cx="3931920" cy="2430474"/>
          </a:xfrm>
          <a:prstGeom prst="rect">
            <a:avLst/>
          </a:prstGeom>
          <a:solidFill>
            <a:srgbClr val="F1EBE8"/>
          </a:solidFill>
          <a:ln w="12700">
            <a:solidFill>
              <a:srgbClr val="E6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26680" y="2194560"/>
            <a:ext cx="3383280" cy="1881834"/>
          </a:xfrm>
          <a:prstGeom prst="rect">
            <a:avLst/>
          </a:prstGeom>
          <a:noFill/>
        </p:spPr>
        <p:txBody>
          <a:bodyPr wrap="square" lIns="0" tIns="0" rIns="0" bIns="0" anchor="t">
            <a:spAutoFit/>
          </a:bodyPr>
          <a:lstStyle/>
          <a:p>
            <a:pPr algn="l">
              <a:lnSpc>
                <a:spcPct val="134000"/>
              </a:lnSpc>
              <a:spcAft>
                <a:spcPts val="900"/>
              </a:spcAft>
            </a:pPr>
            <a:r>
              <a:rPr sz="1200" b="1">
                <a:solidFill>
                  <a:srgbClr val="1C1A19"/>
                </a:solidFill>
                <a:latin typeface="Segoe UI"/>
              </a:rPr>
              <a:t>Four trials, all 13 pills counted</a:t>
            </a:r>
          </a:p>
          <a:p>
            <a:pPr algn="l">
              <a:lnSpc>
                <a:spcPct val="134000"/>
              </a:lnSpc>
              <a:spcAft>
                <a:spcPts val="900"/>
              </a:spcAft>
            </a:pPr>
            <a:r>
              <a:rPr sz="1250" b="0">
                <a:solidFill>
                  <a:srgbClr val="1C1A19"/>
                </a:solidFill>
                <a:latin typeface="Consolas"/>
              </a:rPr>
              <a:t>5 of 5   3 of 3   3 of 3   2 of 2</a:t>
            </a:r>
          </a:p>
          <a:p>
            <a:pPr algn="l">
              <a:lnSpc>
                <a:spcPct val="134000"/>
              </a:lnSpc>
              <a:spcAft>
                <a:spcPts val="900"/>
              </a:spcAft>
            </a:pPr>
            <a:r>
              <a:rPr sz="1200" b="0">
                <a:solidFill>
                  <a:srgbClr val="4A4542"/>
                </a:solidFill>
                <a:latin typeface="Segoe UI"/>
              </a:rPr>
              <a:t>Counted by the sensor rather than by the motor. A small sample, and not a reliability figure: the mechanism has miscounted and jammed outside these trials.</a:t>
            </a:r>
          </a:p>
        </p:txBody>
      </p:sp>
      <p:sp>
        <p:nvSpPr>
          <p:cNvPr id="28" name="Rectangle 27"/>
          <p:cNvSpPr/>
          <p:nvPr/>
        </p:nvSpPr>
        <p:spPr>
          <a:xfrm>
            <a:off x="7452360" y="4565598"/>
            <a:ext cx="45720" cy="435254"/>
          </a:xfrm>
          <a:prstGeom prst="rect">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708392" y="4515306"/>
            <a:ext cx="3675888" cy="490118"/>
          </a:xfrm>
          <a:prstGeom prst="rect">
            <a:avLst/>
          </a:prstGeom>
          <a:noFill/>
        </p:spPr>
        <p:txBody>
          <a:bodyPr wrap="square" lIns="0" tIns="0" rIns="0" bIns="0" anchor="t">
            <a:spAutoFit/>
          </a:bodyPr>
          <a:lstStyle/>
          <a:p>
            <a:pPr algn="l">
              <a:lnSpc>
                <a:spcPct val="134000"/>
              </a:lnSpc>
              <a:spcAft>
                <a:spcPts val="0"/>
              </a:spcAft>
            </a:pPr>
            <a:r>
              <a:rPr sz="1200" b="1">
                <a:solidFill>
                  <a:srgbClr val="1C1A19"/>
                </a:solidFill>
                <a:latin typeface="Segoe UI"/>
              </a:rPr>
              <a:t>Why the counter works. </a:t>
            </a:r>
            <a:r>
              <a:rPr sz="1200" b="0">
                <a:solidFill>
                  <a:srgbClr val="4A4542"/>
                </a:solidFill>
                <a:latin typeface="Segoe UI"/>
              </a:rPr>
              <a:t>Pills slide rather than free-fall: a pulse is 17 to 46 ms.</a:t>
            </a:r>
          </a:p>
        </p:txBody>
      </p:sp>
      <p:sp>
        <p:nvSpPr>
          <p:cNvPr id="30" name="Rectangle 29"/>
          <p:cNvSpPr/>
          <p:nvPr/>
        </p:nvSpPr>
        <p:spPr>
          <a:xfrm>
            <a:off x="777240" y="5169789"/>
            <a:ext cx="10637215"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7240" y="5370957"/>
            <a:ext cx="10637215" cy="709803"/>
          </a:xfrm>
          <a:prstGeom prst="rect">
            <a:avLst/>
          </a:prstGeom>
          <a:noFill/>
        </p:spPr>
        <p:txBody>
          <a:bodyPr wrap="square" lIns="0" tIns="0" rIns="0" bIns="0" anchor="t">
            <a:spAutoFit/>
          </a:bodyPr>
          <a:lstStyle/>
          <a:p>
            <a:pPr algn="l">
              <a:lnSpc>
                <a:spcPct val="135000"/>
              </a:lnSpc>
              <a:spcAft>
                <a:spcPts val="0"/>
              </a:spcAft>
            </a:pPr>
            <a:r>
              <a:rPr sz="1150" b="0">
                <a:solidFill>
                  <a:srgbClr val="6E6864"/>
                </a:solidFill>
                <a:latin typeface="Segoe UI"/>
              </a:rPr>
              <a:t>One bound remains: 25 seconds since the last counted pill, restarted by every pill. A 1500 ms stall bound would leave 290 ms of margin against a measured 1210 ms legitimate break, on a device where tripping it means refusing a dose being delivered correctly. A working mechanism now runs as long as it needs, and a stopped one is caught inside one window.</a:t>
            </a:r>
          </a:p>
        </p:txBody>
      </p:sp>
      <p:sp>
        <p:nvSpPr>
          <p:cNvPr id="32" name="TextBox 31"/>
          <p:cNvSpPr txBox="1"/>
          <p:nvPr/>
        </p:nvSpPr>
        <p:spPr>
          <a:xfrm>
            <a:off x="10865815" y="6291072"/>
            <a:ext cx="548640" cy="274320"/>
          </a:xfrm>
          <a:prstGeom prst="rect">
            <a:avLst/>
          </a:prstGeom>
          <a:noFill/>
        </p:spPr>
        <p:txBody>
          <a:bodyPr wrap="square" lIns="0" tIns="0" rIns="0" bIns="0" anchor="t">
            <a:spAutoFit/>
          </a:bodyPr>
          <a:lstStyle/>
          <a:p>
            <a:pPr algn="r">
              <a:lnSpc>
                <a:spcPct val="118000"/>
              </a:lnSpc>
              <a:spcAft>
                <a:spcPts val="0"/>
              </a:spcAft>
            </a:pPr>
            <a:r>
              <a:rPr sz="1100" b="0">
                <a:solidFill>
                  <a:srgbClr val="6E6864"/>
                </a:solidFill>
                <a:latin typeface="Segoe U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4F2"/>
        </a:solidFill>
        <a:effectLst/>
      </p:bgPr>
    </p:bg>
    <p:spTree>
      <p:nvGrpSpPr>
        <p:cNvPr id="1" name=""/>
        <p:cNvGrpSpPr/>
        <p:nvPr/>
      </p:nvGrpSpPr>
      <p:grpSpPr>
        <a:xfrm>
          <a:off x="0" y="0"/>
          <a:ext cx="0" cy="0"/>
          <a:chOff x="0" y="0"/>
          <a:chExt cx="0" cy="0"/>
        </a:xfrm>
      </p:grpSpPr>
      <p:sp>
        <p:nvSpPr>
          <p:cNvPr id="2" name="TextBox 1"/>
          <p:cNvSpPr txBox="1"/>
          <p:nvPr/>
        </p:nvSpPr>
        <p:spPr>
          <a:xfrm>
            <a:off x="777240" y="566928"/>
            <a:ext cx="10637215" cy="274320"/>
          </a:xfrm>
          <a:prstGeom prst="rect">
            <a:avLst/>
          </a:prstGeom>
          <a:noFill/>
        </p:spPr>
        <p:txBody>
          <a:bodyPr wrap="square" lIns="0" tIns="0" rIns="0" bIns="0" anchor="t">
            <a:spAutoFit/>
          </a:bodyPr>
          <a:lstStyle/>
          <a:p>
            <a:pPr algn="l">
              <a:lnSpc>
                <a:spcPct val="118000"/>
              </a:lnSpc>
              <a:spcAft>
                <a:spcPts val="0"/>
              </a:spcAft>
            </a:pPr>
            <a:r>
              <a:rPr sz="1050" b="1">
                <a:solidFill>
                  <a:srgbClr val="C2651F"/>
                </a:solidFill>
                <a:latin typeface="Segoe UI"/>
              </a:rPr>
              <a:t>CURRENT LIMITATIONS</a:t>
            </a:r>
          </a:p>
        </p:txBody>
      </p:sp>
      <p:sp>
        <p:nvSpPr>
          <p:cNvPr id="3" name="TextBox 2"/>
          <p:cNvSpPr txBox="1"/>
          <p:nvPr/>
        </p:nvSpPr>
        <p:spPr>
          <a:xfrm>
            <a:off x="777240" y="868680"/>
            <a:ext cx="10637215" cy="480060"/>
          </a:xfrm>
          <a:prstGeom prst="rect">
            <a:avLst/>
          </a:prstGeom>
          <a:noFill/>
        </p:spPr>
        <p:txBody>
          <a:bodyPr wrap="square" lIns="0" tIns="0" rIns="0" bIns="0" anchor="t">
            <a:spAutoFit/>
          </a:bodyPr>
          <a:lstStyle/>
          <a:p>
            <a:pPr algn="l">
              <a:lnSpc>
                <a:spcPct val="105000"/>
              </a:lnSpc>
              <a:spcAft>
                <a:spcPts val="0"/>
              </a:spcAft>
            </a:pPr>
            <a:r>
              <a:rPr sz="3000" b="1">
                <a:solidFill>
                  <a:srgbClr val="1C1A19"/>
                </a:solidFill>
                <a:latin typeface="Segoe UI"/>
              </a:rPr>
              <a:t>Five open items, each with a defined approach</a:t>
            </a:r>
          </a:p>
        </p:txBody>
      </p:sp>
      <p:sp>
        <p:nvSpPr>
          <p:cNvPr id="4" name="Rectangle 3"/>
          <p:cNvSpPr/>
          <p:nvPr/>
        </p:nvSpPr>
        <p:spPr>
          <a:xfrm>
            <a:off x="777240" y="1627632"/>
            <a:ext cx="10637215" cy="20320"/>
          </a:xfrm>
          <a:prstGeom prst="rect">
            <a:avLst/>
          </a:prstGeom>
          <a:solidFill>
            <a:srgbClr val="1C1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 y="2103120"/>
            <a:ext cx="45720" cy="219760"/>
          </a:xfrm>
          <a:prstGeom prst="rect">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2057400"/>
            <a:ext cx="10332720" cy="265480"/>
          </a:xfrm>
          <a:prstGeom prst="rect">
            <a:avLst/>
          </a:prstGeom>
          <a:noFill/>
        </p:spPr>
        <p:txBody>
          <a:bodyPr wrap="square" lIns="0" tIns="0" rIns="0" bIns="0" anchor="t">
            <a:spAutoFit/>
          </a:bodyPr>
          <a:lstStyle/>
          <a:p>
            <a:pPr algn="l">
              <a:lnSpc>
                <a:spcPct val="134000"/>
              </a:lnSpc>
              <a:spcAft>
                <a:spcPts val="0"/>
              </a:spcAft>
            </a:pPr>
            <a:r>
              <a:rPr sz="1300" b="1">
                <a:solidFill>
                  <a:srgbClr val="1C1A19"/>
                </a:solidFill>
                <a:latin typeface="Segoe UI"/>
              </a:rPr>
              <a:t>One turntable, so one medication. </a:t>
            </a:r>
            <a:r>
              <a:rPr sz="1300" b="0">
                <a:solidFill>
                  <a:srgbClr val="4A4542"/>
                </a:solidFill>
                <a:latin typeface="Segoe UI"/>
              </a:rPr>
              <a:t>Next: the stacked modules already drawn in the hardware specification, plus a drug field in the record.</a:t>
            </a:r>
          </a:p>
        </p:txBody>
      </p:sp>
      <p:sp>
        <p:nvSpPr>
          <p:cNvPr id="7" name="Rectangle 6"/>
          <p:cNvSpPr/>
          <p:nvPr/>
        </p:nvSpPr>
        <p:spPr>
          <a:xfrm>
            <a:off x="777240" y="2569768"/>
            <a:ext cx="45720" cy="219760"/>
          </a:xfrm>
          <a:prstGeom prst="rect">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2524048"/>
            <a:ext cx="10332720" cy="265480"/>
          </a:xfrm>
          <a:prstGeom prst="rect">
            <a:avLst/>
          </a:prstGeom>
          <a:noFill/>
        </p:spPr>
        <p:txBody>
          <a:bodyPr wrap="square" lIns="0" tIns="0" rIns="0" bIns="0" anchor="t">
            <a:spAutoFit/>
          </a:bodyPr>
          <a:lstStyle/>
          <a:p>
            <a:pPr algn="l">
              <a:lnSpc>
                <a:spcPct val="134000"/>
              </a:lnSpc>
              <a:spcAft>
                <a:spcPts val="0"/>
              </a:spcAft>
            </a:pPr>
            <a:r>
              <a:rPr sz="1300" b="1">
                <a:solidFill>
                  <a:srgbClr val="1C1A19"/>
                </a:solidFill>
                <a:latin typeface="Segoe UI"/>
              </a:rPr>
              <a:t>It cannot sense how full the turntable is. </a:t>
            </a:r>
            <a:r>
              <a:rPr sz="1300" b="0">
                <a:solidFill>
                  <a:srgbClr val="4A4542"/>
                </a:solidFill>
                <a:latin typeface="Segoe UI"/>
              </a:rPr>
              <a:t>Next, and the least costly: a carer-entered fill count, decremented by counted pills.</a:t>
            </a:r>
          </a:p>
        </p:txBody>
      </p:sp>
      <p:sp>
        <p:nvSpPr>
          <p:cNvPr id="9" name="Rectangle 8"/>
          <p:cNvSpPr/>
          <p:nvPr/>
        </p:nvSpPr>
        <p:spPr>
          <a:xfrm>
            <a:off x="777240" y="3036416"/>
            <a:ext cx="45720" cy="219760"/>
          </a:xfrm>
          <a:prstGeom prst="rect">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990696"/>
            <a:ext cx="10332720" cy="265480"/>
          </a:xfrm>
          <a:prstGeom prst="rect">
            <a:avLst/>
          </a:prstGeom>
          <a:noFill/>
        </p:spPr>
        <p:txBody>
          <a:bodyPr wrap="square" lIns="0" tIns="0" rIns="0" bIns="0" anchor="t">
            <a:spAutoFit/>
          </a:bodyPr>
          <a:lstStyle/>
          <a:p>
            <a:pPr algn="l">
              <a:lnSpc>
                <a:spcPct val="134000"/>
              </a:lnSpc>
              <a:spcAft>
                <a:spcPts val="0"/>
              </a:spcAft>
            </a:pPr>
            <a:r>
              <a:rPr sz="1300" b="1">
                <a:solidFill>
                  <a:srgbClr val="1C1A19"/>
                </a:solidFill>
                <a:latin typeface="Segoe UI"/>
              </a:rPr>
              <a:t>A missed dose cannot leave the room. </a:t>
            </a:r>
            <a:r>
              <a:rPr sz="1300" b="0">
                <a:solidFill>
                  <a:srgbClr val="4A4542"/>
                </a:solidFill>
                <a:latin typeface="Segoe UI"/>
              </a:rPr>
              <a:t>No radio in this build. Next, and top of the list: a carer alert over Wi-Fi and a patient-worn band.</a:t>
            </a:r>
          </a:p>
        </p:txBody>
      </p:sp>
      <p:sp>
        <p:nvSpPr>
          <p:cNvPr id="11" name="Rectangle 10"/>
          <p:cNvSpPr/>
          <p:nvPr/>
        </p:nvSpPr>
        <p:spPr>
          <a:xfrm>
            <a:off x="777240" y="3503064"/>
            <a:ext cx="45720" cy="219760"/>
          </a:xfrm>
          <a:prstGeom prst="rect">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51560" y="3457344"/>
            <a:ext cx="10332720" cy="265480"/>
          </a:xfrm>
          <a:prstGeom prst="rect">
            <a:avLst/>
          </a:prstGeom>
          <a:noFill/>
        </p:spPr>
        <p:txBody>
          <a:bodyPr wrap="square" lIns="0" tIns="0" rIns="0" bIns="0" anchor="t">
            <a:spAutoFit/>
          </a:bodyPr>
          <a:lstStyle/>
          <a:p>
            <a:pPr algn="l">
              <a:lnSpc>
                <a:spcPct val="134000"/>
              </a:lnSpc>
              <a:spcAft>
                <a:spcPts val="0"/>
              </a:spcAft>
            </a:pPr>
            <a:r>
              <a:rPr sz="1300" b="1">
                <a:solidFill>
                  <a:srgbClr val="1C1A19"/>
                </a:solidFill>
                <a:latin typeface="Segoe UI"/>
              </a:rPr>
              <a:t>The housing does not lock. </a:t>
            </a:r>
            <a:r>
              <a:rPr sz="1300" b="0">
                <a:solidFill>
                  <a:srgbClr val="4A4542"/>
                </a:solidFill>
                <a:latin typeface="Segoe UI"/>
              </a:rPr>
              <a:t>Next: a lockable enclosure, tamper detection and a vibration sensor, so the log records when it was moved.</a:t>
            </a:r>
          </a:p>
        </p:txBody>
      </p:sp>
      <p:sp>
        <p:nvSpPr>
          <p:cNvPr id="13" name="Rectangle 12"/>
          <p:cNvSpPr/>
          <p:nvPr/>
        </p:nvSpPr>
        <p:spPr>
          <a:xfrm>
            <a:off x="777240" y="3969712"/>
            <a:ext cx="45720" cy="485241"/>
          </a:xfrm>
          <a:prstGeom prst="rect">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3923992"/>
            <a:ext cx="10332720" cy="530961"/>
          </a:xfrm>
          <a:prstGeom prst="rect">
            <a:avLst/>
          </a:prstGeom>
          <a:noFill/>
        </p:spPr>
        <p:txBody>
          <a:bodyPr wrap="square" lIns="0" tIns="0" rIns="0" bIns="0" anchor="t">
            <a:spAutoFit/>
          </a:bodyPr>
          <a:lstStyle/>
          <a:p>
            <a:pPr algn="l">
              <a:lnSpc>
                <a:spcPct val="134000"/>
              </a:lnSpc>
              <a:spcAft>
                <a:spcPts val="0"/>
              </a:spcAft>
            </a:pPr>
            <a:r>
              <a:rPr sz="1300" b="1">
                <a:solidFill>
                  <a:srgbClr val="1C1A19"/>
                </a:solidFill>
                <a:latin typeface="Segoe UI"/>
              </a:rPr>
              <a:t>The face check can be shown a photograph. </a:t>
            </a:r>
            <a:r>
              <a:rPr sz="1300" b="0">
                <a:solidFill>
                  <a:srgbClr val="4A4542"/>
                </a:solidFill>
                <a:latin typeface="Segoe UI"/>
              </a:rPr>
              <a:t>It does not test for a live face. Next: a passive liveness check on the same camera, before a match is accepted.</a:t>
            </a:r>
          </a:p>
        </p:txBody>
      </p:sp>
      <p:sp>
        <p:nvSpPr>
          <p:cNvPr id="15" name="Rectangle 14"/>
          <p:cNvSpPr/>
          <p:nvPr/>
        </p:nvSpPr>
        <p:spPr>
          <a:xfrm>
            <a:off x="777240" y="5406390"/>
            <a:ext cx="10637215"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5607558"/>
            <a:ext cx="10637215" cy="473202"/>
          </a:xfrm>
          <a:prstGeom prst="rect">
            <a:avLst/>
          </a:prstGeom>
          <a:noFill/>
        </p:spPr>
        <p:txBody>
          <a:bodyPr wrap="square" lIns="0" tIns="0" rIns="0" bIns="0" anchor="t">
            <a:spAutoFit/>
          </a:bodyPr>
          <a:lstStyle/>
          <a:p>
            <a:pPr algn="l">
              <a:lnSpc>
                <a:spcPct val="135000"/>
              </a:lnSpc>
              <a:spcAft>
                <a:spcPts val="0"/>
              </a:spcAft>
            </a:pPr>
            <a:r>
              <a:rPr sz="1150" b="0">
                <a:solidFill>
                  <a:srgbClr val="6E6864"/>
                </a:solidFill>
                <a:latin typeface="Segoe UI"/>
              </a:rPr>
              <a:t>One thing to be clear about rather than plan around: the device counts pills out and corroborates a swallowing gesture. It cannot prove somebody swallowed, and no device of this class can, which is why the patient's button press stays the confirming action.</a:t>
            </a:r>
          </a:p>
        </p:txBody>
      </p:sp>
      <p:sp>
        <p:nvSpPr>
          <p:cNvPr id="17" name="TextBox 16"/>
          <p:cNvSpPr txBox="1"/>
          <p:nvPr/>
        </p:nvSpPr>
        <p:spPr>
          <a:xfrm>
            <a:off x="10865815" y="6291072"/>
            <a:ext cx="548640" cy="274320"/>
          </a:xfrm>
          <a:prstGeom prst="rect">
            <a:avLst/>
          </a:prstGeom>
          <a:noFill/>
        </p:spPr>
        <p:txBody>
          <a:bodyPr wrap="square" lIns="0" tIns="0" rIns="0" bIns="0" anchor="t">
            <a:spAutoFit/>
          </a:bodyPr>
          <a:lstStyle/>
          <a:p>
            <a:pPr algn="r">
              <a:lnSpc>
                <a:spcPct val="118000"/>
              </a:lnSpc>
              <a:spcAft>
                <a:spcPts val="0"/>
              </a:spcAft>
            </a:pPr>
            <a:r>
              <a:rPr sz="1100" b="0">
                <a:solidFill>
                  <a:srgbClr val="6E6864"/>
                </a:solidFill>
                <a:latin typeface="Segoe U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4F2"/>
        </a:solidFill>
        <a:effectLst/>
      </p:bgPr>
    </p:bg>
    <p:spTree>
      <p:nvGrpSpPr>
        <p:cNvPr id="1" name=""/>
        <p:cNvGrpSpPr/>
        <p:nvPr/>
      </p:nvGrpSpPr>
      <p:grpSpPr>
        <a:xfrm>
          <a:off x="0" y="0"/>
          <a:ext cx="0" cy="0"/>
          <a:chOff x="0" y="0"/>
          <a:chExt cx="0" cy="0"/>
        </a:xfrm>
      </p:grpSpPr>
      <p:sp>
        <p:nvSpPr>
          <p:cNvPr id="2" name="TextBox 1"/>
          <p:cNvSpPr txBox="1"/>
          <p:nvPr/>
        </p:nvSpPr>
        <p:spPr>
          <a:xfrm>
            <a:off x="777240" y="566928"/>
            <a:ext cx="10637215" cy="274320"/>
          </a:xfrm>
          <a:prstGeom prst="rect">
            <a:avLst/>
          </a:prstGeom>
          <a:noFill/>
        </p:spPr>
        <p:txBody>
          <a:bodyPr wrap="square" lIns="0" tIns="0" rIns="0" bIns="0" anchor="t">
            <a:spAutoFit/>
          </a:bodyPr>
          <a:lstStyle/>
          <a:p>
            <a:pPr algn="l">
              <a:lnSpc>
                <a:spcPct val="118000"/>
              </a:lnSpc>
              <a:spcAft>
                <a:spcPts val="0"/>
              </a:spcAft>
            </a:pPr>
            <a:r>
              <a:rPr sz="1050" b="1">
                <a:solidFill>
                  <a:srgbClr val="C2651F"/>
                </a:solidFill>
                <a:latin typeface="Segoe UI"/>
              </a:rPr>
              <a:t>PLANNED WORK</a:t>
            </a:r>
          </a:p>
        </p:txBody>
      </p:sp>
      <p:sp>
        <p:nvSpPr>
          <p:cNvPr id="3" name="TextBox 2"/>
          <p:cNvSpPr txBox="1"/>
          <p:nvPr/>
        </p:nvSpPr>
        <p:spPr>
          <a:xfrm>
            <a:off x="777240" y="868680"/>
            <a:ext cx="10637215" cy="480060"/>
          </a:xfrm>
          <a:prstGeom prst="rect">
            <a:avLst/>
          </a:prstGeom>
          <a:noFill/>
        </p:spPr>
        <p:txBody>
          <a:bodyPr wrap="square" lIns="0" tIns="0" rIns="0" bIns="0" anchor="t">
            <a:spAutoFit/>
          </a:bodyPr>
          <a:lstStyle/>
          <a:p>
            <a:pPr algn="l">
              <a:lnSpc>
                <a:spcPct val="105000"/>
              </a:lnSpc>
              <a:spcAft>
                <a:spcPts val="0"/>
              </a:spcAft>
            </a:pPr>
            <a:r>
              <a:rPr sz="3000" b="1">
                <a:solidFill>
                  <a:srgbClr val="1C1A19"/>
                </a:solidFill>
                <a:latin typeface="Segoe UI"/>
              </a:rPr>
              <a:t>Connectivity, physical security, then liveness detection</a:t>
            </a:r>
          </a:p>
        </p:txBody>
      </p:sp>
      <p:sp>
        <p:nvSpPr>
          <p:cNvPr id="4" name="Rectangle 3"/>
          <p:cNvSpPr/>
          <p:nvPr/>
        </p:nvSpPr>
        <p:spPr>
          <a:xfrm>
            <a:off x="777240" y="1627632"/>
            <a:ext cx="10637215" cy="20320"/>
          </a:xfrm>
          <a:prstGeom prst="rect">
            <a:avLst/>
          </a:prstGeom>
          <a:solidFill>
            <a:srgbClr val="1C1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 y="2016252"/>
            <a:ext cx="45720" cy="455676"/>
          </a:xfrm>
          <a:prstGeom prst="rect">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3272" y="1965960"/>
            <a:ext cx="5321808" cy="510540"/>
          </a:xfrm>
          <a:prstGeom prst="rect">
            <a:avLst/>
          </a:prstGeom>
          <a:noFill/>
        </p:spPr>
        <p:txBody>
          <a:bodyPr wrap="square" lIns="0" tIns="0" rIns="0" bIns="0" anchor="t">
            <a:spAutoFit/>
          </a:bodyPr>
          <a:lstStyle/>
          <a:p>
            <a:pPr algn="l">
              <a:lnSpc>
                <a:spcPct val="134000"/>
              </a:lnSpc>
              <a:spcAft>
                <a:spcPts val="0"/>
              </a:spcAft>
            </a:pPr>
            <a:r>
              <a:rPr sz="1250" b="1">
                <a:solidFill>
                  <a:srgbClr val="1C1A19"/>
                </a:solidFill>
                <a:latin typeface="Segoe UI"/>
              </a:rPr>
              <a:t>A carer-entered stock count. </a:t>
            </a:r>
            <a:r>
              <a:rPr sz="1250" b="0">
                <a:solidFill>
                  <a:srgbClr val="4A4542"/>
                </a:solidFill>
                <a:latin typeface="Segoe UI"/>
              </a:rPr>
              <a:t>The least costly of these: today the first indication of an empty turntable is a dose that falls short.</a:t>
            </a:r>
          </a:p>
        </p:txBody>
      </p:sp>
      <p:sp>
        <p:nvSpPr>
          <p:cNvPr id="7" name="Rectangle 6"/>
          <p:cNvSpPr/>
          <p:nvPr/>
        </p:nvSpPr>
        <p:spPr>
          <a:xfrm>
            <a:off x="777240" y="2782824"/>
            <a:ext cx="45720" cy="455676"/>
          </a:xfrm>
          <a:prstGeom prst="rect">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33272" y="2732532"/>
            <a:ext cx="5321808" cy="510540"/>
          </a:xfrm>
          <a:prstGeom prst="rect">
            <a:avLst/>
          </a:prstGeom>
          <a:noFill/>
        </p:spPr>
        <p:txBody>
          <a:bodyPr wrap="square" lIns="0" tIns="0" rIns="0" bIns="0" anchor="t">
            <a:spAutoFit/>
          </a:bodyPr>
          <a:lstStyle/>
          <a:p>
            <a:pPr algn="l">
              <a:lnSpc>
                <a:spcPct val="134000"/>
              </a:lnSpc>
              <a:spcAft>
                <a:spcPts val="0"/>
              </a:spcAft>
            </a:pPr>
            <a:r>
              <a:rPr sz="1250" b="1">
                <a:solidFill>
                  <a:srgbClr val="1C1A19"/>
                </a:solidFill>
                <a:latin typeface="Segoe UI"/>
              </a:rPr>
              <a:t>Drug identity and multiple modules. </a:t>
            </a:r>
            <a:r>
              <a:rPr sz="1250" b="0">
                <a:solidFill>
                  <a:srgbClr val="4A4542"/>
                </a:solidFill>
                <a:latin typeface="Segoe UI"/>
              </a:rPr>
              <a:t>The interface already draws slots B, C and D greyed out with a SOON label.</a:t>
            </a:r>
          </a:p>
        </p:txBody>
      </p:sp>
      <p:sp>
        <p:nvSpPr>
          <p:cNvPr id="9" name="Rectangle 8"/>
          <p:cNvSpPr/>
          <p:nvPr/>
        </p:nvSpPr>
        <p:spPr>
          <a:xfrm>
            <a:off x="777240" y="3549396"/>
            <a:ext cx="45720" cy="710946"/>
          </a:xfrm>
          <a:prstGeom prst="rect">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33272" y="3499104"/>
            <a:ext cx="5321808" cy="765810"/>
          </a:xfrm>
          <a:prstGeom prst="rect">
            <a:avLst/>
          </a:prstGeom>
          <a:noFill/>
        </p:spPr>
        <p:txBody>
          <a:bodyPr wrap="square" lIns="0" tIns="0" rIns="0" bIns="0" anchor="t">
            <a:spAutoFit/>
          </a:bodyPr>
          <a:lstStyle/>
          <a:p>
            <a:pPr algn="l">
              <a:lnSpc>
                <a:spcPct val="134000"/>
              </a:lnSpc>
              <a:spcAft>
                <a:spcPts val="0"/>
              </a:spcAft>
            </a:pPr>
            <a:r>
              <a:rPr sz="1250" b="1">
                <a:solidFill>
                  <a:srgbClr val="1C1A19"/>
                </a:solidFill>
                <a:latin typeface="Segoe UI"/>
              </a:rPr>
              <a:t>A lockable enclosure, tamper detection and a vibration sensor, </a:t>
            </a:r>
            <a:r>
              <a:rPr sz="1250" b="0">
                <a:solidFill>
                  <a:srgbClr val="4A4542"/>
                </a:solidFill>
                <a:latin typeface="Segoe UI"/>
              </a:rPr>
              <a:t>logged rather than locking: a dispenser that stops working because it was jostled is a hazard.</a:t>
            </a:r>
          </a:p>
        </p:txBody>
      </p:sp>
      <p:sp>
        <p:nvSpPr>
          <p:cNvPr id="11" name="Rectangle 10"/>
          <p:cNvSpPr/>
          <p:nvPr/>
        </p:nvSpPr>
        <p:spPr>
          <a:xfrm>
            <a:off x="777240" y="4571238"/>
            <a:ext cx="45720" cy="455676"/>
          </a:xfrm>
          <a:prstGeom prst="rect">
            <a:avLst/>
          </a:prstGeom>
          <a:solidFill>
            <a:srgbClr val="C26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33272" y="4520946"/>
            <a:ext cx="5321808" cy="510540"/>
          </a:xfrm>
          <a:prstGeom prst="rect">
            <a:avLst/>
          </a:prstGeom>
          <a:noFill/>
        </p:spPr>
        <p:txBody>
          <a:bodyPr wrap="square" lIns="0" tIns="0" rIns="0" bIns="0" anchor="t">
            <a:spAutoFit/>
          </a:bodyPr>
          <a:lstStyle/>
          <a:p>
            <a:pPr algn="l">
              <a:lnSpc>
                <a:spcPct val="134000"/>
              </a:lnSpc>
              <a:spcAft>
                <a:spcPts val="0"/>
              </a:spcAft>
            </a:pPr>
            <a:r>
              <a:rPr sz="1250" b="1">
                <a:solidFill>
                  <a:srgbClr val="1C1A19"/>
                </a:solidFill>
                <a:latin typeface="Segoe UI"/>
              </a:rPr>
              <a:t>A liveness check on the face match, </a:t>
            </a:r>
            <a:r>
              <a:rPr sz="1250" b="0">
                <a:solidFill>
                  <a:srgbClr val="4A4542"/>
                </a:solidFill>
                <a:latin typeface="Segoe UI"/>
              </a:rPr>
              <a:t>so a printed photograph cannot pass it. Passive, on the camera and the accelerator already in use.</a:t>
            </a:r>
          </a:p>
        </p:txBody>
      </p:sp>
      <p:sp>
        <p:nvSpPr>
          <p:cNvPr id="13" name="Rectangle 12"/>
          <p:cNvSpPr/>
          <p:nvPr/>
        </p:nvSpPr>
        <p:spPr>
          <a:xfrm>
            <a:off x="6766560" y="1965960"/>
            <a:ext cx="4617720" cy="3034892"/>
          </a:xfrm>
          <a:prstGeom prst="rect">
            <a:avLst/>
          </a:prstGeom>
          <a:solidFill>
            <a:srgbClr val="F1EBE8"/>
          </a:solidFill>
          <a:ln w="12700">
            <a:solidFill>
              <a:srgbClr val="E6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40880" y="2240280"/>
            <a:ext cx="4069080" cy="2486252"/>
          </a:xfrm>
          <a:prstGeom prst="rect">
            <a:avLst/>
          </a:prstGeom>
          <a:noFill/>
        </p:spPr>
        <p:txBody>
          <a:bodyPr wrap="square" lIns="0" tIns="0" rIns="0" bIns="0" anchor="t">
            <a:spAutoFit/>
          </a:bodyPr>
          <a:lstStyle/>
          <a:p>
            <a:pPr algn="l">
              <a:lnSpc>
                <a:spcPct val="134000"/>
              </a:lnSpc>
              <a:spcAft>
                <a:spcPts val="900"/>
              </a:spcAft>
            </a:pPr>
            <a:r>
              <a:rPr sz="1200" b="1">
                <a:solidFill>
                  <a:srgbClr val="1C1A19"/>
                </a:solidFill>
                <a:latin typeface="Segoe UI"/>
              </a:rPr>
              <a:t>A carer alert over Wi-Fi</a:t>
            </a:r>
            <a:r>
              <a:rPr sz="1200" b="0">
                <a:solidFill>
                  <a:srgbClr val="1C1A19"/>
                </a:solidFill>
                <a:latin typeface="Segoe UI"/>
              </a:rPr>
              <a:t> when a dose is missed, and </a:t>
            </a:r>
            <a:r>
              <a:rPr sz="1200" b="1">
                <a:solidFill>
                  <a:srgbClr val="1C1A19"/>
                </a:solidFill>
                <a:latin typeface="Segoe UI"/>
              </a:rPr>
              <a:t>a band that signals the patient</a:t>
            </a:r>
            <a:r>
              <a:rPr sz="1200" b="0">
                <a:solidFill>
                  <a:srgbClr val="1C1A19"/>
                </a:solidFill>
                <a:latin typeface="Segoe UI"/>
              </a:rPr>
              <a:t> one is due.</a:t>
            </a:r>
          </a:p>
          <a:p>
            <a:pPr algn="l">
              <a:lnSpc>
                <a:spcPct val="134000"/>
              </a:lnSpc>
              <a:spcAft>
                <a:spcPts val="900"/>
              </a:spcAft>
            </a:pPr>
            <a:r>
              <a:rPr sz="1200" b="1">
                <a:solidFill>
                  <a:srgbClr val="C2651F"/>
                </a:solidFill>
                <a:latin typeface="Segoe UI"/>
              </a:rPr>
              <a:t>The band is the cheap half:</a:t>
            </a:r>
            <a:r>
              <a:rPr sz="1200" b="0">
                <a:solidFill>
                  <a:srgbClr val="4A4542"/>
                </a:solidFill>
                <a:latin typeface="Segoe UI"/>
              </a:rPr>
              <a:t> a beacon saying only that a dose is due signals time, not identity.</a:t>
            </a:r>
          </a:p>
          <a:p>
            <a:pPr algn="l">
              <a:lnSpc>
                <a:spcPct val="134000"/>
              </a:lnSpc>
              <a:spcAft>
                <a:spcPts val="900"/>
              </a:spcAft>
            </a:pPr>
            <a:r>
              <a:rPr sz="1200" b="1">
                <a:solidFill>
                  <a:srgbClr val="C2651F"/>
                </a:solidFill>
                <a:latin typeface="Segoe UI"/>
              </a:rPr>
              <a:t>The alert is the hard half:</a:t>
            </a:r>
            <a:r>
              <a:rPr sz="1200" b="0">
                <a:solidFill>
                  <a:srgbClr val="4A4542"/>
                </a:solidFill>
                <a:latin typeface="Segoe UI"/>
              </a:rPr>
              <a:t> naming who missed which dose is health information leaving the device.</a:t>
            </a:r>
          </a:p>
          <a:p>
            <a:pPr algn="l">
              <a:lnSpc>
                <a:spcPct val="134000"/>
              </a:lnSpc>
              <a:spcAft>
                <a:spcPts val="900"/>
              </a:spcAft>
            </a:pPr>
            <a:r>
              <a:rPr sz="1200" b="0">
                <a:solidFill>
                  <a:srgbClr val="4A4542"/>
                </a:solidFill>
                <a:latin typeface="Segoe UI"/>
              </a:rPr>
              <a:t>Both are proved as a separate companion unit first, then folded in on a flexible printed circuit.</a:t>
            </a:r>
          </a:p>
        </p:txBody>
      </p:sp>
      <p:sp>
        <p:nvSpPr>
          <p:cNvPr id="15" name="Rectangle 14"/>
          <p:cNvSpPr/>
          <p:nvPr/>
        </p:nvSpPr>
        <p:spPr>
          <a:xfrm>
            <a:off x="777240" y="5642991"/>
            <a:ext cx="10637215" cy="9525"/>
          </a:xfrm>
          <a:prstGeom prst="rect">
            <a:avLst/>
          </a:prstGeom>
          <a:solidFill>
            <a:srgbClr val="E6E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5844159"/>
            <a:ext cx="10637215" cy="236601"/>
          </a:xfrm>
          <a:prstGeom prst="rect">
            <a:avLst/>
          </a:prstGeom>
          <a:noFill/>
        </p:spPr>
        <p:txBody>
          <a:bodyPr wrap="square" lIns="0" tIns="0" rIns="0" bIns="0" anchor="t">
            <a:spAutoFit/>
          </a:bodyPr>
          <a:lstStyle/>
          <a:p>
            <a:pPr algn="l">
              <a:lnSpc>
                <a:spcPct val="135000"/>
              </a:lnSpc>
              <a:spcAft>
                <a:spcPts val="0"/>
              </a:spcAft>
            </a:pPr>
            <a:r>
              <a:rPr sz="1150" b="0">
                <a:solidFill>
                  <a:srgbClr val="6E6864"/>
                </a:solidFill>
                <a:latin typeface="Segoe UI"/>
              </a:rPr>
              <a:t>This build has no radio. Wi-Fi, Ethernet and BLE are never initialised, and no code path can transmit. Connectivity is planned work.</a:t>
            </a:r>
          </a:p>
        </p:txBody>
      </p:sp>
      <p:sp>
        <p:nvSpPr>
          <p:cNvPr id="17" name="TextBox 16"/>
          <p:cNvSpPr txBox="1"/>
          <p:nvPr/>
        </p:nvSpPr>
        <p:spPr>
          <a:xfrm>
            <a:off x="10865815" y="6291072"/>
            <a:ext cx="548640" cy="274320"/>
          </a:xfrm>
          <a:prstGeom prst="rect">
            <a:avLst/>
          </a:prstGeom>
          <a:noFill/>
        </p:spPr>
        <p:txBody>
          <a:bodyPr wrap="square" lIns="0" tIns="0" rIns="0" bIns="0" anchor="t">
            <a:spAutoFit/>
          </a:bodyPr>
          <a:lstStyle/>
          <a:p>
            <a:pPr algn="r">
              <a:lnSpc>
                <a:spcPct val="118000"/>
              </a:lnSpc>
              <a:spcAft>
                <a:spcPts val="0"/>
              </a:spcAft>
            </a:pPr>
            <a:r>
              <a:rPr sz="1100" b="0">
                <a:solidFill>
                  <a:srgbClr val="6E6864"/>
                </a:solidFill>
                <a:latin typeface="Segoe U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2100F"/>
        </a:solidFill>
        <a:effectLst/>
      </p:bgPr>
    </p:bg>
    <p:spTree>
      <p:nvGrpSpPr>
        <p:cNvPr id="1" name=""/>
        <p:cNvGrpSpPr/>
        <p:nvPr/>
      </p:nvGrpSpPr>
      <p:grpSpPr>
        <a:xfrm>
          <a:off x="0" y="0"/>
          <a:ext cx="0" cy="0"/>
          <a:chOff x="0" y="0"/>
          <a:chExt cx="0" cy="0"/>
        </a:xfrm>
      </p:grpSpPr>
      <p:sp>
        <p:nvSpPr>
          <p:cNvPr id="2" name="TextBox 1"/>
          <p:cNvSpPr txBox="1"/>
          <p:nvPr/>
        </p:nvSpPr>
        <p:spPr>
          <a:xfrm>
            <a:off x="777240" y="566928"/>
            <a:ext cx="10637215" cy="274320"/>
          </a:xfrm>
          <a:prstGeom prst="rect">
            <a:avLst/>
          </a:prstGeom>
          <a:noFill/>
        </p:spPr>
        <p:txBody>
          <a:bodyPr wrap="square" lIns="0" tIns="0" rIns="0" bIns="0" anchor="t">
            <a:spAutoFit/>
          </a:bodyPr>
          <a:lstStyle/>
          <a:p>
            <a:pPr algn="l">
              <a:lnSpc>
                <a:spcPct val="118000"/>
              </a:lnSpc>
              <a:spcAft>
                <a:spcPts val="0"/>
              </a:spcAft>
            </a:pPr>
            <a:r>
              <a:rPr sz="1050" b="1">
                <a:solidFill>
                  <a:srgbClr val="D9762B"/>
                </a:solidFill>
                <a:latin typeface="Segoe UI"/>
              </a:rPr>
              <a:t>CONTRIBUTIONS</a:t>
            </a:r>
          </a:p>
        </p:txBody>
      </p:sp>
      <p:sp>
        <p:nvSpPr>
          <p:cNvPr id="3" name="TextBox 2"/>
          <p:cNvSpPr txBox="1"/>
          <p:nvPr/>
        </p:nvSpPr>
        <p:spPr>
          <a:xfrm>
            <a:off x="777240" y="868680"/>
            <a:ext cx="10637215" cy="480060"/>
          </a:xfrm>
          <a:prstGeom prst="rect">
            <a:avLst/>
          </a:prstGeom>
          <a:noFill/>
        </p:spPr>
        <p:txBody>
          <a:bodyPr wrap="square" lIns="0" tIns="0" rIns="0" bIns="0" anchor="t">
            <a:spAutoFit/>
          </a:bodyPr>
          <a:lstStyle/>
          <a:p>
            <a:pPr algn="l">
              <a:lnSpc>
                <a:spcPct val="105000"/>
              </a:lnSpc>
              <a:spcAft>
                <a:spcPts val="0"/>
              </a:spcAft>
            </a:pPr>
            <a:r>
              <a:rPr sz="3000" b="1">
                <a:solidFill>
                  <a:srgbClr val="F7F4F2"/>
                </a:solidFill>
                <a:latin typeface="Segoe UI"/>
              </a:rPr>
              <a:t>Attribution by contributor</a:t>
            </a:r>
          </a:p>
        </p:txBody>
      </p:sp>
      <p:sp>
        <p:nvSpPr>
          <p:cNvPr id="4" name="Rectangle 3"/>
          <p:cNvSpPr/>
          <p:nvPr/>
        </p:nvSpPr>
        <p:spPr>
          <a:xfrm>
            <a:off x="777240" y="1627632"/>
            <a:ext cx="10637215" cy="20320"/>
          </a:xfrm>
          <a:prstGeom prst="rect">
            <a:avLst/>
          </a:prstGeom>
          <a:solidFill>
            <a:srgbClr val="3A35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965960"/>
            <a:ext cx="3054096" cy="274320"/>
          </a:xfrm>
          <a:prstGeom prst="rect">
            <a:avLst/>
          </a:prstGeom>
          <a:noFill/>
        </p:spPr>
        <p:txBody>
          <a:bodyPr wrap="square" lIns="0" tIns="0" rIns="0" bIns="0" anchor="t">
            <a:spAutoFit/>
          </a:bodyPr>
          <a:lstStyle/>
          <a:p>
            <a:pPr algn="l">
              <a:lnSpc>
                <a:spcPct val="118000"/>
              </a:lnSpc>
              <a:spcAft>
                <a:spcPts val="0"/>
              </a:spcAft>
            </a:pPr>
            <a:r>
              <a:rPr sz="880" b="1">
                <a:solidFill>
                  <a:srgbClr val="F7F4F2"/>
                </a:solidFill>
                <a:latin typeface="Segoe UI"/>
              </a:rPr>
              <a:t>WHO</a:t>
            </a:r>
          </a:p>
        </p:txBody>
      </p:sp>
      <p:sp>
        <p:nvSpPr>
          <p:cNvPr id="6" name="TextBox 5"/>
          <p:cNvSpPr txBox="1"/>
          <p:nvPr/>
        </p:nvSpPr>
        <p:spPr>
          <a:xfrm>
            <a:off x="3959352" y="1965960"/>
            <a:ext cx="7296911" cy="274320"/>
          </a:xfrm>
          <a:prstGeom prst="rect">
            <a:avLst/>
          </a:prstGeom>
          <a:noFill/>
        </p:spPr>
        <p:txBody>
          <a:bodyPr wrap="square" lIns="0" tIns="0" rIns="0" bIns="0" anchor="t">
            <a:spAutoFit/>
          </a:bodyPr>
          <a:lstStyle/>
          <a:p>
            <a:pPr algn="l">
              <a:lnSpc>
                <a:spcPct val="118000"/>
              </a:lnSpc>
              <a:spcAft>
                <a:spcPts val="0"/>
              </a:spcAft>
            </a:pPr>
            <a:r>
              <a:rPr sz="880" b="1">
                <a:solidFill>
                  <a:srgbClr val="F7F4F2"/>
                </a:solidFill>
                <a:latin typeface="Segoe UI"/>
              </a:rPr>
              <a:t>WHAT</a:t>
            </a:r>
          </a:p>
        </p:txBody>
      </p:sp>
      <p:sp>
        <p:nvSpPr>
          <p:cNvPr id="7" name="Rectangle 6"/>
          <p:cNvSpPr/>
          <p:nvPr/>
        </p:nvSpPr>
        <p:spPr>
          <a:xfrm>
            <a:off x="777240" y="2203704"/>
            <a:ext cx="10607040" cy="17780"/>
          </a:xfrm>
          <a:prstGeom prst="rect">
            <a:avLst/>
          </a:prstGeom>
          <a:solidFill>
            <a:srgbClr val="3A35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331720"/>
            <a:ext cx="3054096" cy="495300"/>
          </a:xfrm>
          <a:prstGeom prst="rect">
            <a:avLst/>
          </a:prstGeom>
          <a:noFill/>
        </p:spPr>
        <p:txBody>
          <a:bodyPr wrap="square" lIns="0" tIns="0" rIns="0" bIns="0" anchor="t">
            <a:spAutoFit/>
          </a:bodyPr>
          <a:lstStyle/>
          <a:p>
            <a:pPr algn="l">
              <a:lnSpc>
                <a:spcPct val="130000"/>
              </a:lnSpc>
              <a:spcAft>
                <a:spcPts val="0"/>
              </a:spcAft>
            </a:pPr>
            <a:r>
              <a:rPr sz="1250" b="1">
                <a:solidFill>
                  <a:srgbClr val="F7F4F2"/>
                </a:solidFill>
                <a:latin typeface="Segoe UI"/>
              </a:rPr>
              <a:t>Dousik Manokaran</a:t>
            </a:r>
          </a:p>
        </p:txBody>
      </p:sp>
      <p:sp>
        <p:nvSpPr>
          <p:cNvPr id="9" name="TextBox 8"/>
          <p:cNvSpPr txBox="1"/>
          <p:nvPr/>
        </p:nvSpPr>
        <p:spPr>
          <a:xfrm>
            <a:off x="3959352" y="2331720"/>
            <a:ext cx="7296911" cy="495300"/>
          </a:xfrm>
          <a:prstGeom prst="rect">
            <a:avLst/>
          </a:prstGeom>
          <a:noFill/>
        </p:spPr>
        <p:txBody>
          <a:bodyPr wrap="square" lIns="0" tIns="0" rIns="0" bIns="0" anchor="t">
            <a:spAutoFit/>
          </a:bodyPr>
          <a:lstStyle/>
          <a:p>
            <a:pPr algn="l">
              <a:lnSpc>
                <a:spcPct val="130000"/>
              </a:lnSpc>
              <a:spcAft>
                <a:spcPts val="0"/>
              </a:spcAft>
            </a:pPr>
            <a:r>
              <a:rPr sz="1250" b="0">
                <a:solidFill>
                  <a:srgbClr val="DED7D2"/>
                </a:solidFill>
                <a:latin typeface="Segoe UI"/>
              </a:rPr>
              <a:t>The firmware: the µT-Kernel migration, the six-task architecture and its priorities, the four networks on the accelerator, and the documentation</a:t>
            </a:r>
          </a:p>
        </p:txBody>
      </p:sp>
      <p:sp>
        <p:nvSpPr>
          <p:cNvPr id="10" name="Rectangle 9"/>
          <p:cNvSpPr/>
          <p:nvPr/>
        </p:nvSpPr>
        <p:spPr>
          <a:xfrm>
            <a:off x="777240" y="2863596"/>
            <a:ext cx="10607040" cy="9525"/>
          </a:xfrm>
          <a:prstGeom prst="rect">
            <a:avLst/>
          </a:prstGeom>
          <a:solidFill>
            <a:srgbClr val="3A35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991612"/>
            <a:ext cx="3054096" cy="495300"/>
          </a:xfrm>
          <a:prstGeom prst="rect">
            <a:avLst/>
          </a:prstGeom>
          <a:noFill/>
        </p:spPr>
        <p:txBody>
          <a:bodyPr wrap="square" lIns="0" tIns="0" rIns="0" bIns="0" anchor="t">
            <a:spAutoFit/>
          </a:bodyPr>
          <a:lstStyle/>
          <a:p>
            <a:pPr algn="l">
              <a:lnSpc>
                <a:spcPct val="130000"/>
              </a:lnSpc>
              <a:spcAft>
                <a:spcPts val="0"/>
              </a:spcAft>
            </a:pPr>
            <a:r>
              <a:rPr sz="1250" b="1">
                <a:solidFill>
                  <a:srgbClr val="F7F4F2"/>
                </a:solidFill>
                <a:latin typeface="Segoe UI"/>
              </a:rPr>
              <a:t>Howard Nikhil</a:t>
            </a:r>
          </a:p>
        </p:txBody>
      </p:sp>
      <p:sp>
        <p:nvSpPr>
          <p:cNvPr id="12" name="TextBox 11"/>
          <p:cNvSpPr txBox="1"/>
          <p:nvPr/>
        </p:nvSpPr>
        <p:spPr>
          <a:xfrm>
            <a:off x="3959352" y="2991612"/>
            <a:ext cx="7296911" cy="495300"/>
          </a:xfrm>
          <a:prstGeom prst="rect">
            <a:avLst/>
          </a:prstGeom>
          <a:noFill/>
        </p:spPr>
        <p:txBody>
          <a:bodyPr wrap="square" lIns="0" tIns="0" rIns="0" bIns="0" anchor="t">
            <a:spAutoFit/>
          </a:bodyPr>
          <a:lstStyle/>
          <a:p>
            <a:pPr algn="l">
              <a:lnSpc>
                <a:spcPct val="130000"/>
              </a:lnSpc>
              <a:spcAft>
                <a:spcPts val="0"/>
              </a:spcAft>
            </a:pPr>
            <a:r>
              <a:rPr sz="1250" b="0">
                <a:solidFill>
                  <a:srgbClr val="DED7D2"/>
                </a:solidFill>
                <a:latin typeface="Segoe UI"/>
              </a:rPr>
              <a:t>The physical dispensing hardware: the turntable, the infrared pill counter, and the bench work the counting design rests on</a:t>
            </a:r>
          </a:p>
        </p:txBody>
      </p:sp>
      <p:sp>
        <p:nvSpPr>
          <p:cNvPr id="13" name="Rectangle 12"/>
          <p:cNvSpPr/>
          <p:nvPr/>
        </p:nvSpPr>
        <p:spPr>
          <a:xfrm>
            <a:off x="777240" y="3523488"/>
            <a:ext cx="10607040" cy="9525"/>
          </a:xfrm>
          <a:prstGeom prst="rect">
            <a:avLst/>
          </a:prstGeom>
          <a:solidFill>
            <a:srgbClr val="3A35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3651504"/>
            <a:ext cx="3054096" cy="495300"/>
          </a:xfrm>
          <a:prstGeom prst="rect">
            <a:avLst/>
          </a:prstGeom>
          <a:noFill/>
        </p:spPr>
        <p:txBody>
          <a:bodyPr wrap="square" lIns="0" tIns="0" rIns="0" bIns="0" anchor="t">
            <a:spAutoFit/>
          </a:bodyPr>
          <a:lstStyle/>
          <a:p>
            <a:pPr algn="l">
              <a:lnSpc>
                <a:spcPct val="130000"/>
              </a:lnSpc>
              <a:spcAft>
                <a:spcPts val="0"/>
              </a:spcAft>
            </a:pPr>
            <a:r>
              <a:rPr sz="1250" b="1">
                <a:solidFill>
                  <a:srgbClr val="F7F4F2"/>
                </a:solidFill>
                <a:latin typeface="Segoe UI"/>
              </a:rPr>
              <a:t>Gaurav V R and Dillimaran K</a:t>
            </a:r>
          </a:p>
        </p:txBody>
      </p:sp>
      <p:sp>
        <p:nvSpPr>
          <p:cNvPr id="15" name="TextBox 14"/>
          <p:cNvSpPr txBox="1"/>
          <p:nvPr/>
        </p:nvSpPr>
        <p:spPr>
          <a:xfrm>
            <a:off x="3959352" y="3651504"/>
            <a:ext cx="7296911" cy="495300"/>
          </a:xfrm>
          <a:prstGeom prst="rect">
            <a:avLst/>
          </a:prstGeom>
          <a:noFill/>
        </p:spPr>
        <p:txBody>
          <a:bodyPr wrap="square" lIns="0" tIns="0" rIns="0" bIns="0" anchor="t">
            <a:spAutoFit/>
          </a:bodyPr>
          <a:lstStyle/>
          <a:p>
            <a:pPr algn="l">
              <a:lnSpc>
                <a:spcPct val="130000"/>
              </a:lnSpc>
              <a:spcAft>
                <a:spcPts val="0"/>
              </a:spcAft>
            </a:pPr>
            <a:r>
              <a:rPr sz="1250" b="0">
                <a:solidFill>
                  <a:srgbClr val="DED7D2"/>
                </a:solidFill>
                <a:latin typeface="Segoe UI"/>
              </a:rPr>
              <a:t>The three-stage intake pipeline, detection, geometry and temporal decision, and the guarded state machine that refuses to certify an intake it cannot support</a:t>
            </a:r>
          </a:p>
        </p:txBody>
      </p:sp>
      <p:sp>
        <p:nvSpPr>
          <p:cNvPr id="16" name="Rectangle 15"/>
          <p:cNvSpPr/>
          <p:nvPr/>
        </p:nvSpPr>
        <p:spPr>
          <a:xfrm>
            <a:off x="777240" y="4183380"/>
            <a:ext cx="10607040" cy="9525"/>
          </a:xfrm>
          <a:prstGeom prst="rect">
            <a:avLst/>
          </a:prstGeom>
          <a:solidFill>
            <a:srgbClr val="3A35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4311396"/>
            <a:ext cx="3054096" cy="247650"/>
          </a:xfrm>
          <a:prstGeom prst="rect">
            <a:avLst/>
          </a:prstGeom>
          <a:noFill/>
        </p:spPr>
        <p:txBody>
          <a:bodyPr wrap="square" lIns="0" tIns="0" rIns="0" bIns="0" anchor="t">
            <a:spAutoFit/>
          </a:bodyPr>
          <a:lstStyle/>
          <a:p>
            <a:pPr algn="l">
              <a:lnSpc>
                <a:spcPct val="130000"/>
              </a:lnSpc>
              <a:spcAft>
                <a:spcPts val="0"/>
              </a:spcAft>
            </a:pPr>
            <a:r>
              <a:rPr sz="1250" b="1">
                <a:solidFill>
                  <a:srgbClr val="F7F4F2"/>
                </a:solidFill>
                <a:latin typeface="Segoe UI"/>
              </a:rPr>
              <a:t>Abirami M</a:t>
            </a:r>
          </a:p>
        </p:txBody>
      </p:sp>
      <p:sp>
        <p:nvSpPr>
          <p:cNvPr id="18" name="TextBox 17"/>
          <p:cNvSpPr txBox="1"/>
          <p:nvPr/>
        </p:nvSpPr>
        <p:spPr>
          <a:xfrm>
            <a:off x="3959352" y="4311396"/>
            <a:ext cx="7296911" cy="247650"/>
          </a:xfrm>
          <a:prstGeom prst="rect">
            <a:avLst/>
          </a:prstGeom>
          <a:noFill/>
        </p:spPr>
        <p:txBody>
          <a:bodyPr wrap="square" lIns="0" tIns="0" rIns="0" bIns="0" anchor="t">
            <a:spAutoFit/>
          </a:bodyPr>
          <a:lstStyle/>
          <a:p>
            <a:pPr algn="l">
              <a:lnSpc>
                <a:spcPct val="130000"/>
              </a:lnSpc>
              <a:spcAft>
                <a:spcPts val="0"/>
              </a:spcAft>
            </a:pPr>
            <a:r>
              <a:rPr sz="1250" b="0">
                <a:solidFill>
                  <a:srgbClr val="DED7D2"/>
                </a:solidFill>
                <a:latin typeface="Segoe UI"/>
              </a:rPr>
              <a:t>The visual identity: the mascot, and the artwork all twenty-two screens are cut from</a:t>
            </a:r>
          </a:p>
        </p:txBody>
      </p:sp>
      <p:sp>
        <p:nvSpPr>
          <p:cNvPr id="19" name="Rectangle 18"/>
          <p:cNvSpPr/>
          <p:nvPr/>
        </p:nvSpPr>
        <p:spPr>
          <a:xfrm>
            <a:off x="777240" y="4595622"/>
            <a:ext cx="10607040" cy="9525"/>
          </a:xfrm>
          <a:prstGeom prst="rect">
            <a:avLst/>
          </a:prstGeom>
          <a:solidFill>
            <a:srgbClr val="3A35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4723638"/>
            <a:ext cx="3054096" cy="495300"/>
          </a:xfrm>
          <a:prstGeom prst="rect">
            <a:avLst/>
          </a:prstGeom>
          <a:noFill/>
        </p:spPr>
        <p:txBody>
          <a:bodyPr wrap="square" lIns="0" tIns="0" rIns="0" bIns="0" anchor="t">
            <a:spAutoFit/>
          </a:bodyPr>
          <a:lstStyle/>
          <a:p>
            <a:pPr algn="l">
              <a:lnSpc>
                <a:spcPct val="130000"/>
              </a:lnSpc>
              <a:spcAft>
                <a:spcPts val="0"/>
              </a:spcAft>
            </a:pPr>
            <a:r>
              <a:rPr sz="1250" b="1">
                <a:solidFill>
                  <a:srgbClr val="F7F4F2"/>
                </a:solidFill>
                <a:latin typeface="Segoe UI"/>
              </a:rPr>
              <a:t>Dr. G. Santhanamari and Dr. D. Selvakumar</a:t>
            </a:r>
          </a:p>
        </p:txBody>
      </p:sp>
      <p:sp>
        <p:nvSpPr>
          <p:cNvPr id="21" name="TextBox 20"/>
          <p:cNvSpPr txBox="1"/>
          <p:nvPr/>
        </p:nvSpPr>
        <p:spPr>
          <a:xfrm>
            <a:off x="3959352" y="4723638"/>
            <a:ext cx="7296911" cy="495300"/>
          </a:xfrm>
          <a:prstGeom prst="rect">
            <a:avLst/>
          </a:prstGeom>
          <a:noFill/>
        </p:spPr>
        <p:txBody>
          <a:bodyPr wrap="square" lIns="0" tIns="0" rIns="0" bIns="0" anchor="t">
            <a:spAutoFit/>
          </a:bodyPr>
          <a:lstStyle/>
          <a:p>
            <a:pPr algn="l">
              <a:lnSpc>
                <a:spcPct val="130000"/>
              </a:lnSpc>
              <a:spcAft>
                <a:spcPts val="0"/>
              </a:spcAft>
            </a:pPr>
            <a:r>
              <a:rPr sz="1250" b="0">
                <a:solidFill>
                  <a:srgbClr val="DED7D2"/>
                </a:solidFill>
                <a:latin typeface="Segoe UI"/>
              </a:rPr>
              <a:t>Supervision, and two roadmap items: the vibration sensor for tamper detection, and the patient-worn alert band</a:t>
            </a:r>
          </a:p>
        </p:txBody>
      </p:sp>
      <p:sp>
        <p:nvSpPr>
          <p:cNvPr id="22" name="Rectangle 21"/>
          <p:cNvSpPr/>
          <p:nvPr/>
        </p:nvSpPr>
        <p:spPr>
          <a:xfrm>
            <a:off x="777240" y="5255514"/>
            <a:ext cx="10607040" cy="9525"/>
          </a:xfrm>
          <a:prstGeom prst="rect">
            <a:avLst/>
          </a:prstGeom>
          <a:solidFill>
            <a:srgbClr val="3A35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77240" y="5406390"/>
            <a:ext cx="10637215" cy="9525"/>
          </a:xfrm>
          <a:prstGeom prst="rect">
            <a:avLst/>
          </a:prstGeom>
          <a:solidFill>
            <a:srgbClr val="3A35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7240" y="5607558"/>
            <a:ext cx="10637215" cy="473202"/>
          </a:xfrm>
          <a:prstGeom prst="rect">
            <a:avLst/>
          </a:prstGeom>
          <a:noFill/>
        </p:spPr>
        <p:txBody>
          <a:bodyPr wrap="square" lIns="0" tIns="0" rIns="0" bIns="0" anchor="t">
            <a:spAutoFit/>
          </a:bodyPr>
          <a:lstStyle/>
          <a:p>
            <a:pPr algn="l">
              <a:lnSpc>
                <a:spcPct val="135000"/>
              </a:lnSpc>
              <a:spcAft>
                <a:spcPts val="0"/>
              </a:spcAft>
            </a:pPr>
            <a:r>
              <a:rPr sz="1150" b="0">
                <a:solidFill>
                  <a:srgbClr val="8A817C"/>
                </a:solidFill>
                <a:latin typeface="Segoe UI"/>
              </a:rPr>
              <a:t>µT-Kernel 3.0 is © TRON Forum and Ken Sakamura under T-License 2.1 / 2.2, and the board was supplied by the TRON Forum. Full attribution travels with the third-party inventory.</a:t>
            </a:r>
          </a:p>
        </p:txBody>
      </p:sp>
      <p:sp>
        <p:nvSpPr>
          <p:cNvPr id="25" name="TextBox 24"/>
          <p:cNvSpPr txBox="1"/>
          <p:nvPr/>
        </p:nvSpPr>
        <p:spPr>
          <a:xfrm>
            <a:off x="10865815" y="6291072"/>
            <a:ext cx="548640" cy="274320"/>
          </a:xfrm>
          <a:prstGeom prst="rect">
            <a:avLst/>
          </a:prstGeom>
          <a:noFill/>
        </p:spPr>
        <p:txBody>
          <a:bodyPr wrap="square" lIns="0" tIns="0" rIns="0" bIns="0" anchor="t">
            <a:spAutoFit/>
          </a:bodyPr>
          <a:lstStyle/>
          <a:p>
            <a:pPr algn="r">
              <a:lnSpc>
                <a:spcPct val="118000"/>
              </a:lnSpc>
              <a:spcAft>
                <a:spcPts val="0"/>
              </a:spcAft>
            </a:pPr>
            <a:r>
              <a:rPr sz="1100" b="0">
                <a:solidFill>
                  <a:srgbClr val="8A817C"/>
                </a:solidFill>
                <a:latin typeface="Segoe U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2926</Words>
  <Application>Microsoft Office PowerPoint</Application>
  <PresentationFormat>Widescreen</PresentationFormat>
  <Paragraphs>280</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Dousik Manokaran</cp:lastModifiedBy>
  <cp:revision>6</cp:revision>
  <dcterms:created xsi:type="dcterms:W3CDTF">2013-01-27T09:14:16Z</dcterms:created>
  <dcterms:modified xsi:type="dcterms:W3CDTF">2026-09-22T04:15:41Z</dcterms:modified>
  <cp:category/>
</cp:coreProperties>
</file>